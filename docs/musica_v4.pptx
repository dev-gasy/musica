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71" r:id="rId4"/>
    <p:sldId id="258" r:id="rId5"/>
    <p:sldId id="259" r:id="rId6"/>
    <p:sldId id="260" r:id="rId7"/>
    <p:sldId id="261" r:id="rId8"/>
    <p:sldId id="262" r:id="rId9"/>
    <p:sldId id="263" r:id="rId10"/>
    <p:sldId id="264" r:id="rId11"/>
    <p:sldId id="265" r:id="rId12"/>
    <p:sldId id="266" r:id="rId13"/>
    <p:sldId id="267" r:id="rId14"/>
    <p:sldId id="268" r:id="rId15"/>
    <p:sldId id="273" r:id="rId16"/>
    <p:sldId id="270" r:id="rId17"/>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534"/>
    <p:restoredTop sz="94610"/>
  </p:normalViewPr>
  <p:slideViewPr>
    <p:cSldViewPr snapToGrid="0" snapToObjects="1">
      <p:cViewPr>
        <p:scale>
          <a:sx n="133" d="100"/>
          <a:sy n="133" d="100"/>
        </p:scale>
        <p:origin x="144" y="7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398841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BDBEC7-070A-7829-83E5-179289F5BE1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CBC839-8F62-64EF-9A4E-A46E5919180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495AB24-023A-68FA-EEF9-61BA92D2FBC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A9DC859-30EB-E2EC-FC1F-92A6AA15A838}"/>
              </a:ext>
            </a:extLst>
          </p:cNvPr>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420478541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2584264@csfoy.ca"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Text 0"/>
          <p:cNvSpPr/>
          <p:nvPr/>
        </p:nvSpPr>
        <p:spPr>
          <a:xfrm>
            <a:off x="571500" y="1340044"/>
            <a:ext cx="8001000" cy="565779"/>
          </a:xfrm>
          <a:prstGeom prst="rect">
            <a:avLst/>
          </a:prstGeom>
          <a:noFill/>
          <a:ln/>
        </p:spPr>
        <p:txBody>
          <a:bodyPr wrap="none" lIns="0" tIns="0" rIns="0" bIns="0" rtlCol="0" anchor="t">
            <a:spAutoFit/>
          </a:bodyPr>
          <a:lstStyle/>
          <a:p>
            <a:pPr marL="0" indent="0" algn="l">
              <a:lnSpc>
                <a:spcPct val="88000"/>
              </a:lnSpc>
              <a:buNone/>
            </a:pPr>
            <a:r>
              <a:rPr lang="en-US" sz="3750" b="1" dirty="0">
                <a:solidFill>
                  <a:srgbClr val="0A1128"/>
                </a:solidFill>
                <a:latin typeface="Playfair Display Black" pitchFamily="34" charset="0"/>
                <a:ea typeface="Playfair Display Black" pitchFamily="34" charset="-122"/>
                <a:cs typeface="Playfair Display Black" pitchFamily="34" charset="-120"/>
              </a:rPr>
              <a:t>Musica</a:t>
            </a:r>
            <a:endParaRPr lang="en-US" sz="3750" dirty="0"/>
          </a:p>
        </p:txBody>
      </p:sp>
      <p:sp>
        <p:nvSpPr>
          <p:cNvPr id="4" name="Text 1"/>
          <p:cNvSpPr/>
          <p:nvPr/>
        </p:nvSpPr>
        <p:spPr>
          <a:xfrm>
            <a:off x="571500" y="2157413"/>
            <a:ext cx="65" cy="284437"/>
          </a:xfrm>
          <a:prstGeom prst="rect">
            <a:avLst/>
          </a:prstGeom>
          <a:noFill/>
          <a:ln/>
        </p:spPr>
        <p:txBody>
          <a:bodyPr wrap="none" lIns="0" tIns="0" rIns="0" bIns="0" rtlCol="0" anchor="t">
            <a:spAutoFit/>
          </a:bodyPr>
          <a:lstStyle/>
          <a:p>
            <a:pPr marL="0" indent="0" algn="l">
              <a:lnSpc>
                <a:spcPct val="88000"/>
              </a:lnSpc>
              <a:buNone/>
            </a:pPr>
            <a:endParaRPr lang="en-US" sz="2100" dirty="0"/>
          </a:p>
        </p:txBody>
      </p:sp>
      <p:sp>
        <p:nvSpPr>
          <p:cNvPr id="5" name="Text 2"/>
          <p:cNvSpPr/>
          <p:nvPr/>
        </p:nvSpPr>
        <p:spPr>
          <a:xfrm>
            <a:off x="571500" y="2152396"/>
            <a:ext cx="8001000" cy="409984"/>
          </a:xfrm>
          <a:prstGeom prst="rect">
            <a:avLst/>
          </a:prstGeom>
          <a:noFill/>
          <a:ln/>
        </p:spPr>
        <p:txBody>
          <a:bodyPr wrap="square" lIns="0" tIns="0" rIns="0" bIns="0" rtlCol="0" anchor="t">
            <a:spAutoFit/>
          </a:bodyPr>
          <a:lstStyle/>
          <a:p>
            <a:pPr>
              <a:lnSpc>
                <a:spcPct val="120000"/>
              </a:lnSpc>
            </a:pPr>
            <a:r>
              <a:rPr lang="en-US" sz="1150" dirty="0">
                <a:solidFill>
                  <a:srgbClr val="FF4500"/>
                </a:solidFill>
                <a:latin typeface="Roboto Mono" pitchFamily="34" charset="0"/>
                <a:ea typeface="Roboto Mono" pitchFamily="34" charset="-122"/>
                <a:cs typeface="Roboto Mono" pitchFamily="34" charset="-120"/>
              </a:rPr>
              <a:t>Reconnaissance </a:t>
            </a:r>
            <a:r>
              <a:rPr lang="en-US" sz="1150" dirty="0" err="1">
                <a:solidFill>
                  <a:srgbClr val="FF4500"/>
                </a:solidFill>
                <a:latin typeface="Roboto Mono" pitchFamily="34" charset="0"/>
                <a:ea typeface="Roboto Mono" pitchFamily="34" charset="-122"/>
                <a:cs typeface="Roboto Mono" pitchFamily="34" charset="-120"/>
              </a:rPr>
              <a:t>automatique</a:t>
            </a:r>
            <a:r>
              <a:rPr lang="en-US" sz="1150" dirty="0">
                <a:solidFill>
                  <a:srgbClr val="FF4500"/>
                </a:solidFill>
                <a:latin typeface="Roboto Mono" pitchFamily="34" charset="0"/>
                <a:ea typeface="Roboto Mono" pitchFamily="34" charset="-122"/>
                <a:cs typeface="Roboto Mono" pitchFamily="34" charset="-120"/>
              </a:rPr>
              <a:t> </a:t>
            </a:r>
            <a:r>
              <a:rPr lang="en-US" sz="1150" dirty="0" err="1">
                <a:solidFill>
                  <a:srgbClr val="FF4500"/>
                </a:solidFill>
                <a:latin typeface="Roboto Mono" pitchFamily="34" charset="0"/>
                <a:ea typeface="Roboto Mono" pitchFamily="34" charset="-122"/>
                <a:cs typeface="Roboto Mono" pitchFamily="34" charset="-120"/>
              </a:rPr>
              <a:t>d'accords</a:t>
            </a:r>
            <a:r>
              <a:rPr lang="en-US" sz="1150" dirty="0">
                <a:solidFill>
                  <a:srgbClr val="FF4500"/>
                </a:solidFill>
                <a:latin typeface="Roboto Mono" pitchFamily="34" charset="0"/>
                <a:ea typeface="Roboto Mono" pitchFamily="34" charset="-122"/>
                <a:cs typeface="Roboto Mono" pitchFamily="34" charset="-120"/>
              </a:rPr>
              <a:t> par Intelligence </a:t>
            </a:r>
            <a:r>
              <a:rPr lang="en-US" sz="1150" dirty="0" err="1">
                <a:solidFill>
                  <a:srgbClr val="FF4500"/>
                </a:solidFill>
                <a:latin typeface="Roboto Mono" pitchFamily="34" charset="0"/>
                <a:ea typeface="Roboto Mono" pitchFamily="34" charset="-122"/>
                <a:cs typeface="Roboto Mono" pitchFamily="34" charset="-120"/>
              </a:rPr>
              <a:t>Artificielle</a:t>
            </a:r>
            <a:r>
              <a:rPr lang="en-US" sz="1150" dirty="0">
                <a:solidFill>
                  <a:srgbClr val="FF4500"/>
                </a:solidFill>
                <a:latin typeface="Roboto Mono" pitchFamily="34" charset="0"/>
                <a:ea typeface="Roboto Mono" pitchFamily="34" charset="-122"/>
                <a:cs typeface="Roboto Mono" pitchFamily="34" charset="-120"/>
              </a:rPr>
              <a:t> </a:t>
            </a:r>
            <a:r>
              <a:rPr lang="en-US" sz="1150" dirty="0" err="1">
                <a:solidFill>
                  <a:srgbClr val="FF4500"/>
                </a:solidFill>
                <a:latin typeface="Roboto Mono" pitchFamily="34" charset="0"/>
                <a:ea typeface="Roboto Mono" pitchFamily="34" charset="-122"/>
                <a:cs typeface="Roboto Mono" pitchFamily="34" charset="-120"/>
              </a:rPr>
              <a:t>en</a:t>
            </a:r>
            <a:r>
              <a:rPr lang="en-US" sz="1150" dirty="0">
                <a:solidFill>
                  <a:srgbClr val="FF4500"/>
                </a:solidFill>
                <a:latin typeface="Roboto Mono" pitchFamily="34" charset="0"/>
                <a:ea typeface="Roboto Mono" pitchFamily="34" charset="-122"/>
                <a:cs typeface="Roboto Mono" pitchFamily="34" charset="-120"/>
              </a:rPr>
              <a:t> </a:t>
            </a:r>
            <a:r>
              <a:rPr lang="en-US" sz="1150" dirty="0" err="1">
                <a:solidFill>
                  <a:srgbClr val="FF4500"/>
                </a:solidFill>
                <a:latin typeface="Roboto Mono" pitchFamily="34" charset="0"/>
                <a:ea typeface="Roboto Mono" pitchFamily="34" charset="-122"/>
                <a:cs typeface="Roboto Mono" pitchFamily="34" charset="-120"/>
              </a:rPr>
              <a:t>utilisant</a:t>
            </a:r>
            <a:r>
              <a:rPr lang="en-US" sz="1150" dirty="0">
                <a:solidFill>
                  <a:srgbClr val="FF4500"/>
                </a:solidFill>
                <a:latin typeface="Roboto Mono" pitchFamily="34" charset="0"/>
                <a:ea typeface="Roboto Mono" pitchFamily="34" charset="-122"/>
                <a:cs typeface="Roboto Mono" pitchFamily="34" charset="-120"/>
              </a:rPr>
              <a:t> le Deep Learning</a:t>
            </a:r>
            <a:endParaRPr lang="en-US" sz="1150" dirty="0"/>
          </a:p>
        </p:txBody>
      </p:sp>
      <p:sp>
        <p:nvSpPr>
          <p:cNvPr id="6" name="Text 3"/>
          <p:cNvSpPr/>
          <p:nvPr/>
        </p:nvSpPr>
        <p:spPr>
          <a:xfrm>
            <a:off x="571500" y="3901911"/>
            <a:ext cx="8001000" cy="130805"/>
          </a:xfrm>
          <a:prstGeom prst="rect">
            <a:avLst/>
          </a:prstGeom>
          <a:noFill/>
          <a:ln/>
        </p:spPr>
        <p:txBody>
          <a:bodyPr wrap="square" lIns="0" tIns="0" rIns="0" bIns="0" rtlCol="0" anchor="t">
            <a:spAutoFit/>
          </a:bodyPr>
          <a:lstStyle/>
          <a:p>
            <a:pPr marL="0" indent="0" algn="l">
              <a:buNone/>
            </a:pPr>
            <a:endParaRPr lang="en-US" sz="850" dirty="0"/>
          </a:p>
        </p:txBody>
      </p:sp>
      <p:sp>
        <p:nvSpPr>
          <p:cNvPr id="7" name="Text 3">
            <a:extLst>
              <a:ext uri="{FF2B5EF4-FFF2-40B4-BE49-F238E27FC236}">
                <a16:creationId xmlns:a16="http://schemas.microsoft.com/office/drawing/2014/main" id="{AAF904D1-1DAC-2687-A23B-C91E1613EDE6}"/>
              </a:ext>
            </a:extLst>
          </p:cNvPr>
          <p:cNvSpPr/>
          <p:nvPr/>
        </p:nvSpPr>
        <p:spPr>
          <a:xfrm>
            <a:off x="571500" y="3055525"/>
            <a:ext cx="8001000" cy="846386"/>
          </a:xfrm>
          <a:prstGeom prst="rect">
            <a:avLst/>
          </a:prstGeom>
          <a:noFill/>
          <a:ln/>
        </p:spPr>
        <p:txBody>
          <a:bodyPr wrap="square" lIns="0" tIns="0" rIns="0" bIns="0" rtlCol="0" anchor="t">
            <a:spAutoFit/>
          </a:bodyPr>
          <a:lstStyle/>
          <a:p>
            <a:r>
              <a:rPr lang="en-US" sz="1100" b="1" kern="0" spc="2" dirty="0">
                <a:solidFill>
                  <a:srgbClr val="0A1128"/>
                </a:solidFill>
                <a:latin typeface="Roboto Mono" pitchFamily="34" charset="0"/>
                <a:ea typeface="Roboto Mono" pitchFamily="34" charset="-122"/>
                <a:cs typeface="Roboto Mono" pitchFamily="34" charset="-120"/>
              </a:rPr>
              <a:t>Auteur: Tolotra RAHARISON</a:t>
            </a:r>
          </a:p>
          <a:p>
            <a:r>
              <a:rPr lang="en-US" sz="1100" b="1" kern="0" spc="2" dirty="0" err="1">
                <a:solidFill>
                  <a:srgbClr val="0A1128"/>
                </a:solidFill>
                <a:latin typeface="Roboto Mono" pitchFamily="34" charset="0"/>
                <a:ea typeface="Roboto Mono" pitchFamily="34" charset="-122"/>
                <a:cs typeface="Roboto Mono" pitchFamily="34" charset="-120"/>
              </a:rPr>
              <a:t>Matricule</a:t>
            </a:r>
            <a:r>
              <a:rPr lang="en-US" sz="1100" b="1" kern="0" spc="2" dirty="0">
                <a:solidFill>
                  <a:srgbClr val="0A1128"/>
                </a:solidFill>
                <a:latin typeface="Roboto Mono" pitchFamily="34" charset="0"/>
                <a:ea typeface="Roboto Mono" pitchFamily="34" charset="-122"/>
                <a:cs typeface="Roboto Mono" pitchFamily="34" charset="-120"/>
              </a:rPr>
              <a:t>: 2584264</a:t>
            </a:r>
          </a:p>
          <a:p>
            <a:r>
              <a:rPr lang="en-US" sz="1100" b="1" kern="0" spc="2" dirty="0">
                <a:solidFill>
                  <a:srgbClr val="0A1128"/>
                </a:solidFill>
                <a:latin typeface="Roboto Mono" pitchFamily="34" charset="0"/>
                <a:ea typeface="Roboto Mono" pitchFamily="34" charset="-122"/>
                <a:cs typeface="Roboto Mono" pitchFamily="34" charset="-120"/>
              </a:rPr>
              <a:t>Email: </a:t>
            </a:r>
            <a:r>
              <a:rPr lang="en-US" sz="1100" b="1" kern="0" spc="2" dirty="0">
                <a:solidFill>
                  <a:srgbClr val="0A1128"/>
                </a:solidFill>
                <a:latin typeface="Roboto Mono" pitchFamily="34" charset="0"/>
                <a:ea typeface="Roboto Mono" pitchFamily="34" charset="-122"/>
                <a:cs typeface="Roboto Mono" pitchFamily="34" charset="-120"/>
                <a:hlinkClick r:id="rId3"/>
              </a:rPr>
              <a:t>2584264@csfoy.ca</a:t>
            </a:r>
            <a:endParaRPr lang="en-US" sz="1100" b="1" kern="0" spc="2" dirty="0">
              <a:solidFill>
                <a:srgbClr val="0A1128"/>
              </a:solidFill>
              <a:latin typeface="Roboto Mono" pitchFamily="34" charset="0"/>
              <a:ea typeface="Roboto Mono" pitchFamily="34" charset="-122"/>
              <a:cs typeface="Roboto Mono" pitchFamily="34" charset="-120"/>
            </a:endParaRPr>
          </a:p>
          <a:p>
            <a:endParaRPr lang="en-US" sz="1100" b="1" kern="0" spc="2" dirty="0">
              <a:solidFill>
                <a:srgbClr val="0A1128"/>
              </a:solidFill>
              <a:latin typeface="Roboto Mono" pitchFamily="34" charset="0"/>
              <a:ea typeface="Roboto Mono" pitchFamily="34" charset="-122"/>
            </a:endParaRPr>
          </a:p>
          <a:p>
            <a:r>
              <a:rPr lang="en-US" sz="1100" kern="0" spc="2" dirty="0">
                <a:solidFill>
                  <a:srgbClr val="0A1128"/>
                </a:solidFill>
                <a:latin typeface="Roboto Mono" pitchFamily="34" charset="0"/>
                <a:ea typeface="Roboto Mono" pitchFamily="34" charset="-122"/>
                <a:cs typeface="Roboto Mono" pitchFamily="34" charset="-120"/>
              </a:rPr>
              <a:t>CEGEP STE-FOY, QUEBEC — JUILLET 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ext 0"/>
          <p:cNvSpPr/>
          <p:nvPr/>
        </p:nvSpPr>
        <p:spPr>
          <a:xfrm>
            <a:off x="571500" y="357188"/>
            <a:ext cx="8001000" cy="377168"/>
          </a:xfrm>
          <a:prstGeom prst="rect">
            <a:avLst/>
          </a:prstGeom>
          <a:noFill/>
          <a:ln/>
        </p:spPr>
        <p:txBody>
          <a:bodyPr wrap="none" lIns="0" tIns="0" rIns="0" bIns="0" rtlCol="0" anchor="t">
            <a:spAutoFit/>
          </a:bodyPr>
          <a:lstStyle/>
          <a:p>
            <a:pPr marL="0" indent="0" algn="l">
              <a:lnSpc>
                <a:spcPct val="96000"/>
              </a:lnSpc>
              <a:buNone/>
            </a:pPr>
            <a:r>
              <a:rPr lang="en-US" sz="2250" b="1" dirty="0">
                <a:solidFill>
                  <a:srgbClr val="0A1128"/>
                </a:solidFill>
                <a:latin typeface="Playfair Display Black" pitchFamily="34" charset="0"/>
                <a:ea typeface="Playfair Display Black" pitchFamily="34" charset="-122"/>
                <a:cs typeface="Playfair Display Black" pitchFamily="34" charset="-120"/>
              </a:rPr>
              <a:t>Contexte du projet</a:t>
            </a:r>
            <a:endParaRPr lang="en-US" sz="2250" dirty="0"/>
          </a:p>
        </p:txBody>
      </p:sp>
      <p:sp>
        <p:nvSpPr>
          <p:cNvPr id="4" name="Text 1"/>
          <p:cNvSpPr/>
          <p:nvPr/>
        </p:nvSpPr>
        <p:spPr>
          <a:xfrm>
            <a:off x="571500" y="1487541"/>
            <a:ext cx="3786188" cy="226814"/>
          </a:xfrm>
          <a:prstGeom prst="rect">
            <a:avLst/>
          </a:prstGeom>
          <a:noFill/>
          <a:ln/>
        </p:spPr>
        <p:txBody>
          <a:bodyPr wrap="square" lIns="0" tIns="0" rIns="0" bIns="0" rtlCol="0" anchor="t">
            <a:spAutoFit/>
          </a:bodyPr>
          <a:lstStyle/>
          <a:p>
            <a:pPr marL="0" indent="0" algn="l">
              <a:buNone/>
            </a:pPr>
            <a:r>
              <a:rPr lang="en-US" sz="1200" b="1" dirty="0">
                <a:solidFill>
                  <a:srgbClr val="FF4500"/>
                </a:solidFill>
                <a:latin typeface="Roboto Mono Bold" pitchFamily="34" charset="0"/>
                <a:ea typeface="Roboto Mono Bold" pitchFamily="34" charset="-122"/>
                <a:cs typeface="Roboto Mono Bold" pitchFamily="34" charset="-120"/>
              </a:rPr>
              <a:t>PROBLÉMATIQUE</a:t>
            </a:r>
            <a:endParaRPr lang="en-US" sz="1200" dirty="0"/>
          </a:p>
        </p:txBody>
      </p:sp>
      <p:sp>
        <p:nvSpPr>
          <p:cNvPr id="5" name="Text 2"/>
          <p:cNvSpPr/>
          <p:nvPr/>
        </p:nvSpPr>
        <p:spPr>
          <a:xfrm>
            <a:off x="571500" y="1956082"/>
            <a:ext cx="3786188" cy="733342"/>
          </a:xfrm>
          <a:prstGeom prst="rect">
            <a:avLst/>
          </a:prstGeom>
          <a:noFill/>
          <a:ln/>
        </p:spPr>
        <p:txBody>
          <a:bodyPr wrap="square" lIns="0" tIns="0" rIns="0" bIns="0" rtlCol="0" anchor="t">
            <a:spAutoFit/>
          </a:bodyPr>
          <a:lstStyle/>
          <a:p>
            <a:pPr marL="0" indent="0" algn="l">
              <a:lnSpc>
                <a:spcPct val="128000"/>
              </a:lnSpc>
              <a:buNone/>
            </a:pPr>
            <a:r>
              <a:rPr lang="en-US" sz="950" dirty="0">
                <a:solidFill>
                  <a:srgbClr val="0A1128"/>
                </a:solidFill>
                <a:latin typeface="Roboto Mono" pitchFamily="34" charset="0"/>
                <a:ea typeface="Roboto Mono" pitchFamily="34" charset="-122"/>
                <a:cs typeface="Roboto Mono" pitchFamily="34" charset="-120"/>
              </a:rPr>
              <a:t>La transcription musicale automatique nécessite d'identifier avec précision les harmonies jouées. Le </a:t>
            </a:r>
            <a:r>
              <a:rPr lang="en-US" sz="950" dirty="0" err="1">
                <a:solidFill>
                  <a:srgbClr val="0A1128"/>
                </a:solidFill>
                <a:latin typeface="Roboto Mono" pitchFamily="34" charset="0"/>
                <a:ea typeface="Roboto Mono" pitchFamily="34" charset="-122"/>
                <a:cs typeface="Roboto Mono" pitchFamily="34" charset="-120"/>
              </a:rPr>
              <a:t>projet</a:t>
            </a:r>
            <a:r>
              <a:rPr lang="en-US" sz="950" dirty="0">
                <a:solidFill>
                  <a:srgbClr val="0A1128"/>
                </a:solidFill>
                <a:latin typeface="Roboto Mono" pitchFamily="34" charset="0"/>
                <a:ea typeface="Roboto Mono" pitchFamily="34" charset="-122"/>
                <a:cs typeface="Roboto Mono" pitchFamily="34" charset="-120"/>
              </a:rPr>
              <a:t> vise à automatiser cette tâche par l'apprentissage profond.</a:t>
            </a:r>
            <a:endParaRPr lang="en-US" sz="950" dirty="0"/>
          </a:p>
        </p:txBody>
      </p:sp>
      <p:sp>
        <p:nvSpPr>
          <p:cNvPr id="6" name="Text 3"/>
          <p:cNvSpPr/>
          <p:nvPr/>
        </p:nvSpPr>
        <p:spPr>
          <a:xfrm>
            <a:off x="571499" y="3271455"/>
            <a:ext cx="3786188" cy="1028588"/>
          </a:xfrm>
          <a:prstGeom prst="rect">
            <a:avLst/>
          </a:prstGeom>
          <a:noFill/>
          <a:ln/>
        </p:spPr>
        <p:txBody>
          <a:bodyPr wrap="square" lIns="0" tIns="0" rIns="0" bIns="0" rtlCol="0" anchor="t">
            <a:spAutoFit/>
          </a:bodyPr>
          <a:lstStyle/>
          <a:p>
            <a:pPr marL="0" indent="0" algn="l">
              <a:lnSpc>
                <a:spcPct val="128000"/>
              </a:lnSpc>
              <a:buNone/>
            </a:pPr>
            <a:r>
              <a:rPr lang="en-US" sz="950" dirty="0">
                <a:solidFill>
                  <a:srgbClr val="0A1128"/>
                </a:solidFill>
                <a:latin typeface="Roboto Mono" pitchFamily="34" charset="0"/>
                <a:ea typeface="Roboto Mono" pitchFamily="34" charset="-122"/>
                <a:cs typeface="Roboto Mono" pitchFamily="34" charset="-120"/>
              </a:rPr>
              <a:t>L'objectif est d'entraîner un modèle capable d'écouter un fichier audio contenant un accord isolé et de prédire sa classe harmonique avec une grande précision, en s'affranchissant des variations de timbre et de bruit.</a:t>
            </a:r>
            <a:endParaRPr lang="en-US" sz="950" dirty="0"/>
          </a:p>
        </p:txBody>
      </p:sp>
      <p:sp>
        <p:nvSpPr>
          <p:cNvPr id="7" name="Text 4"/>
          <p:cNvSpPr/>
          <p:nvPr/>
        </p:nvSpPr>
        <p:spPr>
          <a:xfrm>
            <a:off x="4786313" y="1487541"/>
            <a:ext cx="3786188" cy="226814"/>
          </a:xfrm>
          <a:prstGeom prst="rect">
            <a:avLst/>
          </a:prstGeom>
          <a:noFill/>
          <a:ln/>
        </p:spPr>
        <p:txBody>
          <a:bodyPr wrap="square" lIns="0" tIns="0" rIns="0" bIns="0" rtlCol="0" anchor="t">
            <a:spAutoFit/>
          </a:bodyPr>
          <a:lstStyle/>
          <a:p>
            <a:pPr marL="0" indent="0" algn="l">
              <a:buNone/>
            </a:pPr>
            <a:r>
              <a:rPr lang="en-US" sz="1200" b="1" dirty="0">
                <a:solidFill>
                  <a:srgbClr val="FF4500"/>
                </a:solidFill>
                <a:latin typeface="Roboto Mono Bold" pitchFamily="34" charset="0"/>
                <a:ea typeface="Roboto Mono Bold" pitchFamily="34" charset="-122"/>
                <a:cs typeface="Roboto Mono Bold" pitchFamily="34" charset="-120"/>
              </a:rPr>
              <a:t>DÉFINITION DU MODÈLE</a:t>
            </a:r>
            <a:endParaRPr lang="en-US" sz="1200" dirty="0"/>
          </a:p>
        </p:txBody>
      </p:sp>
      <p:grpSp>
        <p:nvGrpSpPr>
          <p:cNvPr id="16" name="Group 15">
            <a:extLst>
              <a:ext uri="{FF2B5EF4-FFF2-40B4-BE49-F238E27FC236}">
                <a16:creationId xmlns:a16="http://schemas.microsoft.com/office/drawing/2014/main" id="{F5404E6D-FD8F-2583-48AE-E5E9780E15D4}"/>
              </a:ext>
            </a:extLst>
          </p:cNvPr>
          <p:cNvGrpSpPr/>
          <p:nvPr/>
        </p:nvGrpSpPr>
        <p:grpSpPr>
          <a:xfrm>
            <a:off x="4786313" y="1943728"/>
            <a:ext cx="3786188" cy="1119672"/>
            <a:chOff x="4786313" y="1511239"/>
            <a:chExt cx="3786188" cy="1119672"/>
          </a:xfrm>
        </p:grpSpPr>
        <p:sp>
          <p:nvSpPr>
            <p:cNvPr id="8" name="Shape 5"/>
            <p:cNvSpPr/>
            <p:nvPr/>
          </p:nvSpPr>
          <p:spPr>
            <a:xfrm>
              <a:off x="4786313" y="1511239"/>
              <a:ext cx="3786188" cy="1119672"/>
            </a:xfrm>
            <a:prstGeom prst="rect">
              <a:avLst/>
            </a:prstGeom>
            <a:solidFill>
              <a:srgbClr val="E0E7F1"/>
            </a:solidFill>
            <a:ln/>
          </p:spPr>
          <p:txBody>
            <a:bodyPr/>
            <a:lstStyle/>
            <a:p>
              <a:endParaRPr lang="en-US" dirty="0"/>
            </a:p>
          </p:txBody>
        </p:sp>
        <p:sp>
          <p:nvSpPr>
            <p:cNvPr id="9" name="Shape 6"/>
            <p:cNvSpPr/>
            <p:nvPr/>
          </p:nvSpPr>
          <p:spPr>
            <a:xfrm>
              <a:off x="4786313" y="1511239"/>
              <a:ext cx="45719" cy="1119672"/>
            </a:xfrm>
            <a:prstGeom prst="rect">
              <a:avLst/>
            </a:prstGeom>
            <a:solidFill>
              <a:srgbClr val="0A1128"/>
            </a:solidFill>
            <a:ln/>
          </p:spPr>
          <p:txBody>
            <a:bodyPr/>
            <a:lstStyle/>
            <a:p>
              <a:endParaRPr lang="en-US"/>
            </a:p>
          </p:txBody>
        </p:sp>
        <p:sp>
          <p:nvSpPr>
            <p:cNvPr id="10" name="Text 7"/>
            <p:cNvSpPr/>
            <p:nvPr/>
          </p:nvSpPr>
          <p:spPr>
            <a:xfrm>
              <a:off x="4929188" y="1654113"/>
              <a:ext cx="3500438" cy="189309"/>
            </a:xfrm>
            <a:prstGeom prst="rect">
              <a:avLst/>
            </a:prstGeom>
            <a:noFill/>
            <a:ln/>
          </p:spPr>
          <p:txBody>
            <a:bodyPr wrap="square" lIns="0" tIns="0" rIns="0" bIns="0" rtlCol="0" anchor="t">
              <a:spAutoFit/>
            </a:bodyPr>
            <a:lstStyle/>
            <a:p>
              <a:pPr marL="0" indent="0" algn="l">
                <a:buNone/>
              </a:pPr>
              <a:r>
                <a:rPr lang="en-US" sz="1000" b="1" dirty="0">
                  <a:solidFill>
                    <a:srgbClr val="0A1128"/>
                  </a:solidFill>
                  <a:latin typeface="Roboto Mono Bold" pitchFamily="34" charset="0"/>
                  <a:ea typeface="Roboto Mono Bold" pitchFamily="34" charset="-122"/>
                  <a:cs typeface="Roboto Mono Bold" pitchFamily="34" charset="-120"/>
                </a:rPr>
                <a:t>Inputs (Entrées)</a:t>
              </a:r>
              <a:endParaRPr lang="en-US" sz="1000" dirty="0"/>
            </a:p>
          </p:txBody>
        </p:sp>
        <p:sp>
          <p:nvSpPr>
            <p:cNvPr id="11" name="Text 8"/>
            <p:cNvSpPr/>
            <p:nvPr/>
          </p:nvSpPr>
          <p:spPr>
            <a:xfrm>
              <a:off x="4943475" y="1914860"/>
              <a:ext cx="3500438" cy="537198"/>
            </a:xfrm>
            <a:prstGeom prst="rect">
              <a:avLst/>
            </a:prstGeom>
            <a:noFill/>
            <a:ln/>
          </p:spPr>
          <p:txBody>
            <a:bodyPr wrap="square" lIns="0" tIns="0" rIns="0" bIns="0" rtlCol="0" anchor="t">
              <a:spAutoFit/>
            </a:bodyPr>
            <a:lstStyle/>
            <a:p>
              <a:pPr marL="0" indent="0" algn="l">
                <a:lnSpc>
                  <a:spcPct val="128000"/>
                </a:lnSpc>
                <a:buNone/>
              </a:pPr>
              <a:r>
                <a:rPr lang="en-US" sz="950" dirty="0">
                  <a:solidFill>
                    <a:srgbClr val="0A1128"/>
                  </a:solidFill>
                  <a:latin typeface="Roboto Mono" pitchFamily="34" charset="0"/>
                  <a:ea typeface="Roboto Mono" pitchFamily="34" charset="-122"/>
                  <a:cs typeface="Roboto Mono" pitchFamily="34" charset="-120"/>
                </a:rPr>
                <a:t>Un fichier audio (WAV) converti en une représentation temps-fréquence : le </a:t>
              </a:r>
              <a:r>
                <a:rPr lang="en-US" sz="900" b="1" dirty="0">
                  <a:solidFill>
                    <a:srgbClr val="0A1128"/>
                  </a:solidFill>
                  <a:latin typeface="Roboto Mono Bold" pitchFamily="34" charset="0"/>
                  <a:ea typeface="Roboto Mono Bold" pitchFamily="34" charset="-122"/>
                  <a:cs typeface="Roboto Mono Bold" pitchFamily="34" charset="-120"/>
                </a:rPr>
                <a:t>spectrogramme Chroma CQT</a:t>
              </a:r>
              <a:endParaRPr lang="en-US" sz="950" dirty="0"/>
            </a:p>
          </p:txBody>
        </p:sp>
      </p:grpSp>
      <p:grpSp>
        <p:nvGrpSpPr>
          <p:cNvPr id="17" name="Group 16">
            <a:extLst>
              <a:ext uri="{FF2B5EF4-FFF2-40B4-BE49-F238E27FC236}">
                <a16:creationId xmlns:a16="http://schemas.microsoft.com/office/drawing/2014/main" id="{1CE71373-5349-A107-5788-5F36FAF270FA}"/>
              </a:ext>
            </a:extLst>
          </p:cNvPr>
          <p:cNvGrpSpPr/>
          <p:nvPr/>
        </p:nvGrpSpPr>
        <p:grpSpPr>
          <a:xfrm>
            <a:off x="4786313" y="3259100"/>
            <a:ext cx="3786188" cy="1119673"/>
            <a:chOff x="4786313" y="2826611"/>
            <a:chExt cx="3786188" cy="1119673"/>
          </a:xfrm>
        </p:grpSpPr>
        <p:sp>
          <p:nvSpPr>
            <p:cNvPr id="12" name="Shape 9"/>
            <p:cNvSpPr/>
            <p:nvPr/>
          </p:nvSpPr>
          <p:spPr>
            <a:xfrm>
              <a:off x="4786313" y="2826611"/>
              <a:ext cx="3786188" cy="1119673"/>
            </a:xfrm>
            <a:prstGeom prst="rect">
              <a:avLst/>
            </a:prstGeom>
            <a:solidFill>
              <a:srgbClr val="E0E7F1"/>
            </a:solidFill>
            <a:ln/>
          </p:spPr>
          <p:txBody>
            <a:bodyPr/>
            <a:lstStyle/>
            <a:p>
              <a:endParaRPr lang="en-US"/>
            </a:p>
          </p:txBody>
        </p:sp>
        <p:sp>
          <p:nvSpPr>
            <p:cNvPr id="13" name="Shape 10"/>
            <p:cNvSpPr/>
            <p:nvPr/>
          </p:nvSpPr>
          <p:spPr>
            <a:xfrm>
              <a:off x="4786313" y="2826611"/>
              <a:ext cx="45719" cy="1119673"/>
            </a:xfrm>
            <a:prstGeom prst="rect">
              <a:avLst/>
            </a:prstGeom>
            <a:solidFill>
              <a:srgbClr val="FF4500"/>
            </a:solidFill>
            <a:ln/>
          </p:spPr>
          <p:txBody>
            <a:bodyPr/>
            <a:lstStyle/>
            <a:p>
              <a:endParaRPr lang="en-US"/>
            </a:p>
          </p:txBody>
        </p:sp>
        <p:sp>
          <p:nvSpPr>
            <p:cNvPr id="14" name="Text 11"/>
            <p:cNvSpPr/>
            <p:nvPr/>
          </p:nvSpPr>
          <p:spPr>
            <a:xfrm>
              <a:off x="4929188" y="2969486"/>
              <a:ext cx="3500438" cy="189309"/>
            </a:xfrm>
            <a:prstGeom prst="rect">
              <a:avLst/>
            </a:prstGeom>
            <a:noFill/>
            <a:ln/>
          </p:spPr>
          <p:txBody>
            <a:bodyPr wrap="square" lIns="0" tIns="0" rIns="0" bIns="0" rtlCol="0" anchor="t">
              <a:spAutoFit/>
            </a:bodyPr>
            <a:lstStyle/>
            <a:p>
              <a:pPr marL="0" indent="0" algn="l">
                <a:buNone/>
              </a:pPr>
              <a:r>
                <a:rPr lang="en-US" sz="1000" b="1" dirty="0">
                  <a:solidFill>
                    <a:srgbClr val="0A1128"/>
                  </a:solidFill>
                  <a:latin typeface="Roboto Mono Bold" pitchFamily="34" charset="0"/>
                  <a:ea typeface="Roboto Mono Bold" pitchFamily="34" charset="-122"/>
                  <a:cs typeface="Roboto Mono Bold" pitchFamily="34" charset="-120"/>
                </a:rPr>
                <a:t>Outputs (Sorties)</a:t>
              </a:r>
              <a:endParaRPr lang="en-US" sz="1000" dirty="0"/>
            </a:p>
          </p:txBody>
        </p:sp>
        <p:sp>
          <p:nvSpPr>
            <p:cNvPr id="15" name="Text 12"/>
            <p:cNvSpPr/>
            <p:nvPr/>
          </p:nvSpPr>
          <p:spPr>
            <a:xfrm>
              <a:off x="4929188" y="3230233"/>
              <a:ext cx="3500438" cy="546240"/>
            </a:xfrm>
            <a:prstGeom prst="rect">
              <a:avLst/>
            </a:prstGeom>
            <a:noFill/>
            <a:ln/>
          </p:spPr>
          <p:txBody>
            <a:bodyPr wrap="square" lIns="0" tIns="0" rIns="0" bIns="0" rtlCol="0" anchor="t">
              <a:spAutoFit/>
            </a:bodyPr>
            <a:lstStyle/>
            <a:p>
              <a:pPr marL="0" indent="0" algn="l">
                <a:lnSpc>
                  <a:spcPct val="128000"/>
                </a:lnSpc>
                <a:buNone/>
              </a:pPr>
              <a:r>
                <a:rPr lang="en-US" sz="950" dirty="0">
                  <a:solidFill>
                    <a:srgbClr val="0A1128"/>
                  </a:solidFill>
                  <a:latin typeface="Roboto Mono" pitchFamily="34" charset="0"/>
                  <a:ea typeface="Roboto Mono" pitchFamily="34" charset="-122"/>
                  <a:cs typeface="Roboto Mono" pitchFamily="34" charset="-120"/>
                </a:rPr>
                <a:t>Une distribution de probabilités sur </a:t>
              </a:r>
              <a:r>
                <a:rPr lang="en-US" sz="900" b="1" dirty="0">
                  <a:solidFill>
                    <a:srgbClr val="0A1128"/>
                  </a:solidFill>
                  <a:latin typeface="Roboto Mono Bold" pitchFamily="34" charset="0"/>
                  <a:ea typeface="Roboto Mono Bold" pitchFamily="34" charset="-122"/>
                  <a:cs typeface="Roboto Mono Bold" pitchFamily="34" charset="-120"/>
                </a:rPr>
                <a:t>36 classes</a:t>
              </a:r>
              <a:r>
                <a:rPr lang="en-US" sz="950" dirty="0">
                  <a:solidFill>
                    <a:srgbClr val="0A1128"/>
                  </a:solidFill>
                  <a:latin typeface="Roboto Mono" pitchFamily="34" charset="0"/>
                  <a:ea typeface="Roboto Mono" pitchFamily="34" charset="-122"/>
                  <a:cs typeface="Roboto Mono" pitchFamily="34" charset="-120"/>
                </a:rPr>
                <a:t> </a:t>
              </a:r>
              <a:r>
                <a:rPr lang="en-US" sz="950" dirty="0" err="1">
                  <a:solidFill>
                    <a:srgbClr val="0A1128"/>
                  </a:solidFill>
                  <a:latin typeface="Roboto Mono" pitchFamily="34" charset="0"/>
                  <a:ea typeface="Roboto Mono" pitchFamily="34" charset="-122"/>
                  <a:cs typeface="Roboto Mono" pitchFamily="34" charset="-120"/>
                </a:rPr>
                <a:t>distinctes</a:t>
              </a:r>
              <a:r>
                <a:rPr lang="en-US" sz="950" dirty="0">
                  <a:solidFill>
                    <a:srgbClr val="0A1128"/>
                  </a:solidFill>
                  <a:latin typeface="Roboto Mono" pitchFamily="34" charset="0"/>
                  <a:ea typeface="Roboto Mono" pitchFamily="34" charset="-122"/>
                  <a:cs typeface="Roboto Mono" pitchFamily="34" charset="-120"/>
                </a:rPr>
                <a:t>. (</a:t>
              </a:r>
              <a:r>
                <a:rPr lang="en-US" sz="950" i="1" dirty="0">
                  <a:solidFill>
                    <a:srgbClr val="0A1128"/>
                  </a:solidFill>
                  <a:latin typeface="Roboto Mono" pitchFamily="34" charset="0"/>
                  <a:ea typeface="Roboto Mono" pitchFamily="34" charset="-122"/>
                  <a:cs typeface="Roboto Mono" pitchFamily="34" charset="-120"/>
                </a:rPr>
                <a:t>12 fondamentales </a:t>
              </a:r>
              <a:r>
                <a:rPr lang="en-US" sz="950" i="1" dirty="0" err="1">
                  <a:solidFill>
                    <a:srgbClr val="0A1128"/>
                  </a:solidFill>
                  <a:latin typeface="Roboto Mono" pitchFamily="34" charset="0"/>
                  <a:ea typeface="Roboto Mono" pitchFamily="34" charset="-122"/>
                  <a:cs typeface="Roboto Mono" pitchFamily="34" charset="-120"/>
                </a:rPr>
                <a:t>chromatiques</a:t>
              </a:r>
              <a:r>
                <a:rPr lang="en-US" sz="950" i="1" dirty="0">
                  <a:solidFill>
                    <a:srgbClr val="0A1128"/>
                  </a:solidFill>
                  <a:latin typeface="Roboto Mono" pitchFamily="34" charset="0"/>
                  <a:ea typeface="Roboto Mono" pitchFamily="34" charset="-122"/>
                  <a:cs typeface="Roboto Mono" pitchFamily="34" charset="-120"/>
                </a:rPr>
                <a:t> avec 3 </a:t>
              </a:r>
              <a:r>
                <a:rPr lang="en-US" sz="950" i="1" dirty="0" err="1">
                  <a:solidFill>
                    <a:srgbClr val="0A1128"/>
                  </a:solidFill>
                  <a:latin typeface="Roboto Mono" pitchFamily="34" charset="0"/>
                  <a:ea typeface="Roboto Mono" pitchFamily="34" charset="-122"/>
                  <a:cs typeface="Roboto Mono" pitchFamily="34" charset="-120"/>
                </a:rPr>
                <a:t>qualités</a:t>
              </a:r>
              <a:r>
                <a:rPr lang="en-US" sz="950" i="1" dirty="0">
                  <a:solidFill>
                    <a:srgbClr val="0A1128"/>
                  </a:solidFill>
                  <a:latin typeface="Roboto Mono" pitchFamily="34" charset="0"/>
                  <a:ea typeface="Roboto Mono" pitchFamily="34" charset="-122"/>
                  <a:cs typeface="Roboto Mono" pitchFamily="34" charset="-120"/>
                </a:rPr>
                <a:t>: </a:t>
              </a:r>
              <a:r>
                <a:rPr lang="en-US" sz="950" i="1" dirty="0" err="1">
                  <a:solidFill>
                    <a:srgbClr val="0A1128"/>
                  </a:solidFill>
                  <a:latin typeface="Roboto Mono" pitchFamily="34" charset="0"/>
                  <a:ea typeface="Roboto Mono" pitchFamily="34" charset="-122"/>
                  <a:cs typeface="Roboto Mono" pitchFamily="34" charset="-120"/>
                </a:rPr>
                <a:t>Majeur</a:t>
              </a:r>
              <a:r>
                <a:rPr lang="en-US" sz="950" i="1" dirty="0">
                  <a:solidFill>
                    <a:srgbClr val="0A1128"/>
                  </a:solidFill>
                  <a:latin typeface="Roboto Mono" pitchFamily="34" charset="0"/>
                  <a:ea typeface="Roboto Mono" pitchFamily="34" charset="-122"/>
                  <a:cs typeface="Roboto Mono" pitchFamily="34" charset="-120"/>
                </a:rPr>
                <a:t>, Mineur, Diminué).</a:t>
              </a:r>
              <a:endParaRPr lang="en-US" sz="950" dirty="0"/>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p:cNvSpPr/>
          <p:nvPr/>
        </p:nvSpPr>
        <p:spPr>
          <a:xfrm>
            <a:off x="571500" y="357188"/>
            <a:ext cx="2779607" cy="332399"/>
          </a:xfrm>
          <a:prstGeom prst="rect">
            <a:avLst/>
          </a:prstGeom>
          <a:noFill/>
          <a:ln/>
        </p:spPr>
        <p:txBody>
          <a:bodyPr wrap="none" lIns="0" tIns="0" rIns="0" bIns="0" rtlCol="0" anchor="t">
            <a:spAutoFit/>
          </a:bodyPr>
          <a:lstStyle/>
          <a:p>
            <a:pPr marL="0" indent="0" algn="l">
              <a:lnSpc>
                <a:spcPct val="96000"/>
              </a:lnSpc>
              <a:buNone/>
            </a:pPr>
            <a:r>
              <a:rPr lang="en-US" sz="2250" b="1" dirty="0" err="1">
                <a:solidFill>
                  <a:srgbClr val="0A1128"/>
                </a:solidFill>
                <a:latin typeface="Playfair Display Black" pitchFamily="34" charset="0"/>
                <a:ea typeface="Playfair Display Black" pitchFamily="34" charset="-122"/>
                <a:cs typeface="Playfair Display Black" pitchFamily="34" charset="-120"/>
              </a:rPr>
              <a:t>Objectifs</a:t>
            </a:r>
            <a:r>
              <a:rPr lang="en-US" sz="2250" b="1" dirty="0">
                <a:solidFill>
                  <a:srgbClr val="0A1128"/>
                </a:solidFill>
                <a:latin typeface="Playfair Display Black" pitchFamily="34" charset="0"/>
                <a:ea typeface="Playfair Display Black" pitchFamily="34" charset="-122"/>
                <a:cs typeface="Playfair Display Black" pitchFamily="34" charset="-120"/>
              </a:rPr>
              <a:t> </a:t>
            </a:r>
            <a:r>
              <a:rPr lang="en-US" sz="2250" b="1" dirty="0" err="1">
                <a:solidFill>
                  <a:srgbClr val="0A1128"/>
                </a:solidFill>
                <a:latin typeface="Playfair Display Black" pitchFamily="34" charset="0"/>
                <a:ea typeface="Playfair Display Black" pitchFamily="34" charset="-122"/>
                <a:cs typeface="Playfair Display Black" pitchFamily="34" charset="-120"/>
              </a:rPr>
              <a:t>téchniques</a:t>
            </a:r>
            <a:endParaRPr lang="en-US" sz="2250" dirty="0"/>
          </a:p>
        </p:txBody>
      </p:sp>
      <p:sp>
        <p:nvSpPr>
          <p:cNvPr id="4" name="Text 1"/>
          <p:cNvSpPr/>
          <p:nvPr/>
        </p:nvSpPr>
        <p:spPr>
          <a:xfrm>
            <a:off x="571500" y="1070111"/>
            <a:ext cx="8001000" cy="457200"/>
          </a:xfrm>
          <a:prstGeom prst="rect">
            <a:avLst/>
          </a:prstGeom>
          <a:noFill/>
          <a:ln/>
        </p:spPr>
        <p:txBody>
          <a:bodyPr wrap="square" lIns="0" tIns="0" rIns="0" bIns="0" rtlCol="0" anchor="t">
            <a:spAutoFit/>
          </a:bodyPr>
          <a:lstStyle/>
          <a:p>
            <a:pPr marL="0" indent="0" algn="l">
              <a:lnSpc>
                <a:spcPct val="128000"/>
              </a:lnSpc>
              <a:buNone/>
            </a:pPr>
            <a:r>
              <a:rPr lang="en-US" sz="1050" dirty="0">
                <a:solidFill>
                  <a:srgbClr val="0A1128"/>
                </a:solidFill>
                <a:latin typeface="Roboto Mono" pitchFamily="34" charset="0"/>
                <a:ea typeface="Roboto Mono" pitchFamily="34" charset="-122"/>
                <a:cs typeface="Roboto Mono" pitchFamily="34" charset="-120"/>
              </a:rPr>
              <a:t>Le problème traité est la </a:t>
            </a:r>
            <a:r>
              <a:rPr lang="en-US" sz="1000" b="1" dirty="0">
                <a:solidFill>
                  <a:srgbClr val="0A1128"/>
                </a:solidFill>
                <a:latin typeface="Roboto Mono Bold" pitchFamily="34" charset="0"/>
                <a:ea typeface="Roboto Mono Bold" pitchFamily="34" charset="-122"/>
                <a:cs typeface="Roboto Mono Bold" pitchFamily="34" charset="-120"/>
              </a:rPr>
              <a:t>classification automatique d'accords musicaux</a:t>
            </a:r>
            <a:r>
              <a:rPr lang="en-US" sz="1050" dirty="0">
                <a:solidFill>
                  <a:srgbClr val="0A1128"/>
                </a:solidFill>
                <a:latin typeface="Roboto Mono" pitchFamily="34" charset="0"/>
                <a:ea typeface="Roboto Mono" pitchFamily="34" charset="-122"/>
                <a:cs typeface="Roboto Mono" pitchFamily="34" charset="-120"/>
              </a:rPr>
              <a:t>. À partir d'un fichier audio contenant un accord isolé, le système doit prédire la classe correspondante.</a:t>
            </a:r>
            <a:endParaRPr lang="en-US" sz="1050" dirty="0"/>
          </a:p>
        </p:txBody>
      </p:sp>
      <p:sp>
        <p:nvSpPr>
          <p:cNvPr id="5" name="Text 2"/>
          <p:cNvSpPr/>
          <p:nvPr/>
        </p:nvSpPr>
        <p:spPr>
          <a:xfrm>
            <a:off x="571500" y="1741624"/>
            <a:ext cx="6194003" cy="189604"/>
          </a:xfrm>
          <a:prstGeom prst="rect">
            <a:avLst/>
          </a:prstGeom>
          <a:noFill/>
          <a:ln/>
        </p:spPr>
        <p:txBody>
          <a:bodyPr wrap="none" lIns="0" tIns="0" rIns="0" bIns="0" rtlCol="0" anchor="t">
            <a:spAutoFit/>
          </a:bodyPr>
          <a:lstStyle/>
          <a:p>
            <a:pPr marL="171450" indent="-171450" algn="l">
              <a:lnSpc>
                <a:spcPct val="144000"/>
              </a:lnSpc>
              <a:buFont typeface="Arial" panose="020B0604020202020204" pitchFamily="34" charset="0"/>
              <a:buChar char="•"/>
            </a:pPr>
            <a:r>
              <a:rPr lang="en-US" sz="950" dirty="0" err="1">
                <a:solidFill>
                  <a:srgbClr val="0A1128"/>
                </a:solidFill>
                <a:latin typeface="Roboto Mono" pitchFamily="34" charset="0"/>
                <a:ea typeface="Roboto Mono" pitchFamily="34" charset="-122"/>
                <a:cs typeface="Roboto Mono" pitchFamily="34" charset="-120"/>
              </a:rPr>
              <a:t>Construire</a:t>
            </a:r>
            <a:r>
              <a:rPr lang="en-US" sz="950" dirty="0">
                <a:solidFill>
                  <a:srgbClr val="0A1128"/>
                </a:solidFill>
                <a:latin typeface="Roboto Mono" pitchFamily="34" charset="0"/>
                <a:ea typeface="Roboto Mono" pitchFamily="34" charset="-122"/>
                <a:cs typeface="Roboto Mono" pitchFamily="34" charset="-120"/>
              </a:rPr>
              <a:t> une chaîne d'apprentissage complète, de la donnée brute à la prédiction</a:t>
            </a:r>
            <a:endParaRPr lang="en-US" sz="950" dirty="0"/>
          </a:p>
        </p:txBody>
      </p:sp>
      <p:sp>
        <p:nvSpPr>
          <p:cNvPr id="6" name="Text 3"/>
          <p:cNvSpPr/>
          <p:nvPr/>
        </p:nvSpPr>
        <p:spPr>
          <a:xfrm>
            <a:off x="571500" y="2080227"/>
            <a:ext cx="5998437" cy="189604"/>
          </a:xfrm>
          <a:prstGeom prst="rect">
            <a:avLst/>
          </a:prstGeom>
          <a:noFill/>
          <a:ln/>
        </p:spPr>
        <p:txBody>
          <a:bodyPr wrap="none" lIns="0" tIns="0" rIns="0" bIns="0" rtlCol="0" anchor="t">
            <a:spAutoFit/>
          </a:bodyPr>
          <a:lstStyle/>
          <a:p>
            <a:pPr marL="171450" indent="-171450" algn="l">
              <a:lnSpc>
                <a:spcPct val="144000"/>
              </a:lnSpc>
              <a:buFont typeface="Arial" panose="020B0604020202020204" pitchFamily="34" charset="0"/>
              <a:buChar char="•"/>
            </a:pPr>
            <a:r>
              <a:rPr lang="en-US" sz="950" dirty="0">
                <a:solidFill>
                  <a:srgbClr val="0A1128"/>
                </a:solidFill>
                <a:latin typeface="Roboto Mono" pitchFamily="34" charset="0"/>
                <a:ea typeface="Roboto Mono" pitchFamily="34" charset="-122"/>
                <a:cs typeface="Roboto Mono" pitchFamily="34" charset="-120"/>
              </a:rPr>
              <a:t>Générer un jeu de données annoté sans dépendre d'une annotation manuelle lourde</a:t>
            </a:r>
            <a:endParaRPr lang="en-US" sz="950" dirty="0"/>
          </a:p>
        </p:txBody>
      </p:sp>
      <p:sp>
        <p:nvSpPr>
          <p:cNvPr id="7" name="Text 4"/>
          <p:cNvSpPr/>
          <p:nvPr/>
        </p:nvSpPr>
        <p:spPr>
          <a:xfrm>
            <a:off x="571500" y="2418829"/>
            <a:ext cx="5334794" cy="189604"/>
          </a:xfrm>
          <a:prstGeom prst="rect">
            <a:avLst/>
          </a:prstGeom>
          <a:noFill/>
          <a:ln/>
        </p:spPr>
        <p:txBody>
          <a:bodyPr wrap="none" lIns="0" tIns="0" rIns="0" bIns="0" rtlCol="0" anchor="t">
            <a:spAutoFit/>
          </a:bodyPr>
          <a:lstStyle/>
          <a:p>
            <a:pPr marL="171450" indent="-171450" algn="l">
              <a:lnSpc>
                <a:spcPct val="144000"/>
              </a:lnSpc>
              <a:buFont typeface="Arial" panose="020B0604020202020204" pitchFamily="34" charset="0"/>
              <a:buChar char="•"/>
            </a:pPr>
            <a:r>
              <a:rPr lang="en-US" sz="950" dirty="0">
                <a:solidFill>
                  <a:srgbClr val="0A1128"/>
                </a:solidFill>
                <a:latin typeface="Roboto Mono" pitchFamily="34" charset="0"/>
                <a:ea typeface="Roboto Mono" pitchFamily="34" charset="-122"/>
                <a:cs typeface="Roboto Mono" pitchFamily="34" charset="-120"/>
              </a:rPr>
              <a:t>Garder les essais reproductibles grâce à une configuration centralisée</a:t>
            </a:r>
            <a:endParaRPr lang="en-US" sz="950" dirty="0"/>
          </a:p>
        </p:txBody>
      </p:sp>
      <p:sp>
        <p:nvSpPr>
          <p:cNvPr id="8" name="Shape 5"/>
          <p:cNvSpPr/>
          <p:nvPr/>
        </p:nvSpPr>
        <p:spPr>
          <a:xfrm>
            <a:off x="571500" y="3007463"/>
            <a:ext cx="8001000" cy="735806"/>
          </a:xfrm>
          <a:prstGeom prst="rect">
            <a:avLst/>
          </a:prstGeom>
          <a:solidFill>
            <a:srgbClr val="E0E7F1"/>
          </a:solidFill>
          <a:ln/>
        </p:spPr>
        <p:txBody>
          <a:bodyPr/>
          <a:lstStyle/>
          <a:p>
            <a:endParaRPr lang="en-US"/>
          </a:p>
        </p:txBody>
      </p:sp>
      <p:sp>
        <p:nvSpPr>
          <p:cNvPr id="9" name="Shape 6"/>
          <p:cNvSpPr/>
          <p:nvPr/>
        </p:nvSpPr>
        <p:spPr>
          <a:xfrm>
            <a:off x="571500" y="3007463"/>
            <a:ext cx="28575" cy="735806"/>
          </a:xfrm>
          <a:prstGeom prst="rect">
            <a:avLst/>
          </a:prstGeom>
          <a:solidFill>
            <a:srgbClr val="FF4500"/>
          </a:solidFill>
          <a:ln/>
        </p:spPr>
        <p:txBody>
          <a:bodyPr/>
          <a:lstStyle/>
          <a:p>
            <a:endParaRPr lang="en-US"/>
          </a:p>
        </p:txBody>
      </p:sp>
      <p:sp>
        <p:nvSpPr>
          <p:cNvPr id="10" name="Text 7"/>
          <p:cNvSpPr/>
          <p:nvPr/>
        </p:nvSpPr>
        <p:spPr>
          <a:xfrm>
            <a:off x="750094" y="3186057"/>
            <a:ext cx="7643813" cy="378619"/>
          </a:xfrm>
          <a:prstGeom prst="rect">
            <a:avLst/>
          </a:prstGeom>
          <a:noFill/>
          <a:ln/>
        </p:spPr>
        <p:txBody>
          <a:bodyPr wrap="square" lIns="0" tIns="0" rIns="0" bIns="0" rtlCol="0" anchor="t">
            <a:spAutoFit/>
          </a:bodyPr>
          <a:lstStyle/>
          <a:p>
            <a:pPr marL="0" indent="0" algn="l">
              <a:buNone/>
            </a:pPr>
            <a:r>
              <a:rPr lang="en-US" sz="1050" dirty="0">
                <a:solidFill>
                  <a:srgbClr val="0A1128"/>
                </a:solidFill>
                <a:latin typeface="Roboto Mono" pitchFamily="34" charset="0"/>
                <a:ea typeface="Roboto Mono" pitchFamily="34" charset="-122"/>
                <a:cs typeface="Roboto Mono" pitchFamily="34" charset="-120"/>
              </a:rPr>
              <a:t>Le prototype actuel reconnaît </a:t>
            </a:r>
            <a:r>
              <a:rPr lang="en-US" sz="1000" b="1" dirty="0">
                <a:solidFill>
                  <a:srgbClr val="FF4500"/>
                </a:solidFill>
                <a:latin typeface="Roboto Mono Bold" pitchFamily="34" charset="0"/>
                <a:ea typeface="Roboto Mono Bold" pitchFamily="34" charset="-122"/>
                <a:cs typeface="Roboto Mono Bold" pitchFamily="34" charset="-120"/>
              </a:rPr>
              <a:t>36 classes</a:t>
            </a:r>
            <a:r>
              <a:rPr lang="en-US" sz="1050" dirty="0">
                <a:solidFill>
                  <a:srgbClr val="0A1128"/>
                </a:solidFill>
                <a:latin typeface="Roboto Mono" pitchFamily="34" charset="0"/>
                <a:ea typeface="Roboto Mono" pitchFamily="34" charset="-122"/>
                <a:cs typeface="Roboto Mono" pitchFamily="34" charset="-120"/>
              </a:rPr>
              <a:t> : accords majeurs, mineurs et diminués sur les </a:t>
            </a:r>
            <a:r>
              <a:rPr lang="en-US" sz="1000" b="1" dirty="0">
                <a:solidFill>
                  <a:srgbClr val="FF4500"/>
                </a:solidFill>
                <a:latin typeface="Roboto Mono Bold" pitchFamily="34" charset="0"/>
                <a:ea typeface="Roboto Mono Bold" pitchFamily="34" charset="-122"/>
                <a:cs typeface="Roboto Mono Bold" pitchFamily="34" charset="-120"/>
              </a:rPr>
              <a:t>12 fondamentales chromatiques</a:t>
            </a:r>
            <a:r>
              <a:rPr lang="en-US" sz="1050" dirty="0">
                <a:solidFill>
                  <a:srgbClr val="0A1128"/>
                </a:solidFill>
                <a:latin typeface="Roboto Mono" pitchFamily="34" charset="0"/>
                <a:ea typeface="Roboto Mono" pitchFamily="34" charset="-122"/>
                <a:cs typeface="Roboto Mono" pitchFamily="34" charset="-120"/>
              </a:rPr>
              <a:t>.</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ext 0"/>
          <p:cNvSpPr/>
          <p:nvPr/>
        </p:nvSpPr>
        <p:spPr>
          <a:xfrm>
            <a:off x="571500" y="357188"/>
            <a:ext cx="8001000" cy="377168"/>
          </a:xfrm>
          <a:prstGeom prst="rect">
            <a:avLst/>
          </a:prstGeom>
          <a:noFill/>
          <a:ln/>
        </p:spPr>
        <p:txBody>
          <a:bodyPr wrap="none" lIns="0" tIns="0" rIns="0" bIns="0" rtlCol="0" anchor="t">
            <a:spAutoFit/>
          </a:bodyPr>
          <a:lstStyle/>
          <a:p>
            <a:pPr marL="0" indent="0" algn="l">
              <a:lnSpc>
                <a:spcPct val="96000"/>
              </a:lnSpc>
              <a:buNone/>
            </a:pPr>
            <a:r>
              <a:rPr lang="en-US" sz="2250" b="1" dirty="0">
                <a:solidFill>
                  <a:srgbClr val="0A1128"/>
                </a:solidFill>
                <a:latin typeface="Playfair Display Black" pitchFamily="34" charset="0"/>
                <a:ea typeface="Playfair Display Black" pitchFamily="34" charset="-122"/>
                <a:cs typeface="Playfair Display Black" pitchFamily="34" charset="-120"/>
              </a:rPr>
              <a:t>Pipeline général</a:t>
            </a:r>
            <a:endParaRPr lang="en-US" sz="2250" dirty="0"/>
          </a:p>
        </p:txBody>
      </p:sp>
      <p:sp>
        <p:nvSpPr>
          <p:cNvPr id="4" name="Text 1"/>
          <p:cNvSpPr/>
          <p:nvPr/>
        </p:nvSpPr>
        <p:spPr>
          <a:xfrm>
            <a:off x="571500" y="1070111"/>
            <a:ext cx="8001000" cy="359137"/>
          </a:xfrm>
          <a:prstGeom prst="rect">
            <a:avLst/>
          </a:prstGeom>
          <a:noFill/>
          <a:ln/>
        </p:spPr>
        <p:txBody>
          <a:bodyPr wrap="square" lIns="0" tIns="0" rIns="0" bIns="0" rtlCol="0" anchor="t">
            <a:spAutoFit/>
          </a:bodyPr>
          <a:lstStyle/>
          <a:p>
            <a:pPr marL="0" indent="0" algn="l">
              <a:lnSpc>
                <a:spcPct val="128000"/>
              </a:lnSpc>
              <a:buNone/>
            </a:pPr>
            <a:r>
              <a:rPr lang="en-US" sz="950" dirty="0">
                <a:solidFill>
                  <a:srgbClr val="0A1128"/>
                </a:solidFill>
                <a:latin typeface="Roboto Mono" pitchFamily="34" charset="0"/>
                <a:ea typeface="Roboto Mono" pitchFamily="34" charset="-122"/>
                <a:cs typeface="Roboto Mono" pitchFamily="34" charset="-120"/>
              </a:rPr>
              <a:t>La chaîne de traitement suit </a:t>
            </a:r>
            <a:r>
              <a:rPr lang="en-US" sz="950" dirty="0" err="1">
                <a:solidFill>
                  <a:srgbClr val="0A1128"/>
                </a:solidFill>
                <a:latin typeface="Roboto Mono" pitchFamily="34" charset="0"/>
                <a:ea typeface="Roboto Mono" pitchFamily="34" charset="-122"/>
                <a:cs typeface="Roboto Mono" pitchFamily="34" charset="-120"/>
              </a:rPr>
              <a:t>cette</a:t>
            </a:r>
            <a:r>
              <a:rPr lang="en-US" sz="950" dirty="0">
                <a:solidFill>
                  <a:srgbClr val="0A1128"/>
                </a:solidFill>
                <a:latin typeface="Roboto Mono" pitchFamily="34" charset="0"/>
                <a:ea typeface="Roboto Mono" pitchFamily="34" charset="-122"/>
                <a:cs typeface="Roboto Mono" pitchFamily="34" charset="-120"/>
              </a:rPr>
              <a:t> </a:t>
            </a:r>
            <a:r>
              <a:rPr lang="en-US" sz="950" dirty="0" err="1">
                <a:solidFill>
                  <a:srgbClr val="0A1128"/>
                </a:solidFill>
                <a:latin typeface="Roboto Mono" pitchFamily="34" charset="0"/>
                <a:ea typeface="Roboto Mono" pitchFamily="34" charset="-122"/>
                <a:cs typeface="Roboto Mono" pitchFamily="34" charset="-120"/>
              </a:rPr>
              <a:t>séquence</a:t>
            </a:r>
            <a:r>
              <a:rPr lang="en-US" sz="950" dirty="0">
                <a:solidFill>
                  <a:srgbClr val="0A1128"/>
                </a:solidFill>
                <a:latin typeface="Roboto Mono" pitchFamily="34" charset="0"/>
                <a:ea typeface="Roboto Mono" pitchFamily="34" charset="-122"/>
                <a:cs typeface="Roboto Mono" pitchFamily="34" charset="-120"/>
              </a:rPr>
              <a:t>, de la génération contrôlée des accords à la prédiction finale. L'ensemble est orchestré pour garantir la </a:t>
            </a:r>
            <a:r>
              <a:rPr lang="en-US" sz="900" b="1" dirty="0">
                <a:solidFill>
                  <a:srgbClr val="FF4500"/>
                </a:solidFill>
                <a:latin typeface="Roboto Mono Bold" pitchFamily="34" charset="0"/>
                <a:ea typeface="Roboto Mono Bold" pitchFamily="34" charset="-122"/>
                <a:cs typeface="Roboto Mono Bold" pitchFamily="34" charset="-120"/>
              </a:rPr>
              <a:t>reproductibilité</a:t>
            </a:r>
            <a:r>
              <a:rPr lang="en-US" sz="950" dirty="0">
                <a:solidFill>
                  <a:srgbClr val="0A1128"/>
                </a:solidFill>
                <a:latin typeface="Roboto Mono" pitchFamily="34" charset="0"/>
                <a:ea typeface="Roboto Mono" pitchFamily="34" charset="-122"/>
                <a:cs typeface="Roboto Mono" pitchFamily="34" charset="-120"/>
              </a:rPr>
              <a:t>.</a:t>
            </a:r>
            <a:endParaRPr lang="en-US" sz="950" dirty="0"/>
          </a:p>
        </p:txBody>
      </p:sp>
      <p:sp>
        <p:nvSpPr>
          <p:cNvPr id="5" name="Shape 2"/>
          <p:cNvSpPr/>
          <p:nvPr/>
        </p:nvSpPr>
        <p:spPr>
          <a:xfrm>
            <a:off x="571500" y="1838734"/>
            <a:ext cx="1571625" cy="1000125"/>
          </a:xfrm>
          <a:prstGeom prst="rect">
            <a:avLst/>
          </a:prstGeom>
          <a:solidFill>
            <a:srgbClr val="E0E7F1"/>
          </a:solidFill>
          <a:ln/>
        </p:spPr>
        <p:txBody>
          <a:bodyPr/>
          <a:lstStyle/>
          <a:p>
            <a:endParaRPr lang="en-US"/>
          </a:p>
        </p:txBody>
      </p:sp>
      <p:sp>
        <p:nvSpPr>
          <p:cNvPr id="6" name="Shape 3"/>
          <p:cNvSpPr/>
          <p:nvPr/>
        </p:nvSpPr>
        <p:spPr>
          <a:xfrm>
            <a:off x="571500" y="1838734"/>
            <a:ext cx="1571625" cy="28575"/>
          </a:xfrm>
          <a:prstGeom prst="rect">
            <a:avLst/>
          </a:prstGeom>
          <a:solidFill>
            <a:srgbClr val="0A1128"/>
          </a:solidFill>
          <a:ln/>
        </p:spPr>
        <p:txBody>
          <a:bodyPr/>
          <a:lstStyle/>
          <a:p>
            <a:endParaRPr lang="en-US"/>
          </a:p>
        </p:txBody>
      </p:sp>
      <p:sp>
        <p:nvSpPr>
          <p:cNvPr id="7" name="Text 4"/>
          <p:cNvSpPr/>
          <p:nvPr/>
        </p:nvSpPr>
        <p:spPr>
          <a:xfrm>
            <a:off x="714375" y="2069846"/>
            <a:ext cx="1285875" cy="132159"/>
          </a:xfrm>
          <a:prstGeom prst="rect">
            <a:avLst/>
          </a:prstGeom>
          <a:noFill/>
          <a:ln/>
        </p:spPr>
        <p:txBody>
          <a:bodyPr wrap="none" lIns="0" tIns="0" rIns="0" bIns="0" rtlCol="0" anchor="t">
            <a:spAutoFit/>
          </a:bodyPr>
          <a:lstStyle/>
          <a:p>
            <a:pPr marL="0" indent="0" algn="l">
              <a:buNone/>
            </a:pPr>
            <a:r>
              <a:rPr lang="en-US" sz="700" b="1" dirty="0">
                <a:solidFill>
                  <a:srgbClr val="FF4500"/>
                </a:solidFill>
                <a:latin typeface="Roboto Mono Bold" pitchFamily="34" charset="0"/>
                <a:ea typeface="Roboto Mono Bold" pitchFamily="34" charset="-122"/>
                <a:cs typeface="Roboto Mono Bold" pitchFamily="34" charset="-120"/>
              </a:rPr>
              <a:t>PHASE 01</a:t>
            </a:r>
            <a:endParaRPr lang="en-US" sz="700" dirty="0"/>
          </a:p>
        </p:txBody>
      </p:sp>
      <p:sp>
        <p:nvSpPr>
          <p:cNvPr id="8" name="Text 5"/>
          <p:cNvSpPr/>
          <p:nvPr/>
        </p:nvSpPr>
        <p:spPr>
          <a:xfrm>
            <a:off x="714375" y="2273443"/>
            <a:ext cx="1285875" cy="334305"/>
          </a:xfrm>
          <a:prstGeom prst="rect">
            <a:avLst/>
          </a:prstGeom>
          <a:noFill/>
          <a:ln/>
        </p:spPr>
        <p:txBody>
          <a:bodyPr wrap="square" lIns="0" tIns="0" rIns="0" bIns="0" rtlCol="0" anchor="t">
            <a:spAutoFit/>
          </a:bodyPr>
          <a:lstStyle/>
          <a:p>
            <a:pPr marL="0" indent="0" algn="l">
              <a:lnSpc>
                <a:spcPct val="104000"/>
              </a:lnSpc>
              <a:buNone/>
            </a:pPr>
            <a:r>
              <a:rPr lang="en-US" sz="900" b="1" dirty="0">
                <a:solidFill>
                  <a:srgbClr val="0A1128"/>
                </a:solidFill>
                <a:latin typeface="Roboto Mono Bold" pitchFamily="34" charset="0"/>
                <a:ea typeface="Roboto Mono Bold" pitchFamily="34" charset="-122"/>
                <a:cs typeface="Roboto Mono Bold" pitchFamily="34" charset="-120"/>
              </a:rPr>
              <a:t>Génération &amp; Augmentation</a:t>
            </a:r>
            <a:endParaRPr lang="en-US" sz="900" dirty="0"/>
          </a:p>
        </p:txBody>
      </p:sp>
      <p:sp>
        <p:nvSpPr>
          <p:cNvPr id="9" name="Text 6"/>
          <p:cNvSpPr/>
          <p:nvPr/>
        </p:nvSpPr>
        <p:spPr>
          <a:xfrm>
            <a:off x="2364581" y="2193243"/>
            <a:ext cx="128588" cy="291108"/>
          </a:xfrm>
          <a:prstGeom prst="rect">
            <a:avLst/>
          </a:prstGeom>
          <a:noFill/>
          <a:ln/>
        </p:spPr>
        <p:txBody>
          <a:bodyPr wrap="none" lIns="0" tIns="0" rIns="0" bIns="0" rtlCol="0" anchor="t">
            <a:spAutoFit/>
          </a:bodyPr>
          <a:lstStyle/>
          <a:p>
            <a:pPr marL="0" indent="0" algn="l">
              <a:buNone/>
            </a:pPr>
            <a:r>
              <a:rPr lang="en-US" sz="1600" dirty="0">
                <a:solidFill>
                  <a:srgbClr val="0A1128"/>
                </a:solidFill>
                <a:latin typeface="Roboto Mono" pitchFamily="34" charset="0"/>
                <a:ea typeface="Roboto Mono" pitchFamily="34" charset="-122"/>
                <a:cs typeface="Roboto Mono" pitchFamily="34" charset="-120"/>
              </a:rPr>
              <a:t>→</a:t>
            </a:r>
            <a:endParaRPr lang="en-US" sz="1600" dirty="0"/>
          </a:p>
        </p:txBody>
      </p:sp>
      <p:sp>
        <p:nvSpPr>
          <p:cNvPr id="10" name="Shape 7"/>
          <p:cNvSpPr/>
          <p:nvPr/>
        </p:nvSpPr>
        <p:spPr>
          <a:xfrm>
            <a:off x="2714625" y="1838734"/>
            <a:ext cx="1571625" cy="1000125"/>
          </a:xfrm>
          <a:prstGeom prst="rect">
            <a:avLst/>
          </a:prstGeom>
          <a:solidFill>
            <a:srgbClr val="E0E7F1"/>
          </a:solidFill>
          <a:ln/>
        </p:spPr>
        <p:txBody>
          <a:bodyPr/>
          <a:lstStyle/>
          <a:p>
            <a:endParaRPr lang="en-US"/>
          </a:p>
        </p:txBody>
      </p:sp>
      <p:sp>
        <p:nvSpPr>
          <p:cNvPr id="11" name="Shape 8"/>
          <p:cNvSpPr/>
          <p:nvPr/>
        </p:nvSpPr>
        <p:spPr>
          <a:xfrm>
            <a:off x="2714625" y="1838734"/>
            <a:ext cx="1571625" cy="28575"/>
          </a:xfrm>
          <a:prstGeom prst="rect">
            <a:avLst/>
          </a:prstGeom>
          <a:solidFill>
            <a:srgbClr val="0A1128"/>
          </a:solidFill>
          <a:ln/>
        </p:spPr>
        <p:txBody>
          <a:bodyPr/>
          <a:lstStyle/>
          <a:p>
            <a:endParaRPr lang="en-US"/>
          </a:p>
        </p:txBody>
      </p:sp>
      <p:sp>
        <p:nvSpPr>
          <p:cNvPr id="12" name="Text 9"/>
          <p:cNvSpPr/>
          <p:nvPr/>
        </p:nvSpPr>
        <p:spPr>
          <a:xfrm>
            <a:off x="2857500" y="2069846"/>
            <a:ext cx="1285875" cy="132159"/>
          </a:xfrm>
          <a:prstGeom prst="rect">
            <a:avLst/>
          </a:prstGeom>
          <a:noFill/>
          <a:ln/>
        </p:spPr>
        <p:txBody>
          <a:bodyPr wrap="none" lIns="0" tIns="0" rIns="0" bIns="0" rtlCol="0" anchor="t">
            <a:spAutoFit/>
          </a:bodyPr>
          <a:lstStyle/>
          <a:p>
            <a:pPr marL="0" indent="0" algn="l">
              <a:buNone/>
            </a:pPr>
            <a:r>
              <a:rPr lang="en-US" sz="700" b="1" dirty="0">
                <a:solidFill>
                  <a:srgbClr val="FF4500"/>
                </a:solidFill>
                <a:latin typeface="Roboto Mono Bold" pitchFamily="34" charset="0"/>
                <a:ea typeface="Roboto Mono Bold" pitchFamily="34" charset="-122"/>
                <a:cs typeface="Roboto Mono Bold" pitchFamily="34" charset="-120"/>
              </a:rPr>
              <a:t>PHASE 02</a:t>
            </a:r>
            <a:endParaRPr lang="en-US" sz="700" dirty="0"/>
          </a:p>
        </p:txBody>
      </p:sp>
      <p:sp>
        <p:nvSpPr>
          <p:cNvPr id="13" name="Text 10"/>
          <p:cNvSpPr/>
          <p:nvPr/>
        </p:nvSpPr>
        <p:spPr>
          <a:xfrm>
            <a:off x="2857500" y="2273443"/>
            <a:ext cx="1285875" cy="334305"/>
          </a:xfrm>
          <a:prstGeom prst="rect">
            <a:avLst/>
          </a:prstGeom>
          <a:noFill/>
          <a:ln/>
        </p:spPr>
        <p:txBody>
          <a:bodyPr wrap="square" lIns="0" tIns="0" rIns="0" bIns="0" rtlCol="0" anchor="t">
            <a:spAutoFit/>
          </a:bodyPr>
          <a:lstStyle/>
          <a:p>
            <a:pPr marL="0" indent="0" algn="l">
              <a:lnSpc>
                <a:spcPct val="104000"/>
              </a:lnSpc>
              <a:buNone/>
            </a:pPr>
            <a:r>
              <a:rPr lang="en-US" sz="900" b="1" dirty="0">
                <a:solidFill>
                  <a:srgbClr val="0A1128"/>
                </a:solidFill>
                <a:latin typeface="Roboto Mono Bold" pitchFamily="34" charset="0"/>
                <a:ea typeface="Roboto Mono Bold" pitchFamily="34" charset="-122"/>
                <a:cs typeface="Roboto Mono Bold" pitchFamily="34" charset="-120"/>
              </a:rPr>
              <a:t>Préparation &amp; Extraction (CQT)</a:t>
            </a:r>
            <a:endParaRPr lang="en-US" sz="900" dirty="0"/>
          </a:p>
        </p:txBody>
      </p:sp>
      <p:sp>
        <p:nvSpPr>
          <p:cNvPr id="14" name="Text 11"/>
          <p:cNvSpPr/>
          <p:nvPr/>
        </p:nvSpPr>
        <p:spPr>
          <a:xfrm>
            <a:off x="4507706" y="2193243"/>
            <a:ext cx="128588" cy="291108"/>
          </a:xfrm>
          <a:prstGeom prst="rect">
            <a:avLst/>
          </a:prstGeom>
          <a:noFill/>
          <a:ln/>
        </p:spPr>
        <p:txBody>
          <a:bodyPr wrap="none" lIns="0" tIns="0" rIns="0" bIns="0" rtlCol="0" anchor="t">
            <a:spAutoFit/>
          </a:bodyPr>
          <a:lstStyle/>
          <a:p>
            <a:pPr marL="0" indent="0" algn="l">
              <a:buNone/>
            </a:pPr>
            <a:r>
              <a:rPr lang="en-US" sz="1600" dirty="0">
                <a:solidFill>
                  <a:srgbClr val="0A1128"/>
                </a:solidFill>
                <a:latin typeface="Roboto Mono" pitchFamily="34" charset="0"/>
                <a:ea typeface="Roboto Mono" pitchFamily="34" charset="-122"/>
                <a:cs typeface="Roboto Mono" pitchFamily="34" charset="-120"/>
              </a:rPr>
              <a:t>→</a:t>
            </a:r>
            <a:endParaRPr lang="en-US" sz="1600" dirty="0"/>
          </a:p>
        </p:txBody>
      </p:sp>
      <p:sp>
        <p:nvSpPr>
          <p:cNvPr id="15" name="Shape 12"/>
          <p:cNvSpPr/>
          <p:nvPr/>
        </p:nvSpPr>
        <p:spPr>
          <a:xfrm>
            <a:off x="4857750" y="1838734"/>
            <a:ext cx="1571625" cy="1000125"/>
          </a:xfrm>
          <a:prstGeom prst="rect">
            <a:avLst/>
          </a:prstGeom>
          <a:solidFill>
            <a:srgbClr val="0A1128"/>
          </a:solidFill>
          <a:ln/>
        </p:spPr>
        <p:txBody>
          <a:bodyPr/>
          <a:lstStyle/>
          <a:p>
            <a:endParaRPr lang="en-US"/>
          </a:p>
        </p:txBody>
      </p:sp>
      <p:sp>
        <p:nvSpPr>
          <p:cNvPr id="16" name="Shape 13"/>
          <p:cNvSpPr/>
          <p:nvPr/>
        </p:nvSpPr>
        <p:spPr>
          <a:xfrm>
            <a:off x="4857750" y="1838734"/>
            <a:ext cx="1571625" cy="28575"/>
          </a:xfrm>
          <a:prstGeom prst="rect">
            <a:avLst/>
          </a:prstGeom>
          <a:solidFill>
            <a:srgbClr val="FF4500"/>
          </a:solidFill>
          <a:ln/>
        </p:spPr>
        <p:txBody>
          <a:bodyPr/>
          <a:lstStyle/>
          <a:p>
            <a:endParaRPr lang="en-US"/>
          </a:p>
        </p:txBody>
      </p:sp>
      <p:sp>
        <p:nvSpPr>
          <p:cNvPr id="17" name="Text 14"/>
          <p:cNvSpPr/>
          <p:nvPr/>
        </p:nvSpPr>
        <p:spPr>
          <a:xfrm>
            <a:off x="5000625" y="2069846"/>
            <a:ext cx="1285875" cy="132159"/>
          </a:xfrm>
          <a:prstGeom prst="rect">
            <a:avLst/>
          </a:prstGeom>
          <a:noFill/>
          <a:ln/>
        </p:spPr>
        <p:txBody>
          <a:bodyPr wrap="none" lIns="0" tIns="0" rIns="0" bIns="0" rtlCol="0" anchor="t">
            <a:spAutoFit/>
          </a:bodyPr>
          <a:lstStyle/>
          <a:p>
            <a:pPr marL="0" indent="0" algn="l">
              <a:buNone/>
            </a:pPr>
            <a:r>
              <a:rPr lang="en-US" sz="700" b="1" dirty="0">
                <a:solidFill>
                  <a:srgbClr val="FF4500"/>
                </a:solidFill>
                <a:latin typeface="Roboto Mono Bold" pitchFamily="34" charset="0"/>
                <a:ea typeface="Roboto Mono Bold" pitchFamily="34" charset="-122"/>
                <a:cs typeface="Roboto Mono Bold" pitchFamily="34" charset="-120"/>
              </a:rPr>
              <a:t>PHASE 03</a:t>
            </a:r>
            <a:endParaRPr lang="en-US" sz="700" dirty="0"/>
          </a:p>
        </p:txBody>
      </p:sp>
      <p:sp>
        <p:nvSpPr>
          <p:cNvPr id="18" name="Text 15"/>
          <p:cNvSpPr/>
          <p:nvPr/>
        </p:nvSpPr>
        <p:spPr>
          <a:xfrm>
            <a:off x="5000625" y="2273443"/>
            <a:ext cx="1285875" cy="334305"/>
          </a:xfrm>
          <a:prstGeom prst="rect">
            <a:avLst/>
          </a:prstGeom>
          <a:noFill/>
          <a:ln/>
        </p:spPr>
        <p:txBody>
          <a:bodyPr wrap="square" lIns="0" tIns="0" rIns="0" bIns="0" rtlCol="0" anchor="t">
            <a:spAutoFit/>
          </a:bodyPr>
          <a:lstStyle/>
          <a:p>
            <a:pPr marL="0" indent="0" algn="l">
              <a:lnSpc>
                <a:spcPct val="104000"/>
              </a:lnSpc>
              <a:buNone/>
            </a:pPr>
            <a:r>
              <a:rPr lang="en-US" sz="900" b="1" dirty="0">
                <a:solidFill>
                  <a:srgbClr val="FFFFFF"/>
                </a:solidFill>
                <a:latin typeface="Roboto Mono Bold" pitchFamily="34" charset="0"/>
                <a:ea typeface="Roboto Mono Bold" pitchFamily="34" charset="-122"/>
                <a:cs typeface="Roboto Mono Bold" pitchFamily="34" charset="-120"/>
              </a:rPr>
              <a:t>Entraînement du modèle CNN</a:t>
            </a:r>
            <a:endParaRPr lang="en-US" sz="900" dirty="0"/>
          </a:p>
        </p:txBody>
      </p:sp>
      <p:sp>
        <p:nvSpPr>
          <p:cNvPr id="19" name="Text 16"/>
          <p:cNvSpPr/>
          <p:nvPr/>
        </p:nvSpPr>
        <p:spPr>
          <a:xfrm>
            <a:off x="6650831" y="2193243"/>
            <a:ext cx="128588" cy="291108"/>
          </a:xfrm>
          <a:prstGeom prst="rect">
            <a:avLst/>
          </a:prstGeom>
          <a:noFill/>
          <a:ln/>
        </p:spPr>
        <p:txBody>
          <a:bodyPr wrap="none" lIns="0" tIns="0" rIns="0" bIns="0" rtlCol="0" anchor="t">
            <a:spAutoFit/>
          </a:bodyPr>
          <a:lstStyle/>
          <a:p>
            <a:pPr marL="0" indent="0" algn="l">
              <a:buNone/>
            </a:pPr>
            <a:r>
              <a:rPr lang="en-US" sz="1600" dirty="0">
                <a:solidFill>
                  <a:srgbClr val="0A1128"/>
                </a:solidFill>
                <a:latin typeface="Roboto Mono" pitchFamily="34" charset="0"/>
                <a:ea typeface="Roboto Mono" pitchFamily="34" charset="-122"/>
                <a:cs typeface="Roboto Mono" pitchFamily="34" charset="-120"/>
              </a:rPr>
              <a:t>→</a:t>
            </a:r>
            <a:endParaRPr lang="en-US" sz="1600" dirty="0"/>
          </a:p>
        </p:txBody>
      </p:sp>
      <p:sp>
        <p:nvSpPr>
          <p:cNvPr id="20" name="Shape 17"/>
          <p:cNvSpPr/>
          <p:nvPr/>
        </p:nvSpPr>
        <p:spPr>
          <a:xfrm>
            <a:off x="7000875" y="1838734"/>
            <a:ext cx="1571625" cy="1000125"/>
          </a:xfrm>
          <a:prstGeom prst="rect">
            <a:avLst/>
          </a:prstGeom>
          <a:solidFill>
            <a:srgbClr val="E0E7F1"/>
          </a:solidFill>
          <a:ln/>
        </p:spPr>
        <p:txBody>
          <a:bodyPr/>
          <a:lstStyle/>
          <a:p>
            <a:endParaRPr lang="en-US"/>
          </a:p>
        </p:txBody>
      </p:sp>
      <p:sp>
        <p:nvSpPr>
          <p:cNvPr id="21" name="Shape 18"/>
          <p:cNvSpPr/>
          <p:nvPr/>
        </p:nvSpPr>
        <p:spPr>
          <a:xfrm>
            <a:off x="7000875" y="1838734"/>
            <a:ext cx="1571625" cy="28575"/>
          </a:xfrm>
          <a:prstGeom prst="rect">
            <a:avLst/>
          </a:prstGeom>
          <a:solidFill>
            <a:srgbClr val="0A1128"/>
          </a:solidFill>
          <a:ln/>
        </p:spPr>
        <p:txBody>
          <a:bodyPr/>
          <a:lstStyle/>
          <a:p>
            <a:endParaRPr lang="en-US"/>
          </a:p>
        </p:txBody>
      </p:sp>
      <p:sp>
        <p:nvSpPr>
          <p:cNvPr id="22" name="Text 19"/>
          <p:cNvSpPr/>
          <p:nvPr/>
        </p:nvSpPr>
        <p:spPr>
          <a:xfrm>
            <a:off x="7143750" y="2069846"/>
            <a:ext cx="1285875" cy="132159"/>
          </a:xfrm>
          <a:prstGeom prst="rect">
            <a:avLst/>
          </a:prstGeom>
          <a:noFill/>
          <a:ln/>
        </p:spPr>
        <p:txBody>
          <a:bodyPr wrap="none" lIns="0" tIns="0" rIns="0" bIns="0" rtlCol="0" anchor="t">
            <a:spAutoFit/>
          </a:bodyPr>
          <a:lstStyle/>
          <a:p>
            <a:pPr marL="0" indent="0" algn="l">
              <a:buNone/>
            </a:pPr>
            <a:r>
              <a:rPr lang="en-US" sz="700" b="1" dirty="0">
                <a:solidFill>
                  <a:srgbClr val="FF4500"/>
                </a:solidFill>
                <a:latin typeface="Roboto Mono Bold" pitchFamily="34" charset="0"/>
                <a:ea typeface="Roboto Mono Bold" pitchFamily="34" charset="-122"/>
                <a:cs typeface="Roboto Mono Bold" pitchFamily="34" charset="-120"/>
              </a:rPr>
              <a:t>PHASE 04</a:t>
            </a:r>
            <a:endParaRPr lang="en-US" sz="700" dirty="0"/>
          </a:p>
        </p:txBody>
      </p:sp>
      <p:sp>
        <p:nvSpPr>
          <p:cNvPr id="23" name="Text 20"/>
          <p:cNvSpPr/>
          <p:nvPr/>
        </p:nvSpPr>
        <p:spPr>
          <a:xfrm>
            <a:off x="7143750" y="2273443"/>
            <a:ext cx="1285875" cy="334305"/>
          </a:xfrm>
          <a:prstGeom prst="rect">
            <a:avLst/>
          </a:prstGeom>
          <a:noFill/>
          <a:ln/>
        </p:spPr>
        <p:txBody>
          <a:bodyPr wrap="square" lIns="0" tIns="0" rIns="0" bIns="0" rtlCol="0" anchor="t">
            <a:spAutoFit/>
          </a:bodyPr>
          <a:lstStyle/>
          <a:p>
            <a:pPr marL="0" indent="0" algn="l">
              <a:lnSpc>
                <a:spcPct val="104000"/>
              </a:lnSpc>
              <a:buNone/>
            </a:pPr>
            <a:r>
              <a:rPr lang="en-US" sz="900" b="1" dirty="0">
                <a:solidFill>
                  <a:srgbClr val="0A1128"/>
                </a:solidFill>
                <a:latin typeface="Roboto Mono Bold" pitchFamily="34" charset="0"/>
                <a:ea typeface="Roboto Mono Bold" pitchFamily="34" charset="-122"/>
                <a:cs typeface="Roboto Mono Bold" pitchFamily="34" charset="-120"/>
              </a:rPr>
              <a:t>Évaluation &amp; Prédiction</a:t>
            </a:r>
            <a:endParaRPr lang="en-US" sz="900" dirty="0"/>
          </a:p>
        </p:txBody>
      </p:sp>
      <p:sp>
        <p:nvSpPr>
          <p:cNvPr id="24" name="Text 21"/>
          <p:cNvSpPr/>
          <p:nvPr/>
        </p:nvSpPr>
        <p:spPr>
          <a:xfrm>
            <a:off x="571500" y="3267484"/>
            <a:ext cx="8001000" cy="653653"/>
          </a:xfrm>
          <a:prstGeom prst="rect">
            <a:avLst/>
          </a:prstGeom>
          <a:noFill/>
          <a:ln/>
        </p:spPr>
        <p:txBody>
          <a:bodyPr wrap="square" lIns="170053" tIns="170053" rIns="170053" bIns="170053" rtlCol="0" anchor="t">
            <a:spAutoFit/>
          </a:bodyPr>
          <a:lstStyle/>
          <a:p>
            <a:pPr marL="0" indent="0">
              <a:buNone/>
            </a:pPr>
            <a:r>
              <a:rPr lang="en-US" sz="950" dirty="0">
                <a:solidFill>
                  <a:srgbClr val="0A1128"/>
                </a:solidFill>
                <a:latin typeface="Roboto Mono" pitchFamily="34" charset="0"/>
                <a:ea typeface="Roboto Mono" pitchFamily="34" charset="-122"/>
                <a:cs typeface="Roboto Mono" pitchFamily="34" charset="-120"/>
              </a:rPr>
              <a:t>Les configurations du </a:t>
            </a:r>
            <a:r>
              <a:rPr lang="en-US" sz="950" dirty="0" err="1">
                <a:solidFill>
                  <a:srgbClr val="0A1128"/>
                </a:solidFill>
                <a:latin typeface="Roboto Mono" pitchFamily="34" charset="0"/>
                <a:ea typeface="Roboto Mono" pitchFamily="34" charset="-122"/>
                <a:cs typeface="Roboto Mono" pitchFamily="34" charset="-120"/>
              </a:rPr>
              <a:t>projet</a:t>
            </a:r>
            <a:r>
              <a:rPr lang="en-US" sz="950" dirty="0">
                <a:solidFill>
                  <a:srgbClr val="0A1128"/>
                </a:solidFill>
                <a:latin typeface="Roboto Mono" pitchFamily="34" charset="0"/>
                <a:ea typeface="Roboto Mono" pitchFamily="34" charset="-122"/>
                <a:cs typeface="Roboto Mono" pitchFamily="34" charset="-120"/>
              </a:rPr>
              <a:t> </a:t>
            </a:r>
            <a:r>
              <a:rPr lang="en-US" sz="950" dirty="0" err="1">
                <a:solidFill>
                  <a:srgbClr val="0A1128"/>
                </a:solidFill>
                <a:latin typeface="Roboto Mono" pitchFamily="34" charset="0"/>
                <a:ea typeface="Roboto Mono" pitchFamily="34" charset="-122"/>
                <a:cs typeface="Roboto Mono" pitchFamily="34" charset="-120"/>
              </a:rPr>
              <a:t>sont</a:t>
            </a:r>
            <a:r>
              <a:rPr lang="en-US" sz="950" dirty="0">
                <a:solidFill>
                  <a:srgbClr val="0A1128"/>
                </a:solidFill>
                <a:latin typeface="Roboto Mono" pitchFamily="34" charset="0"/>
                <a:ea typeface="Roboto Mono" pitchFamily="34" charset="-122"/>
                <a:cs typeface="Roboto Mono" pitchFamily="34" charset="-120"/>
              </a:rPr>
              <a:t> </a:t>
            </a:r>
            <a:r>
              <a:rPr lang="en-US" sz="950" dirty="0" err="1">
                <a:solidFill>
                  <a:srgbClr val="0A1128"/>
                </a:solidFill>
                <a:latin typeface="Roboto Mono" pitchFamily="34" charset="0"/>
                <a:ea typeface="Roboto Mono" pitchFamily="34" charset="-122"/>
                <a:cs typeface="Roboto Mono" pitchFamily="34" charset="-120"/>
              </a:rPr>
              <a:t>centralisées</a:t>
            </a:r>
            <a:r>
              <a:rPr lang="en-US" sz="950" dirty="0">
                <a:solidFill>
                  <a:srgbClr val="0A1128"/>
                </a:solidFill>
                <a:latin typeface="Roboto Mono" pitchFamily="34" charset="0"/>
                <a:ea typeface="Roboto Mono" pitchFamily="34" charset="-122"/>
                <a:cs typeface="Roboto Mono" pitchFamily="34" charset="-120"/>
              </a:rPr>
              <a:t> dans un fichier </a:t>
            </a:r>
            <a:r>
              <a:rPr lang="en-US" sz="900" b="1" dirty="0" err="1">
                <a:solidFill>
                  <a:srgbClr val="0A1128"/>
                </a:solidFill>
                <a:latin typeface="Roboto Mono Bold" pitchFamily="34" charset="0"/>
                <a:ea typeface="Roboto Mono Bold" pitchFamily="34" charset="-122"/>
                <a:cs typeface="Roboto Mono Bold" pitchFamily="34" charset="-120"/>
              </a:rPr>
              <a:t>musica.toml</a:t>
            </a:r>
            <a:r>
              <a:rPr lang="en-US" sz="950" dirty="0">
                <a:solidFill>
                  <a:srgbClr val="0A1128"/>
                </a:solidFill>
                <a:latin typeface="Roboto Mono" pitchFamily="34" charset="0"/>
                <a:ea typeface="Roboto Mono" pitchFamily="34" charset="-122"/>
                <a:cs typeface="Roboto Mono" pitchFamily="34" charset="-120"/>
              </a:rPr>
              <a:t> (durée, fréquence, hyperparamètres) et alimente toutes les phases du pipeline.</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ext 0"/>
          <p:cNvSpPr/>
          <p:nvPr/>
        </p:nvSpPr>
        <p:spPr>
          <a:xfrm>
            <a:off x="571500" y="357188"/>
            <a:ext cx="8001000" cy="377168"/>
          </a:xfrm>
          <a:prstGeom prst="rect">
            <a:avLst/>
          </a:prstGeom>
          <a:noFill/>
          <a:ln/>
        </p:spPr>
        <p:txBody>
          <a:bodyPr wrap="none" lIns="0" tIns="0" rIns="0" bIns="0" rtlCol="0" anchor="t">
            <a:spAutoFit/>
          </a:bodyPr>
          <a:lstStyle/>
          <a:p>
            <a:pPr marL="0" indent="0" algn="l">
              <a:lnSpc>
                <a:spcPct val="96000"/>
              </a:lnSpc>
              <a:buNone/>
            </a:pPr>
            <a:r>
              <a:rPr lang="en-US" sz="2250" b="1" dirty="0">
                <a:solidFill>
                  <a:srgbClr val="0A1128"/>
                </a:solidFill>
                <a:latin typeface="Playfair Display Black" pitchFamily="34" charset="0"/>
                <a:ea typeface="Playfair Display Black" pitchFamily="34" charset="-122"/>
                <a:cs typeface="Playfair Display Black" pitchFamily="34" charset="-120"/>
              </a:rPr>
              <a:t>Génération des données</a:t>
            </a:r>
            <a:endParaRPr lang="en-US" sz="2250" dirty="0"/>
          </a:p>
        </p:txBody>
      </p:sp>
      <p:sp>
        <p:nvSpPr>
          <p:cNvPr id="4" name="Text 1"/>
          <p:cNvSpPr/>
          <p:nvPr/>
        </p:nvSpPr>
        <p:spPr>
          <a:xfrm>
            <a:off x="571500" y="1141549"/>
            <a:ext cx="5000625" cy="411435"/>
          </a:xfrm>
          <a:prstGeom prst="rect">
            <a:avLst/>
          </a:prstGeom>
          <a:noFill/>
          <a:ln/>
        </p:spPr>
        <p:txBody>
          <a:bodyPr wrap="square" lIns="0" tIns="0" rIns="0" bIns="0" rtlCol="0" anchor="t">
            <a:spAutoFit/>
          </a:bodyPr>
          <a:lstStyle/>
          <a:p>
            <a:pPr marL="0" indent="0" algn="l">
              <a:lnSpc>
                <a:spcPct val="128000"/>
              </a:lnSpc>
              <a:buNone/>
            </a:pPr>
            <a:r>
              <a:rPr lang="en-US" sz="950" dirty="0">
                <a:solidFill>
                  <a:srgbClr val="0A1128"/>
                </a:solidFill>
                <a:latin typeface="Roboto Mono" pitchFamily="34" charset="0"/>
                <a:ea typeface="Roboto Mono" pitchFamily="34" charset="-122"/>
                <a:cs typeface="Roboto Mono" pitchFamily="34" charset="-120"/>
              </a:rPr>
              <a:t>Pour pallier le manque de données annotées manuellement, le projet utilise une approche de </a:t>
            </a:r>
            <a:r>
              <a:rPr lang="en-US" sz="900" b="1" dirty="0">
                <a:solidFill>
                  <a:srgbClr val="0A1128"/>
                </a:solidFill>
                <a:latin typeface="Roboto Mono Bold" pitchFamily="34" charset="0"/>
                <a:ea typeface="Roboto Mono Bold" pitchFamily="34" charset="-122"/>
                <a:cs typeface="Roboto Mono Bold" pitchFamily="34" charset="-120"/>
              </a:rPr>
              <a:t>génération synthétique contrôlée</a:t>
            </a:r>
            <a:r>
              <a:rPr lang="en-US" sz="950" dirty="0">
                <a:solidFill>
                  <a:srgbClr val="0A1128"/>
                </a:solidFill>
                <a:latin typeface="Roboto Mono" pitchFamily="34" charset="0"/>
                <a:ea typeface="Roboto Mono" pitchFamily="34" charset="-122"/>
                <a:cs typeface="Roboto Mono" pitchFamily="34" charset="-120"/>
              </a:rPr>
              <a:t>.</a:t>
            </a:r>
            <a:endParaRPr lang="en-US" sz="950" dirty="0"/>
          </a:p>
        </p:txBody>
      </p:sp>
      <p:sp>
        <p:nvSpPr>
          <p:cNvPr id="5" name="Text 2"/>
          <p:cNvSpPr/>
          <p:nvPr/>
        </p:nvSpPr>
        <p:spPr>
          <a:xfrm>
            <a:off x="571500" y="1767297"/>
            <a:ext cx="5000625" cy="462893"/>
          </a:xfrm>
          <a:prstGeom prst="rect">
            <a:avLst/>
          </a:prstGeom>
          <a:noFill/>
          <a:ln/>
        </p:spPr>
        <p:txBody>
          <a:bodyPr wrap="square" lIns="212598" tIns="0" rIns="0" bIns="0" rtlCol="0" anchor="t">
            <a:spAutoFit/>
          </a:bodyPr>
          <a:lstStyle/>
          <a:p>
            <a:pPr marL="0" indent="0" algn="l">
              <a:lnSpc>
                <a:spcPct val="144000"/>
              </a:lnSpc>
              <a:buNone/>
            </a:pPr>
            <a:r>
              <a:rPr lang="en-US" sz="950" dirty="0">
                <a:solidFill>
                  <a:srgbClr val="0A1128"/>
                </a:solidFill>
                <a:latin typeface="Roboto Mono" pitchFamily="34" charset="0"/>
                <a:ea typeface="Roboto Mono" pitchFamily="34" charset="-122"/>
                <a:cs typeface="Roboto Mono" pitchFamily="34" charset="-120"/>
              </a:rPr>
              <a:t>Création de séquences </a:t>
            </a:r>
            <a:r>
              <a:rPr lang="en-US" sz="900" b="1" dirty="0">
                <a:solidFill>
                  <a:srgbClr val="FF4500"/>
                </a:solidFill>
                <a:latin typeface="Roboto Mono Bold" pitchFamily="34" charset="0"/>
                <a:ea typeface="Roboto Mono Bold" pitchFamily="34" charset="-122"/>
                <a:cs typeface="Roboto Mono Bold" pitchFamily="34" charset="-120"/>
              </a:rPr>
              <a:t>MIDI</a:t>
            </a:r>
            <a:r>
              <a:rPr lang="en-US" sz="950" dirty="0">
                <a:solidFill>
                  <a:srgbClr val="0A1128"/>
                </a:solidFill>
                <a:latin typeface="Roboto Mono" pitchFamily="34" charset="0"/>
                <a:ea typeface="Roboto Mono" pitchFamily="34" charset="-122"/>
                <a:cs typeface="Roboto Mono" pitchFamily="34" charset="-120"/>
              </a:rPr>
              <a:t> précises pour les 36 classes d'accords ciblées.</a:t>
            </a:r>
            <a:endParaRPr lang="en-US" sz="950" dirty="0"/>
          </a:p>
        </p:txBody>
      </p:sp>
      <p:sp>
        <p:nvSpPr>
          <p:cNvPr id="6" name="Text 3"/>
          <p:cNvSpPr/>
          <p:nvPr/>
        </p:nvSpPr>
        <p:spPr>
          <a:xfrm>
            <a:off x="571500" y="2373064"/>
            <a:ext cx="5000625" cy="462893"/>
          </a:xfrm>
          <a:prstGeom prst="rect">
            <a:avLst/>
          </a:prstGeom>
          <a:noFill/>
          <a:ln/>
        </p:spPr>
        <p:txBody>
          <a:bodyPr wrap="square" lIns="212598" tIns="0" rIns="0" bIns="0" rtlCol="0" anchor="t">
            <a:spAutoFit/>
          </a:bodyPr>
          <a:lstStyle/>
          <a:p>
            <a:pPr marL="0" indent="0" algn="l">
              <a:lnSpc>
                <a:spcPct val="144000"/>
              </a:lnSpc>
              <a:buNone/>
            </a:pPr>
            <a:r>
              <a:rPr lang="en-US" sz="950" dirty="0">
                <a:solidFill>
                  <a:srgbClr val="0A1128"/>
                </a:solidFill>
                <a:latin typeface="Roboto Mono" pitchFamily="34" charset="0"/>
                <a:ea typeface="Roboto Mono" pitchFamily="34" charset="-122"/>
                <a:cs typeface="Roboto Mono" pitchFamily="34" charset="-120"/>
              </a:rPr>
              <a:t>Synthèse audio en fichiers </a:t>
            </a:r>
            <a:r>
              <a:rPr lang="en-US" sz="900" b="1" dirty="0">
                <a:solidFill>
                  <a:srgbClr val="FF4500"/>
                </a:solidFill>
                <a:latin typeface="Roboto Mono Bold" pitchFamily="34" charset="0"/>
                <a:ea typeface="Roboto Mono Bold" pitchFamily="34" charset="-122"/>
                <a:cs typeface="Roboto Mono Bold" pitchFamily="34" charset="-120"/>
              </a:rPr>
              <a:t>WAV</a:t>
            </a:r>
            <a:r>
              <a:rPr lang="en-US" sz="950" dirty="0">
                <a:solidFill>
                  <a:srgbClr val="0A1128"/>
                </a:solidFill>
                <a:latin typeface="Roboto Mono" pitchFamily="34" charset="0"/>
                <a:ea typeface="Roboto Mono" pitchFamily="34" charset="-122"/>
                <a:cs typeface="Roboto Mono" pitchFamily="34" charset="-120"/>
              </a:rPr>
              <a:t> via le synthétiseur logiciel </a:t>
            </a:r>
            <a:r>
              <a:rPr lang="en-US" sz="900" b="1" dirty="0">
                <a:solidFill>
                  <a:srgbClr val="FF4500"/>
                </a:solidFill>
                <a:latin typeface="Roboto Mono Bold" pitchFamily="34" charset="0"/>
                <a:ea typeface="Roboto Mono Bold" pitchFamily="34" charset="-122"/>
                <a:cs typeface="Roboto Mono Bold" pitchFamily="34" charset="-120"/>
              </a:rPr>
              <a:t>FluidSynth</a:t>
            </a:r>
            <a:r>
              <a:rPr lang="en-US" sz="950" dirty="0">
                <a:solidFill>
                  <a:srgbClr val="0A1128"/>
                </a:solidFill>
                <a:latin typeface="Roboto Mono" pitchFamily="34" charset="0"/>
                <a:ea typeface="Roboto Mono" pitchFamily="34" charset="-122"/>
                <a:cs typeface="Roboto Mono" pitchFamily="34" charset="-120"/>
              </a:rPr>
              <a:t>.</a:t>
            </a:r>
            <a:endParaRPr lang="en-US" sz="950" dirty="0"/>
          </a:p>
        </p:txBody>
      </p:sp>
      <p:sp>
        <p:nvSpPr>
          <p:cNvPr id="7" name="Text 4"/>
          <p:cNvSpPr/>
          <p:nvPr/>
        </p:nvSpPr>
        <p:spPr>
          <a:xfrm>
            <a:off x="571500" y="2978832"/>
            <a:ext cx="5000625" cy="462893"/>
          </a:xfrm>
          <a:prstGeom prst="rect">
            <a:avLst/>
          </a:prstGeom>
          <a:noFill/>
          <a:ln/>
        </p:spPr>
        <p:txBody>
          <a:bodyPr wrap="square" lIns="212598" tIns="0" rIns="0" bIns="0" rtlCol="0" anchor="t">
            <a:spAutoFit/>
          </a:bodyPr>
          <a:lstStyle/>
          <a:p>
            <a:pPr marL="0" indent="0" algn="l">
              <a:lnSpc>
                <a:spcPct val="144000"/>
              </a:lnSpc>
              <a:buNone/>
            </a:pPr>
            <a:r>
              <a:rPr lang="en-US" sz="950" dirty="0">
                <a:solidFill>
                  <a:srgbClr val="0A1128"/>
                </a:solidFill>
                <a:latin typeface="Roboto Mono" pitchFamily="34" charset="0"/>
                <a:ea typeface="Roboto Mono" pitchFamily="34" charset="-122"/>
                <a:cs typeface="Roboto Mono" pitchFamily="34" charset="-120"/>
              </a:rPr>
              <a:t>Utilisation d'une </a:t>
            </a:r>
            <a:r>
              <a:rPr lang="en-US" sz="900" b="1" dirty="0">
                <a:solidFill>
                  <a:srgbClr val="FF4500"/>
                </a:solidFill>
                <a:latin typeface="Roboto Mono Bold" pitchFamily="34" charset="0"/>
                <a:ea typeface="Roboto Mono Bold" pitchFamily="34" charset="-122"/>
                <a:cs typeface="Roboto Mono Bold" pitchFamily="34" charset="-120"/>
              </a:rPr>
              <a:t>SoundFont</a:t>
            </a:r>
            <a:r>
              <a:rPr lang="en-US" sz="950" dirty="0">
                <a:solidFill>
                  <a:srgbClr val="0A1128"/>
                </a:solidFill>
                <a:latin typeface="Roboto Mono" pitchFamily="34" charset="0"/>
                <a:ea typeface="Roboto Mono" pitchFamily="34" charset="-122"/>
                <a:cs typeface="Roboto Mono" pitchFamily="34" charset="-120"/>
              </a:rPr>
              <a:t> standardisée pour garantir un timbre homogène lors de la génération de base.</a:t>
            </a:r>
            <a:endParaRPr lang="en-US" sz="950" dirty="0"/>
          </a:p>
        </p:txBody>
      </p:sp>
      <p:sp>
        <p:nvSpPr>
          <p:cNvPr id="8" name="Text 5"/>
          <p:cNvSpPr/>
          <p:nvPr/>
        </p:nvSpPr>
        <p:spPr>
          <a:xfrm>
            <a:off x="571500" y="3584600"/>
            <a:ext cx="5000625" cy="462893"/>
          </a:xfrm>
          <a:prstGeom prst="rect">
            <a:avLst/>
          </a:prstGeom>
          <a:noFill/>
          <a:ln/>
        </p:spPr>
        <p:txBody>
          <a:bodyPr wrap="square" lIns="212598" tIns="0" rIns="0" bIns="0" rtlCol="0" anchor="t">
            <a:spAutoFit/>
          </a:bodyPr>
          <a:lstStyle/>
          <a:p>
            <a:pPr marL="0" indent="0" algn="l">
              <a:lnSpc>
                <a:spcPct val="144000"/>
              </a:lnSpc>
              <a:buNone/>
            </a:pPr>
            <a:r>
              <a:rPr lang="en-US" sz="950" dirty="0">
                <a:solidFill>
                  <a:srgbClr val="0A1128"/>
                </a:solidFill>
                <a:latin typeface="Roboto Mono" pitchFamily="34" charset="0"/>
                <a:ea typeface="Roboto Mono" pitchFamily="34" charset="-122"/>
                <a:cs typeface="Roboto Mono" pitchFamily="34" charset="-120"/>
              </a:rPr>
              <a:t>Mécanisme de secours intégré via </a:t>
            </a:r>
            <a:r>
              <a:rPr lang="en-US" sz="900" b="1" dirty="0">
                <a:solidFill>
                  <a:srgbClr val="FF4500"/>
                </a:solidFill>
                <a:latin typeface="Roboto Mono Bold" pitchFamily="34" charset="0"/>
                <a:ea typeface="Roboto Mono Bold" pitchFamily="34" charset="-122"/>
                <a:cs typeface="Roboto Mono Bold" pitchFamily="34" charset="-120"/>
              </a:rPr>
              <a:t>PrettyMIDI</a:t>
            </a:r>
            <a:r>
              <a:rPr lang="en-US" sz="950" dirty="0">
                <a:solidFill>
                  <a:srgbClr val="0A1128"/>
                </a:solidFill>
                <a:latin typeface="Roboto Mono" pitchFamily="34" charset="0"/>
                <a:ea typeface="Roboto Mono" pitchFamily="34" charset="-122"/>
                <a:cs typeface="Roboto Mono" pitchFamily="34" charset="-120"/>
              </a:rPr>
              <a:t> en cas d'absence des dépendances FluidSynth.</a:t>
            </a:r>
            <a:endParaRPr lang="en-US" sz="950" dirty="0"/>
          </a:p>
        </p:txBody>
      </p:sp>
      <p:sp>
        <p:nvSpPr>
          <p:cNvPr id="9" name="Text 6"/>
          <p:cNvSpPr/>
          <p:nvPr/>
        </p:nvSpPr>
        <p:spPr>
          <a:xfrm>
            <a:off x="571500" y="1781584"/>
            <a:ext cx="59996" cy="179989"/>
          </a:xfrm>
          <a:prstGeom prst="rect">
            <a:avLst/>
          </a:prstGeom>
          <a:noFill/>
          <a:ln/>
        </p:spPr>
        <p:txBody>
          <a:bodyPr wrap="none" lIns="0" tIns="0" rIns="0" bIns="0" rtlCol="0" anchor="t">
            <a:spAutoFit/>
          </a:bodyPr>
          <a:lstStyle/>
          <a:p>
            <a:pPr marL="0" indent="0" algn="l">
              <a:lnSpc>
                <a:spcPct val="144000"/>
              </a:lnSpc>
              <a:buNone/>
            </a:pPr>
            <a:r>
              <a:rPr lang="en-US" sz="750" dirty="0">
                <a:solidFill>
                  <a:srgbClr val="FF4500"/>
                </a:solidFill>
                <a:latin typeface="Roboto Mono" pitchFamily="34" charset="0"/>
                <a:ea typeface="Roboto Mono" pitchFamily="34" charset="-122"/>
                <a:cs typeface="Roboto Mono" pitchFamily="34" charset="-120"/>
              </a:rPr>
              <a:t>■</a:t>
            </a:r>
            <a:endParaRPr lang="en-US" sz="750" dirty="0"/>
          </a:p>
        </p:txBody>
      </p:sp>
      <p:sp>
        <p:nvSpPr>
          <p:cNvPr id="10" name="Text 7"/>
          <p:cNvSpPr/>
          <p:nvPr/>
        </p:nvSpPr>
        <p:spPr>
          <a:xfrm>
            <a:off x="571500" y="2387352"/>
            <a:ext cx="59996" cy="179989"/>
          </a:xfrm>
          <a:prstGeom prst="rect">
            <a:avLst/>
          </a:prstGeom>
          <a:noFill/>
          <a:ln/>
        </p:spPr>
        <p:txBody>
          <a:bodyPr wrap="none" lIns="0" tIns="0" rIns="0" bIns="0" rtlCol="0" anchor="t">
            <a:spAutoFit/>
          </a:bodyPr>
          <a:lstStyle/>
          <a:p>
            <a:pPr marL="0" indent="0" algn="l">
              <a:lnSpc>
                <a:spcPct val="144000"/>
              </a:lnSpc>
              <a:buNone/>
            </a:pPr>
            <a:r>
              <a:rPr lang="en-US" sz="750" dirty="0">
                <a:solidFill>
                  <a:srgbClr val="FF4500"/>
                </a:solidFill>
                <a:latin typeface="Roboto Mono" pitchFamily="34" charset="0"/>
                <a:ea typeface="Roboto Mono" pitchFamily="34" charset="-122"/>
                <a:cs typeface="Roboto Mono" pitchFamily="34" charset="-120"/>
              </a:rPr>
              <a:t>■</a:t>
            </a:r>
            <a:endParaRPr lang="en-US" sz="750" dirty="0"/>
          </a:p>
        </p:txBody>
      </p:sp>
      <p:sp>
        <p:nvSpPr>
          <p:cNvPr id="11" name="Text 8"/>
          <p:cNvSpPr/>
          <p:nvPr/>
        </p:nvSpPr>
        <p:spPr>
          <a:xfrm>
            <a:off x="571500" y="2993120"/>
            <a:ext cx="59996" cy="179989"/>
          </a:xfrm>
          <a:prstGeom prst="rect">
            <a:avLst/>
          </a:prstGeom>
          <a:noFill/>
          <a:ln/>
        </p:spPr>
        <p:txBody>
          <a:bodyPr wrap="none" lIns="0" tIns="0" rIns="0" bIns="0" rtlCol="0" anchor="t">
            <a:spAutoFit/>
          </a:bodyPr>
          <a:lstStyle/>
          <a:p>
            <a:pPr marL="0" indent="0" algn="l">
              <a:lnSpc>
                <a:spcPct val="144000"/>
              </a:lnSpc>
              <a:buNone/>
            </a:pPr>
            <a:r>
              <a:rPr lang="en-US" sz="750" dirty="0">
                <a:solidFill>
                  <a:srgbClr val="FF4500"/>
                </a:solidFill>
                <a:latin typeface="Roboto Mono" pitchFamily="34" charset="0"/>
                <a:ea typeface="Roboto Mono" pitchFamily="34" charset="-122"/>
                <a:cs typeface="Roboto Mono" pitchFamily="34" charset="-120"/>
              </a:rPr>
              <a:t>■</a:t>
            </a:r>
            <a:endParaRPr lang="en-US" sz="750" dirty="0"/>
          </a:p>
        </p:txBody>
      </p:sp>
      <p:sp>
        <p:nvSpPr>
          <p:cNvPr id="12" name="Text 9"/>
          <p:cNvSpPr/>
          <p:nvPr/>
        </p:nvSpPr>
        <p:spPr>
          <a:xfrm>
            <a:off x="571500" y="3598887"/>
            <a:ext cx="59996" cy="179989"/>
          </a:xfrm>
          <a:prstGeom prst="rect">
            <a:avLst/>
          </a:prstGeom>
          <a:noFill/>
          <a:ln/>
        </p:spPr>
        <p:txBody>
          <a:bodyPr wrap="none" lIns="0" tIns="0" rIns="0" bIns="0" rtlCol="0" anchor="t">
            <a:spAutoFit/>
          </a:bodyPr>
          <a:lstStyle/>
          <a:p>
            <a:pPr marL="0" indent="0" algn="l">
              <a:lnSpc>
                <a:spcPct val="144000"/>
              </a:lnSpc>
              <a:buNone/>
            </a:pPr>
            <a:r>
              <a:rPr lang="en-US" sz="750" dirty="0">
                <a:solidFill>
                  <a:srgbClr val="FF4500"/>
                </a:solidFill>
                <a:latin typeface="Roboto Mono" pitchFamily="34" charset="0"/>
                <a:ea typeface="Roboto Mono" pitchFamily="34" charset="-122"/>
                <a:cs typeface="Roboto Mono" pitchFamily="34" charset="-120"/>
              </a:rPr>
              <a:t>■</a:t>
            </a:r>
            <a:endParaRPr lang="en-US" sz="750" dirty="0"/>
          </a:p>
        </p:txBody>
      </p:sp>
      <p:sp>
        <p:nvSpPr>
          <p:cNvPr id="13" name="Shape 10"/>
          <p:cNvSpPr/>
          <p:nvPr/>
        </p:nvSpPr>
        <p:spPr>
          <a:xfrm>
            <a:off x="6000750" y="1212986"/>
            <a:ext cx="2571750" cy="692944"/>
          </a:xfrm>
          <a:prstGeom prst="rect">
            <a:avLst/>
          </a:prstGeom>
          <a:solidFill>
            <a:srgbClr val="E0E7F1"/>
          </a:solidFill>
          <a:ln w="18288">
            <a:solidFill>
              <a:srgbClr val="0A1128"/>
            </a:solidFill>
            <a:prstDash val="solid"/>
          </a:ln>
        </p:spPr>
        <p:txBody>
          <a:bodyPr/>
          <a:lstStyle/>
          <a:p>
            <a:endParaRPr lang="en-US"/>
          </a:p>
        </p:txBody>
      </p:sp>
      <p:sp>
        <p:nvSpPr>
          <p:cNvPr id="14" name="Text 11"/>
          <p:cNvSpPr/>
          <p:nvPr/>
        </p:nvSpPr>
        <p:spPr>
          <a:xfrm>
            <a:off x="6000750" y="1212986"/>
            <a:ext cx="2571750" cy="692944"/>
          </a:xfrm>
          <a:prstGeom prst="rect">
            <a:avLst/>
          </a:prstGeom>
          <a:noFill/>
          <a:ln/>
        </p:spPr>
        <p:txBody>
          <a:bodyPr wrap="square" lIns="170053" tIns="170053" rIns="170053" bIns="170053" rtlCol="0" anchor="t">
            <a:spAutoFit/>
          </a:bodyPr>
          <a:lstStyle/>
          <a:p>
            <a:pPr marL="0" indent="0" algn="ctr">
              <a:buNone/>
            </a:pPr>
            <a:r>
              <a:rPr lang="en-US" sz="1000" b="1" dirty="0">
                <a:solidFill>
                  <a:srgbClr val="0A1128"/>
                </a:solidFill>
                <a:latin typeface="Roboto Mono Bold" pitchFamily="34" charset="0"/>
                <a:ea typeface="Roboto Mono Bold" pitchFamily="34" charset="-122"/>
                <a:cs typeface="Roboto Mono Bold" pitchFamily="34" charset="-120"/>
              </a:rPr>
              <a:t>Accord Symbolique
</a:t>
            </a:r>
            <a:r>
              <a:rPr lang="en-US" sz="750" dirty="0">
                <a:solidFill>
                  <a:srgbClr val="0A1128"/>
                </a:solidFill>
                <a:latin typeface="Roboto Mono" pitchFamily="34" charset="0"/>
                <a:ea typeface="Roboto Mono" pitchFamily="34" charset="-122"/>
                <a:cs typeface="Roboto Mono" pitchFamily="34" charset="-120"/>
              </a:rPr>
              <a:t>(ex: Do Majeur)</a:t>
            </a:r>
            <a:endParaRPr lang="en-US" sz="1000" dirty="0"/>
          </a:p>
        </p:txBody>
      </p:sp>
      <p:sp>
        <p:nvSpPr>
          <p:cNvPr id="15" name="Text 12"/>
          <p:cNvSpPr/>
          <p:nvPr/>
        </p:nvSpPr>
        <p:spPr>
          <a:xfrm>
            <a:off x="7222331" y="1984511"/>
            <a:ext cx="128588" cy="291108"/>
          </a:xfrm>
          <a:prstGeom prst="rect">
            <a:avLst/>
          </a:prstGeom>
          <a:noFill/>
          <a:ln/>
        </p:spPr>
        <p:txBody>
          <a:bodyPr wrap="none" lIns="0" tIns="0" rIns="0" bIns="0" rtlCol="0" anchor="t">
            <a:spAutoFit/>
          </a:bodyPr>
          <a:lstStyle/>
          <a:p>
            <a:pPr marL="0" indent="0" algn="ctr">
              <a:buNone/>
            </a:pPr>
            <a:r>
              <a:rPr lang="en-US" sz="1600" dirty="0">
                <a:solidFill>
                  <a:srgbClr val="0A1128"/>
                </a:solidFill>
                <a:latin typeface="Roboto Mono" pitchFamily="34" charset="0"/>
                <a:ea typeface="Roboto Mono" pitchFamily="34" charset="-122"/>
                <a:cs typeface="Roboto Mono" pitchFamily="34" charset="-120"/>
              </a:rPr>
              <a:t>↓</a:t>
            </a:r>
            <a:endParaRPr lang="en-US" sz="1600" dirty="0"/>
          </a:p>
        </p:txBody>
      </p:sp>
      <p:sp>
        <p:nvSpPr>
          <p:cNvPr id="16" name="Shape 13"/>
          <p:cNvSpPr/>
          <p:nvPr/>
        </p:nvSpPr>
        <p:spPr>
          <a:xfrm>
            <a:off x="6000750" y="2382775"/>
            <a:ext cx="2571750" cy="692944"/>
          </a:xfrm>
          <a:prstGeom prst="rect">
            <a:avLst/>
          </a:prstGeom>
          <a:solidFill>
            <a:srgbClr val="E0E7F1"/>
          </a:solidFill>
          <a:ln w="18288">
            <a:solidFill>
              <a:srgbClr val="0A1128"/>
            </a:solidFill>
            <a:prstDash val="solid"/>
          </a:ln>
        </p:spPr>
        <p:txBody>
          <a:bodyPr/>
          <a:lstStyle/>
          <a:p>
            <a:endParaRPr lang="en-US"/>
          </a:p>
        </p:txBody>
      </p:sp>
      <p:sp>
        <p:nvSpPr>
          <p:cNvPr id="17" name="Text 14"/>
          <p:cNvSpPr/>
          <p:nvPr/>
        </p:nvSpPr>
        <p:spPr>
          <a:xfrm>
            <a:off x="6000750" y="2382775"/>
            <a:ext cx="2571750" cy="692944"/>
          </a:xfrm>
          <a:prstGeom prst="rect">
            <a:avLst/>
          </a:prstGeom>
          <a:noFill/>
          <a:ln/>
        </p:spPr>
        <p:txBody>
          <a:bodyPr wrap="square" lIns="170053" tIns="170053" rIns="170053" bIns="170053" rtlCol="0" anchor="t">
            <a:spAutoFit/>
          </a:bodyPr>
          <a:lstStyle/>
          <a:p>
            <a:pPr marL="0" indent="0" algn="ctr">
              <a:buNone/>
            </a:pPr>
            <a:r>
              <a:rPr lang="en-US" sz="1000" b="1" dirty="0">
                <a:solidFill>
                  <a:srgbClr val="0A1128"/>
                </a:solidFill>
                <a:latin typeface="Roboto Mono Bold" pitchFamily="34" charset="0"/>
                <a:ea typeface="Roboto Mono Bold" pitchFamily="34" charset="-122"/>
                <a:cs typeface="Roboto Mono Bold" pitchFamily="34" charset="-120"/>
              </a:rPr>
              <a:t>Fichier MIDI
</a:t>
            </a:r>
            <a:r>
              <a:rPr lang="en-US" sz="750" dirty="0">
                <a:solidFill>
                  <a:srgbClr val="0A1128"/>
                </a:solidFill>
                <a:latin typeface="Roboto Mono" pitchFamily="34" charset="0"/>
                <a:ea typeface="Roboto Mono" pitchFamily="34" charset="-122"/>
                <a:cs typeface="Roboto Mono" pitchFamily="34" charset="-120"/>
              </a:rPr>
              <a:t>(.mid)</a:t>
            </a:r>
            <a:endParaRPr lang="en-US" sz="1000" dirty="0"/>
          </a:p>
        </p:txBody>
      </p:sp>
      <p:sp>
        <p:nvSpPr>
          <p:cNvPr id="18" name="Text 15"/>
          <p:cNvSpPr/>
          <p:nvPr/>
        </p:nvSpPr>
        <p:spPr>
          <a:xfrm>
            <a:off x="7222331" y="3154300"/>
            <a:ext cx="128588" cy="291108"/>
          </a:xfrm>
          <a:prstGeom prst="rect">
            <a:avLst/>
          </a:prstGeom>
          <a:noFill/>
          <a:ln/>
        </p:spPr>
        <p:txBody>
          <a:bodyPr wrap="none" lIns="0" tIns="0" rIns="0" bIns="0" rtlCol="0" anchor="t">
            <a:spAutoFit/>
          </a:bodyPr>
          <a:lstStyle/>
          <a:p>
            <a:pPr marL="0" indent="0" algn="ctr">
              <a:buNone/>
            </a:pPr>
            <a:r>
              <a:rPr lang="en-US" sz="1600" dirty="0">
                <a:solidFill>
                  <a:srgbClr val="0A1128"/>
                </a:solidFill>
                <a:latin typeface="Roboto Mono" pitchFamily="34" charset="0"/>
                <a:ea typeface="Roboto Mono" pitchFamily="34" charset="-122"/>
                <a:cs typeface="Roboto Mono" pitchFamily="34" charset="-120"/>
              </a:rPr>
              <a:t>↓</a:t>
            </a:r>
            <a:endParaRPr lang="en-US" sz="1600" dirty="0"/>
          </a:p>
        </p:txBody>
      </p:sp>
      <p:sp>
        <p:nvSpPr>
          <p:cNvPr id="19" name="Text 16"/>
          <p:cNvSpPr/>
          <p:nvPr/>
        </p:nvSpPr>
        <p:spPr>
          <a:xfrm>
            <a:off x="6472238" y="3552565"/>
            <a:ext cx="1628775" cy="132159"/>
          </a:xfrm>
          <a:prstGeom prst="rect">
            <a:avLst/>
          </a:prstGeom>
          <a:noFill/>
          <a:ln/>
        </p:spPr>
        <p:txBody>
          <a:bodyPr wrap="square" lIns="0" tIns="0" rIns="0" bIns="0" rtlCol="0" anchor="t">
            <a:spAutoFit/>
          </a:bodyPr>
          <a:lstStyle/>
          <a:p>
            <a:pPr marL="0" indent="0" algn="ctr">
              <a:buNone/>
            </a:pPr>
            <a:r>
              <a:rPr lang="en-US" sz="700" b="1" kern="0" spc="1" dirty="0">
                <a:solidFill>
                  <a:srgbClr val="FF4500"/>
                </a:solidFill>
                <a:latin typeface="Roboto Mono Bold" pitchFamily="34" charset="0"/>
                <a:ea typeface="Roboto Mono Bold" pitchFamily="34" charset="-122"/>
                <a:cs typeface="Roboto Mono Bold" pitchFamily="34" charset="-120"/>
              </a:rPr>
              <a:t>+ FLUIDSYNTH &amp; SOUNDFONT</a:t>
            </a:r>
            <a:endParaRPr lang="en-US" sz="700" dirty="0"/>
          </a:p>
        </p:txBody>
      </p:sp>
      <p:sp>
        <p:nvSpPr>
          <p:cNvPr id="20" name="Shape 17"/>
          <p:cNvSpPr/>
          <p:nvPr/>
        </p:nvSpPr>
        <p:spPr>
          <a:xfrm>
            <a:off x="6000750" y="3756161"/>
            <a:ext cx="2571750" cy="692944"/>
          </a:xfrm>
          <a:prstGeom prst="rect">
            <a:avLst/>
          </a:prstGeom>
          <a:solidFill>
            <a:srgbClr val="0A1128"/>
          </a:solidFill>
          <a:ln w="18288">
            <a:solidFill>
              <a:srgbClr val="0A1128"/>
            </a:solidFill>
            <a:prstDash val="solid"/>
          </a:ln>
        </p:spPr>
        <p:txBody>
          <a:bodyPr/>
          <a:lstStyle/>
          <a:p>
            <a:endParaRPr lang="en-US"/>
          </a:p>
        </p:txBody>
      </p:sp>
      <p:sp>
        <p:nvSpPr>
          <p:cNvPr id="21" name="Text 18"/>
          <p:cNvSpPr/>
          <p:nvPr/>
        </p:nvSpPr>
        <p:spPr>
          <a:xfrm>
            <a:off x="6000750" y="3756161"/>
            <a:ext cx="2571750" cy="692944"/>
          </a:xfrm>
          <a:prstGeom prst="rect">
            <a:avLst/>
          </a:prstGeom>
          <a:noFill/>
          <a:ln/>
        </p:spPr>
        <p:txBody>
          <a:bodyPr wrap="square" lIns="170053" tIns="170053" rIns="170053" bIns="170053" rtlCol="0" anchor="t">
            <a:spAutoFit/>
          </a:bodyPr>
          <a:lstStyle/>
          <a:p>
            <a:pPr marL="0" indent="0" algn="ctr">
              <a:buNone/>
            </a:pPr>
            <a:r>
              <a:rPr lang="en-US" sz="1000" b="1" dirty="0">
                <a:solidFill>
                  <a:srgbClr val="FFFFFF"/>
                </a:solidFill>
                <a:latin typeface="Roboto Mono Bold" pitchFamily="34" charset="0"/>
                <a:ea typeface="Roboto Mono Bold" pitchFamily="34" charset="-122"/>
                <a:cs typeface="Roboto Mono Bold" pitchFamily="34" charset="-120"/>
              </a:rPr>
              <a:t>Fichier Audio Brut
</a:t>
            </a:r>
            <a:r>
              <a:rPr lang="en-US" sz="750" dirty="0">
                <a:solidFill>
                  <a:srgbClr val="E0E7F1"/>
                </a:solidFill>
                <a:latin typeface="Roboto Mono" pitchFamily="34" charset="0"/>
                <a:ea typeface="Roboto Mono" pitchFamily="34" charset="-122"/>
                <a:cs typeface="Roboto Mono" pitchFamily="34" charset="-120"/>
              </a:rPr>
              <a:t>(.wav)</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ext 0"/>
          <p:cNvSpPr/>
          <p:nvPr/>
        </p:nvSpPr>
        <p:spPr>
          <a:xfrm>
            <a:off x="571500" y="357188"/>
            <a:ext cx="8001000" cy="377168"/>
          </a:xfrm>
          <a:prstGeom prst="rect">
            <a:avLst/>
          </a:prstGeom>
          <a:noFill/>
          <a:ln/>
        </p:spPr>
        <p:txBody>
          <a:bodyPr wrap="none" lIns="0" tIns="0" rIns="0" bIns="0" rtlCol="0" anchor="t">
            <a:spAutoFit/>
          </a:bodyPr>
          <a:lstStyle/>
          <a:p>
            <a:pPr marL="0" indent="0" algn="l">
              <a:lnSpc>
                <a:spcPct val="96000"/>
              </a:lnSpc>
              <a:buNone/>
            </a:pPr>
            <a:r>
              <a:rPr lang="en-US" sz="2250" b="1" dirty="0">
                <a:solidFill>
                  <a:srgbClr val="0A1128"/>
                </a:solidFill>
                <a:latin typeface="Playfair Display Black" pitchFamily="34" charset="0"/>
                <a:ea typeface="Playfair Display Black" pitchFamily="34" charset="-122"/>
                <a:cs typeface="Playfair Display Black" pitchFamily="34" charset="-120"/>
              </a:rPr>
              <a:t>Augmentation et réalisme</a:t>
            </a:r>
            <a:endParaRPr lang="en-US" sz="2250" dirty="0"/>
          </a:p>
        </p:txBody>
      </p:sp>
      <p:sp>
        <p:nvSpPr>
          <p:cNvPr id="4" name="Text 1"/>
          <p:cNvSpPr/>
          <p:nvPr/>
        </p:nvSpPr>
        <p:spPr>
          <a:xfrm>
            <a:off x="571500" y="1141549"/>
            <a:ext cx="4200525" cy="617153"/>
          </a:xfrm>
          <a:prstGeom prst="rect">
            <a:avLst/>
          </a:prstGeom>
          <a:noFill/>
          <a:ln/>
        </p:spPr>
        <p:txBody>
          <a:bodyPr wrap="square" lIns="0" tIns="0" rIns="0" bIns="0" rtlCol="0" anchor="t">
            <a:spAutoFit/>
          </a:bodyPr>
          <a:lstStyle/>
          <a:p>
            <a:pPr marL="0" indent="0" algn="l">
              <a:lnSpc>
                <a:spcPct val="128000"/>
              </a:lnSpc>
              <a:buNone/>
            </a:pPr>
            <a:r>
              <a:rPr lang="en-US" sz="950" dirty="0">
                <a:solidFill>
                  <a:srgbClr val="0A1128"/>
                </a:solidFill>
                <a:latin typeface="Roboto Mono" pitchFamily="34" charset="0"/>
                <a:ea typeface="Roboto Mono" pitchFamily="34" charset="-122"/>
                <a:cs typeface="Roboto Mono" pitchFamily="34" charset="-120"/>
              </a:rPr>
              <a:t>Les accords propres générés par défaut sont trop éloignés des conditions réelles d'enregistrement. Plusieurs techniques d'augmentation sont appliquées :</a:t>
            </a:r>
            <a:endParaRPr lang="en-US" sz="950" dirty="0"/>
          </a:p>
        </p:txBody>
      </p:sp>
      <p:sp>
        <p:nvSpPr>
          <p:cNvPr id="5" name="Text 2"/>
          <p:cNvSpPr/>
          <p:nvPr/>
        </p:nvSpPr>
        <p:spPr>
          <a:xfrm>
            <a:off x="571500" y="1973014"/>
            <a:ext cx="4200525" cy="411435"/>
          </a:xfrm>
          <a:prstGeom prst="rect">
            <a:avLst/>
          </a:prstGeom>
          <a:noFill/>
          <a:ln/>
        </p:spPr>
        <p:txBody>
          <a:bodyPr wrap="square" lIns="212598" tIns="0" rIns="0" bIns="0" rtlCol="0" anchor="t">
            <a:spAutoFit/>
          </a:bodyPr>
          <a:lstStyle/>
          <a:p>
            <a:pPr marL="0" indent="0" algn="l">
              <a:lnSpc>
                <a:spcPct val="128000"/>
              </a:lnSpc>
              <a:buNone/>
            </a:pPr>
            <a:r>
              <a:rPr lang="en-US" sz="900" b="1" dirty="0">
                <a:solidFill>
                  <a:srgbClr val="0A1128"/>
                </a:solidFill>
                <a:latin typeface="Roboto Mono Bold" pitchFamily="34" charset="0"/>
                <a:ea typeface="Roboto Mono Bold" pitchFamily="34" charset="-122"/>
                <a:cs typeface="Roboto Mono Bold" pitchFamily="34" charset="-120"/>
              </a:rPr>
              <a:t>Bruit de fond :</a:t>
            </a:r>
            <a:r>
              <a:rPr lang="en-US" sz="950" dirty="0">
                <a:solidFill>
                  <a:srgbClr val="0A1128"/>
                </a:solidFill>
                <a:latin typeface="Roboto Mono" pitchFamily="34" charset="0"/>
                <a:ea typeface="Roboto Mono" pitchFamily="34" charset="-122"/>
                <a:cs typeface="Roboto Mono" pitchFamily="34" charset="-120"/>
              </a:rPr>
              <a:t> Ajout de bruit blanc, rose et d'environnements sonores.</a:t>
            </a:r>
            <a:endParaRPr lang="en-US" sz="900" dirty="0"/>
          </a:p>
        </p:txBody>
      </p:sp>
      <p:sp>
        <p:nvSpPr>
          <p:cNvPr id="6" name="Text 3"/>
          <p:cNvSpPr/>
          <p:nvPr/>
        </p:nvSpPr>
        <p:spPr>
          <a:xfrm>
            <a:off x="571500" y="2527325"/>
            <a:ext cx="4200525" cy="411435"/>
          </a:xfrm>
          <a:prstGeom prst="rect">
            <a:avLst/>
          </a:prstGeom>
          <a:noFill/>
          <a:ln/>
        </p:spPr>
        <p:txBody>
          <a:bodyPr wrap="square" lIns="212598" tIns="0" rIns="0" bIns="0" rtlCol="0" anchor="t">
            <a:spAutoFit/>
          </a:bodyPr>
          <a:lstStyle/>
          <a:p>
            <a:pPr marL="0" indent="0" algn="l">
              <a:lnSpc>
                <a:spcPct val="128000"/>
              </a:lnSpc>
              <a:buNone/>
            </a:pPr>
            <a:r>
              <a:rPr lang="en-US" sz="900" b="1" dirty="0">
                <a:solidFill>
                  <a:srgbClr val="0A1128"/>
                </a:solidFill>
                <a:latin typeface="Roboto Mono Bold" pitchFamily="34" charset="0"/>
                <a:ea typeface="Roboto Mono Bold" pitchFamily="34" charset="-122"/>
                <a:cs typeface="Roboto Mono Bold" pitchFamily="34" charset="-120"/>
              </a:rPr>
              <a:t>Effets acoustiques :</a:t>
            </a:r>
            <a:r>
              <a:rPr lang="en-US" sz="950" dirty="0">
                <a:solidFill>
                  <a:srgbClr val="0A1128"/>
                </a:solidFill>
                <a:latin typeface="Roboto Mono" pitchFamily="34" charset="0"/>
                <a:ea typeface="Roboto Mono" pitchFamily="34" charset="-122"/>
                <a:cs typeface="Roboto Mono" pitchFamily="34" charset="-120"/>
              </a:rPr>
              <a:t> Application de réverbération et de chorus.</a:t>
            </a:r>
            <a:endParaRPr lang="en-US" sz="900" dirty="0"/>
          </a:p>
        </p:txBody>
      </p:sp>
      <p:sp>
        <p:nvSpPr>
          <p:cNvPr id="7" name="Text 4"/>
          <p:cNvSpPr/>
          <p:nvPr/>
        </p:nvSpPr>
        <p:spPr>
          <a:xfrm>
            <a:off x="571500" y="3081635"/>
            <a:ext cx="4200525" cy="411435"/>
          </a:xfrm>
          <a:prstGeom prst="rect">
            <a:avLst/>
          </a:prstGeom>
          <a:noFill/>
          <a:ln/>
        </p:spPr>
        <p:txBody>
          <a:bodyPr wrap="square" lIns="212598" tIns="0" rIns="0" bIns="0" rtlCol="0" anchor="t">
            <a:spAutoFit/>
          </a:bodyPr>
          <a:lstStyle/>
          <a:p>
            <a:pPr marL="0" indent="0" algn="l">
              <a:lnSpc>
                <a:spcPct val="128000"/>
              </a:lnSpc>
              <a:buNone/>
            </a:pPr>
            <a:r>
              <a:rPr lang="en-US" sz="900" b="1" dirty="0">
                <a:solidFill>
                  <a:srgbClr val="0A1128"/>
                </a:solidFill>
                <a:latin typeface="Roboto Mono Bold" pitchFamily="34" charset="0"/>
                <a:ea typeface="Roboto Mono Bold" pitchFamily="34" charset="-122"/>
                <a:cs typeface="Roboto Mono Bold" pitchFamily="34" charset="-120"/>
              </a:rPr>
              <a:t>Variété instrumentale :</a:t>
            </a:r>
            <a:r>
              <a:rPr lang="en-US" sz="950" dirty="0">
                <a:solidFill>
                  <a:srgbClr val="0A1128"/>
                </a:solidFill>
                <a:latin typeface="Roboto Mono" pitchFamily="34" charset="0"/>
                <a:ea typeface="Roboto Mono" pitchFamily="34" charset="-122"/>
                <a:cs typeface="Roboto Mono" pitchFamily="34" charset="-120"/>
              </a:rPr>
              <a:t> Utilisation de multiples instruments et octaves.</a:t>
            </a:r>
            <a:endParaRPr lang="en-US" sz="900" dirty="0"/>
          </a:p>
        </p:txBody>
      </p:sp>
      <p:sp>
        <p:nvSpPr>
          <p:cNvPr id="8" name="Text 5"/>
          <p:cNvSpPr/>
          <p:nvPr/>
        </p:nvSpPr>
        <p:spPr>
          <a:xfrm>
            <a:off x="571500" y="3635946"/>
            <a:ext cx="4200525" cy="411435"/>
          </a:xfrm>
          <a:prstGeom prst="rect">
            <a:avLst/>
          </a:prstGeom>
          <a:noFill/>
          <a:ln/>
        </p:spPr>
        <p:txBody>
          <a:bodyPr wrap="square" lIns="212598" tIns="0" rIns="0" bIns="0" rtlCol="0" anchor="t">
            <a:spAutoFit/>
          </a:bodyPr>
          <a:lstStyle/>
          <a:p>
            <a:pPr marL="0" indent="0" algn="l">
              <a:lnSpc>
                <a:spcPct val="128000"/>
              </a:lnSpc>
              <a:buNone/>
            </a:pPr>
            <a:r>
              <a:rPr lang="en-US" sz="900" b="1" dirty="0">
                <a:solidFill>
                  <a:srgbClr val="0A1128"/>
                </a:solidFill>
                <a:latin typeface="Roboto Mono Bold" pitchFamily="34" charset="0"/>
                <a:ea typeface="Roboto Mono Bold" pitchFamily="34" charset="-122"/>
                <a:cs typeface="Roboto Mono Bold" pitchFamily="34" charset="-120"/>
              </a:rPr>
              <a:t>Humanisation :</a:t>
            </a:r>
            <a:r>
              <a:rPr lang="en-US" sz="950" dirty="0">
                <a:solidFill>
                  <a:srgbClr val="0A1128"/>
                </a:solidFill>
                <a:latin typeface="Roboto Mono" pitchFamily="34" charset="0"/>
                <a:ea typeface="Roboto Mono" pitchFamily="34" charset="-122"/>
                <a:cs typeface="Roboto Mono" pitchFamily="34" charset="-120"/>
              </a:rPr>
              <a:t> Légers décalages temporels et variations de vélocité.</a:t>
            </a:r>
            <a:endParaRPr lang="en-US" sz="900" dirty="0"/>
          </a:p>
        </p:txBody>
      </p:sp>
      <p:sp>
        <p:nvSpPr>
          <p:cNvPr id="9" name="Text 6"/>
          <p:cNvSpPr/>
          <p:nvPr/>
        </p:nvSpPr>
        <p:spPr>
          <a:xfrm>
            <a:off x="571500" y="4190256"/>
            <a:ext cx="4200525" cy="617153"/>
          </a:xfrm>
          <a:prstGeom prst="rect">
            <a:avLst/>
          </a:prstGeom>
          <a:noFill/>
          <a:ln/>
        </p:spPr>
        <p:txBody>
          <a:bodyPr wrap="square" lIns="212598" tIns="0" rIns="0" bIns="0" rtlCol="0" anchor="t">
            <a:spAutoFit/>
          </a:bodyPr>
          <a:lstStyle/>
          <a:p>
            <a:pPr marL="0" indent="0" algn="l">
              <a:lnSpc>
                <a:spcPct val="128000"/>
              </a:lnSpc>
              <a:buNone/>
            </a:pPr>
            <a:r>
              <a:rPr lang="en-US" sz="900" b="1" dirty="0">
                <a:solidFill>
                  <a:srgbClr val="0A1128"/>
                </a:solidFill>
                <a:latin typeface="Roboto Mono Bold" pitchFamily="34" charset="0"/>
                <a:ea typeface="Roboto Mono Bold" pitchFamily="34" charset="-122"/>
                <a:cs typeface="Roboto Mono Bold" pitchFamily="34" charset="-120"/>
              </a:rPr>
              <a:t>Transposition :</a:t>
            </a:r>
            <a:r>
              <a:rPr lang="en-US" sz="950" dirty="0">
                <a:solidFill>
                  <a:srgbClr val="0A1128"/>
                </a:solidFill>
                <a:latin typeface="Roboto Mono" pitchFamily="34" charset="0"/>
                <a:ea typeface="Roboto Mono" pitchFamily="34" charset="-122"/>
                <a:cs typeface="Roboto Mono" pitchFamily="34" charset="-120"/>
              </a:rPr>
              <a:t> Décalage de hauteur avec recalcul dynamique et automatique de l'étiquette (fondamentale).</a:t>
            </a:r>
            <a:endParaRPr lang="en-US" sz="900" dirty="0"/>
          </a:p>
        </p:txBody>
      </p:sp>
      <p:sp>
        <p:nvSpPr>
          <p:cNvPr id="10" name="Shape 7"/>
          <p:cNvSpPr/>
          <p:nvPr/>
        </p:nvSpPr>
        <p:spPr>
          <a:xfrm>
            <a:off x="5200650" y="1141549"/>
            <a:ext cx="3371850" cy="3829050"/>
          </a:xfrm>
          <a:prstGeom prst="rect">
            <a:avLst/>
          </a:prstGeom>
          <a:solidFill>
            <a:srgbClr val="E0E7F1"/>
          </a:solidFill>
          <a:ln/>
        </p:spPr>
        <p:txBody>
          <a:bodyPr/>
          <a:lstStyle/>
          <a:p>
            <a:endParaRPr lang="en-US"/>
          </a:p>
        </p:txBody>
      </p:sp>
      <p:sp>
        <p:nvSpPr>
          <p:cNvPr id="11" name="Shape 8"/>
          <p:cNvSpPr/>
          <p:nvPr/>
        </p:nvSpPr>
        <p:spPr>
          <a:xfrm>
            <a:off x="5200650" y="1141549"/>
            <a:ext cx="3371850" cy="28575"/>
          </a:xfrm>
          <a:prstGeom prst="rect">
            <a:avLst/>
          </a:prstGeom>
          <a:solidFill>
            <a:srgbClr val="0A1128"/>
          </a:solidFill>
          <a:ln/>
        </p:spPr>
        <p:txBody>
          <a:bodyPr/>
          <a:lstStyle/>
          <a:p>
            <a:endParaRPr lang="en-US"/>
          </a:p>
        </p:txBody>
      </p:sp>
      <p:sp>
        <p:nvSpPr>
          <p:cNvPr id="12" name="Text 9"/>
          <p:cNvSpPr/>
          <p:nvPr/>
        </p:nvSpPr>
        <p:spPr>
          <a:xfrm>
            <a:off x="571500" y="1987302"/>
            <a:ext cx="59996" cy="159981"/>
          </a:xfrm>
          <a:prstGeom prst="rect">
            <a:avLst/>
          </a:prstGeom>
          <a:noFill/>
          <a:ln/>
        </p:spPr>
        <p:txBody>
          <a:bodyPr wrap="none" lIns="0" tIns="0" rIns="0" bIns="0" rtlCol="0" anchor="t">
            <a:spAutoFit/>
          </a:bodyPr>
          <a:lstStyle/>
          <a:p>
            <a:pPr marL="0" indent="0" algn="l">
              <a:lnSpc>
                <a:spcPct val="128000"/>
              </a:lnSpc>
              <a:buNone/>
            </a:pPr>
            <a:r>
              <a:rPr lang="en-US" sz="750" dirty="0">
                <a:solidFill>
                  <a:srgbClr val="FF4500"/>
                </a:solidFill>
                <a:latin typeface="Roboto Mono" pitchFamily="34" charset="0"/>
                <a:ea typeface="Roboto Mono" pitchFamily="34" charset="-122"/>
                <a:cs typeface="Roboto Mono" pitchFamily="34" charset="-120"/>
              </a:rPr>
              <a:t>■</a:t>
            </a:r>
            <a:endParaRPr lang="en-US" sz="750" dirty="0"/>
          </a:p>
        </p:txBody>
      </p:sp>
      <p:sp>
        <p:nvSpPr>
          <p:cNvPr id="13" name="Text 10"/>
          <p:cNvSpPr/>
          <p:nvPr/>
        </p:nvSpPr>
        <p:spPr>
          <a:xfrm>
            <a:off x="571500" y="2541612"/>
            <a:ext cx="59996" cy="159981"/>
          </a:xfrm>
          <a:prstGeom prst="rect">
            <a:avLst/>
          </a:prstGeom>
          <a:noFill/>
          <a:ln/>
        </p:spPr>
        <p:txBody>
          <a:bodyPr wrap="none" lIns="0" tIns="0" rIns="0" bIns="0" rtlCol="0" anchor="t">
            <a:spAutoFit/>
          </a:bodyPr>
          <a:lstStyle/>
          <a:p>
            <a:pPr marL="0" indent="0" algn="l">
              <a:lnSpc>
                <a:spcPct val="128000"/>
              </a:lnSpc>
              <a:buNone/>
            </a:pPr>
            <a:r>
              <a:rPr lang="en-US" sz="750" dirty="0">
                <a:solidFill>
                  <a:srgbClr val="FF4500"/>
                </a:solidFill>
                <a:latin typeface="Roboto Mono" pitchFamily="34" charset="0"/>
                <a:ea typeface="Roboto Mono" pitchFamily="34" charset="-122"/>
                <a:cs typeface="Roboto Mono" pitchFamily="34" charset="-120"/>
              </a:rPr>
              <a:t>■</a:t>
            </a:r>
            <a:endParaRPr lang="en-US" sz="750" dirty="0"/>
          </a:p>
        </p:txBody>
      </p:sp>
      <p:sp>
        <p:nvSpPr>
          <p:cNvPr id="14" name="Text 11"/>
          <p:cNvSpPr/>
          <p:nvPr/>
        </p:nvSpPr>
        <p:spPr>
          <a:xfrm>
            <a:off x="571500" y="3095923"/>
            <a:ext cx="59996" cy="159981"/>
          </a:xfrm>
          <a:prstGeom prst="rect">
            <a:avLst/>
          </a:prstGeom>
          <a:noFill/>
          <a:ln/>
        </p:spPr>
        <p:txBody>
          <a:bodyPr wrap="none" lIns="0" tIns="0" rIns="0" bIns="0" rtlCol="0" anchor="t">
            <a:spAutoFit/>
          </a:bodyPr>
          <a:lstStyle/>
          <a:p>
            <a:pPr marL="0" indent="0" algn="l">
              <a:lnSpc>
                <a:spcPct val="128000"/>
              </a:lnSpc>
              <a:buNone/>
            </a:pPr>
            <a:r>
              <a:rPr lang="en-US" sz="750" dirty="0">
                <a:solidFill>
                  <a:srgbClr val="FF4500"/>
                </a:solidFill>
                <a:latin typeface="Roboto Mono" pitchFamily="34" charset="0"/>
                <a:ea typeface="Roboto Mono" pitchFamily="34" charset="-122"/>
                <a:cs typeface="Roboto Mono" pitchFamily="34" charset="-120"/>
              </a:rPr>
              <a:t>■</a:t>
            </a:r>
            <a:endParaRPr lang="en-US" sz="750" dirty="0"/>
          </a:p>
        </p:txBody>
      </p:sp>
      <p:sp>
        <p:nvSpPr>
          <p:cNvPr id="15" name="Text 12"/>
          <p:cNvSpPr/>
          <p:nvPr/>
        </p:nvSpPr>
        <p:spPr>
          <a:xfrm>
            <a:off x="571500" y="3650233"/>
            <a:ext cx="59996" cy="159981"/>
          </a:xfrm>
          <a:prstGeom prst="rect">
            <a:avLst/>
          </a:prstGeom>
          <a:noFill/>
          <a:ln/>
        </p:spPr>
        <p:txBody>
          <a:bodyPr wrap="none" lIns="0" tIns="0" rIns="0" bIns="0" rtlCol="0" anchor="t">
            <a:spAutoFit/>
          </a:bodyPr>
          <a:lstStyle/>
          <a:p>
            <a:pPr marL="0" indent="0" algn="l">
              <a:lnSpc>
                <a:spcPct val="128000"/>
              </a:lnSpc>
              <a:buNone/>
            </a:pPr>
            <a:r>
              <a:rPr lang="en-US" sz="750" dirty="0">
                <a:solidFill>
                  <a:srgbClr val="FF4500"/>
                </a:solidFill>
                <a:latin typeface="Roboto Mono" pitchFamily="34" charset="0"/>
                <a:ea typeface="Roboto Mono" pitchFamily="34" charset="-122"/>
                <a:cs typeface="Roboto Mono" pitchFamily="34" charset="-120"/>
              </a:rPr>
              <a:t>■</a:t>
            </a:r>
            <a:endParaRPr lang="en-US" sz="750" dirty="0"/>
          </a:p>
        </p:txBody>
      </p:sp>
      <p:sp>
        <p:nvSpPr>
          <p:cNvPr id="16" name="Text 13"/>
          <p:cNvSpPr/>
          <p:nvPr/>
        </p:nvSpPr>
        <p:spPr>
          <a:xfrm>
            <a:off x="571500" y="4204543"/>
            <a:ext cx="59996" cy="159981"/>
          </a:xfrm>
          <a:prstGeom prst="rect">
            <a:avLst/>
          </a:prstGeom>
          <a:noFill/>
          <a:ln/>
        </p:spPr>
        <p:txBody>
          <a:bodyPr wrap="none" lIns="0" tIns="0" rIns="0" bIns="0" rtlCol="0" anchor="t">
            <a:spAutoFit/>
          </a:bodyPr>
          <a:lstStyle/>
          <a:p>
            <a:pPr marL="0" indent="0" algn="l">
              <a:lnSpc>
                <a:spcPct val="128000"/>
              </a:lnSpc>
              <a:buNone/>
            </a:pPr>
            <a:r>
              <a:rPr lang="en-US" sz="750" dirty="0">
                <a:solidFill>
                  <a:srgbClr val="FF4500"/>
                </a:solidFill>
                <a:latin typeface="Roboto Mono" pitchFamily="34" charset="0"/>
                <a:ea typeface="Roboto Mono" pitchFamily="34" charset="-122"/>
                <a:cs typeface="Roboto Mono" pitchFamily="34" charset="-120"/>
              </a:rPr>
              <a:t>■</a:t>
            </a:r>
            <a:endParaRPr lang="en-US" sz="750" dirty="0"/>
          </a:p>
        </p:txBody>
      </p:sp>
      <p:sp>
        <p:nvSpPr>
          <p:cNvPr id="17" name="Text 14"/>
          <p:cNvSpPr/>
          <p:nvPr/>
        </p:nvSpPr>
        <p:spPr>
          <a:xfrm>
            <a:off x="5486400" y="1427299"/>
            <a:ext cx="2800350" cy="228600"/>
          </a:xfrm>
          <a:prstGeom prst="rect">
            <a:avLst/>
          </a:prstGeom>
          <a:noFill/>
          <a:ln/>
        </p:spPr>
        <p:txBody>
          <a:bodyPr wrap="square" lIns="0" tIns="0" rIns="0" bIns="0" rtlCol="0" anchor="t">
            <a:spAutoFit/>
          </a:bodyPr>
          <a:lstStyle/>
          <a:p>
            <a:pPr marL="0" indent="0" algn="l">
              <a:buNone/>
            </a:pPr>
            <a:r>
              <a:rPr lang="en-US" sz="1200" b="1" dirty="0">
                <a:solidFill>
                  <a:srgbClr val="0A1128"/>
                </a:solidFill>
                <a:latin typeface="Playfair Display Black" pitchFamily="34" charset="0"/>
                <a:ea typeface="Playfair Display Black" pitchFamily="34" charset="-122"/>
                <a:cs typeface="Playfair Display Black" pitchFamily="34" charset="-120"/>
              </a:rPr>
              <a:t>Pipeline d'augmentation</a:t>
            </a:r>
            <a:endParaRPr lang="en-US" sz="1200" dirty="0"/>
          </a:p>
        </p:txBody>
      </p:sp>
      <p:sp>
        <p:nvSpPr>
          <p:cNvPr id="18" name="Shape 15"/>
          <p:cNvSpPr/>
          <p:nvPr/>
        </p:nvSpPr>
        <p:spPr>
          <a:xfrm>
            <a:off x="5486400" y="1834493"/>
            <a:ext cx="2800350" cy="378619"/>
          </a:xfrm>
          <a:prstGeom prst="rect">
            <a:avLst/>
          </a:prstGeom>
          <a:solidFill>
            <a:srgbClr val="FFFFFF"/>
          </a:solidFill>
          <a:ln w="9144">
            <a:solidFill>
              <a:srgbClr val="0A1128"/>
            </a:solidFill>
            <a:prstDash val="solid"/>
          </a:ln>
        </p:spPr>
        <p:txBody>
          <a:bodyPr/>
          <a:lstStyle/>
          <a:p>
            <a:endParaRPr lang="en-US"/>
          </a:p>
        </p:txBody>
      </p:sp>
      <p:sp>
        <p:nvSpPr>
          <p:cNvPr id="19" name="Text 16"/>
          <p:cNvSpPr/>
          <p:nvPr/>
        </p:nvSpPr>
        <p:spPr>
          <a:xfrm>
            <a:off x="5486400" y="1834493"/>
            <a:ext cx="2800350" cy="378619"/>
          </a:xfrm>
          <a:prstGeom prst="rect">
            <a:avLst/>
          </a:prstGeom>
          <a:noFill/>
          <a:ln/>
        </p:spPr>
        <p:txBody>
          <a:bodyPr wrap="square" lIns="170053" tIns="127508" rIns="170053" bIns="127508" rtlCol="0" anchor="t">
            <a:spAutoFit/>
          </a:bodyPr>
          <a:lstStyle/>
          <a:p>
            <a:pPr marL="0" indent="0" algn="ctr">
              <a:buNone/>
            </a:pPr>
            <a:r>
              <a:rPr lang="en-US" sz="800" b="1" dirty="0">
                <a:solidFill>
                  <a:srgbClr val="0A1128"/>
                </a:solidFill>
                <a:latin typeface="Roboto Mono Bold" pitchFamily="34" charset="0"/>
                <a:ea typeface="Roboto Mono Bold" pitchFamily="34" charset="-122"/>
                <a:cs typeface="Roboto Mono Bold" pitchFamily="34" charset="-120"/>
              </a:rPr>
              <a:t>Accord propre (Synthétique)</a:t>
            </a:r>
            <a:endParaRPr lang="en-US" sz="800" dirty="0"/>
          </a:p>
        </p:txBody>
      </p:sp>
      <p:sp>
        <p:nvSpPr>
          <p:cNvPr id="20" name="Text 17"/>
          <p:cNvSpPr/>
          <p:nvPr/>
        </p:nvSpPr>
        <p:spPr>
          <a:xfrm>
            <a:off x="5486400" y="2305980"/>
            <a:ext cx="2800350" cy="171450"/>
          </a:xfrm>
          <a:prstGeom prst="rect">
            <a:avLst/>
          </a:prstGeom>
          <a:noFill/>
          <a:ln/>
        </p:spPr>
        <p:txBody>
          <a:bodyPr wrap="none" lIns="0" tIns="0" rIns="0" bIns="0" rtlCol="0" anchor="t">
            <a:spAutoFit/>
          </a:bodyPr>
          <a:lstStyle/>
          <a:p>
            <a:pPr marL="0" indent="0" algn="ctr">
              <a:lnSpc>
                <a:spcPct val="80000"/>
              </a:lnSpc>
              <a:buNone/>
            </a:pPr>
            <a:r>
              <a:rPr lang="en-US" sz="1250" dirty="0">
                <a:solidFill>
                  <a:srgbClr val="FF4500"/>
                </a:solidFill>
                <a:latin typeface="Roboto Mono" pitchFamily="34" charset="0"/>
                <a:ea typeface="Roboto Mono" pitchFamily="34" charset="-122"/>
                <a:cs typeface="Roboto Mono" pitchFamily="34" charset="-120"/>
              </a:rPr>
              <a:t>↓</a:t>
            </a:r>
            <a:endParaRPr lang="en-US" sz="1250" dirty="0"/>
          </a:p>
        </p:txBody>
      </p:sp>
      <p:sp>
        <p:nvSpPr>
          <p:cNvPr id="21" name="Shape 18"/>
          <p:cNvSpPr/>
          <p:nvPr/>
        </p:nvSpPr>
        <p:spPr>
          <a:xfrm>
            <a:off x="5486400" y="2584586"/>
            <a:ext cx="2800350" cy="378619"/>
          </a:xfrm>
          <a:prstGeom prst="rect">
            <a:avLst/>
          </a:prstGeom>
          <a:solidFill>
            <a:srgbClr val="FFFFFF"/>
          </a:solidFill>
          <a:ln w="9144">
            <a:solidFill>
              <a:srgbClr val="0A1128"/>
            </a:solidFill>
            <a:prstDash val="solid"/>
          </a:ln>
        </p:spPr>
        <p:txBody>
          <a:bodyPr/>
          <a:lstStyle/>
          <a:p>
            <a:endParaRPr lang="en-US"/>
          </a:p>
        </p:txBody>
      </p:sp>
      <p:sp>
        <p:nvSpPr>
          <p:cNvPr id="22" name="Text 19"/>
          <p:cNvSpPr/>
          <p:nvPr/>
        </p:nvSpPr>
        <p:spPr>
          <a:xfrm>
            <a:off x="5486400" y="2584586"/>
            <a:ext cx="2800350" cy="378619"/>
          </a:xfrm>
          <a:prstGeom prst="rect">
            <a:avLst/>
          </a:prstGeom>
          <a:noFill/>
          <a:ln/>
        </p:spPr>
        <p:txBody>
          <a:bodyPr wrap="square" lIns="170053" tIns="127508" rIns="170053" bIns="127508" rtlCol="0" anchor="t">
            <a:spAutoFit/>
          </a:bodyPr>
          <a:lstStyle/>
          <a:p>
            <a:pPr marL="0" indent="0" algn="ctr">
              <a:buNone/>
            </a:pPr>
            <a:r>
              <a:rPr lang="en-US" sz="800" b="1" dirty="0">
                <a:solidFill>
                  <a:srgbClr val="0A1128"/>
                </a:solidFill>
                <a:latin typeface="Roboto Mono Bold" pitchFamily="34" charset="0"/>
                <a:ea typeface="Roboto Mono Bold" pitchFamily="34" charset="-122"/>
                <a:cs typeface="Roboto Mono Bold" pitchFamily="34" charset="-120"/>
              </a:rPr>
              <a:t>+ Bruit &amp; Effets</a:t>
            </a:r>
            <a:endParaRPr lang="en-US" sz="800" dirty="0"/>
          </a:p>
        </p:txBody>
      </p:sp>
      <p:sp>
        <p:nvSpPr>
          <p:cNvPr id="23" name="Text 20"/>
          <p:cNvSpPr/>
          <p:nvPr/>
        </p:nvSpPr>
        <p:spPr>
          <a:xfrm>
            <a:off x="5486400" y="3056074"/>
            <a:ext cx="2800350" cy="171450"/>
          </a:xfrm>
          <a:prstGeom prst="rect">
            <a:avLst/>
          </a:prstGeom>
          <a:noFill/>
          <a:ln/>
        </p:spPr>
        <p:txBody>
          <a:bodyPr wrap="none" lIns="0" tIns="0" rIns="0" bIns="0" rtlCol="0" anchor="t">
            <a:spAutoFit/>
          </a:bodyPr>
          <a:lstStyle/>
          <a:p>
            <a:pPr marL="0" indent="0" algn="ctr">
              <a:lnSpc>
                <a:spcPct val="80000"/>
              </a:lnSpc>
              <a:buNone/>
            </a:pPr>
            <a:r>
              <a:rPr lang="en-US" sz="1250" dirty="0">
                <a:solidFill>
                  <a:srgbClr val="FF4500"/>
                </a:solidFill>
                <a:latin typeface="Roboto Mono" pitchFamily="34" charset="0"/>
                <a:ea typeface="Roboto Mono" pitchFamily="34" charset="-122"/>
                <a:cs typeface="Roboto Mono" pitchFamily="34" charset="-120"/>
              </a:rPr>
              <a:t>↓</a:t>
            </a:r>
            <a:endParaRPr lang="en-US" sz="1250" dirty="0"/>
          </a:p>
        </p:txBody>
      </p:sp>
      <p:sp>
        <p:nvSpPr>
          <p:cNvPr id="24" name="Shape 21"/>
          <p:cNvSpPr/>
          <p:nvPr/>
        </p:nvSpPr>
        <p:spPr>
          <a:xfrm>
            <a:off x="5486400" y="3334680"/>
            <a:ext cx="2800350" cy="378619"/>
          </a:xfrm>
          <a:prstGeom prst="rect">
            <a:avLst/>
          </a:prstGeom>
          <a:solidFill>
            <a:srgbClr val="FFFFFF"/>
          </a:solidFill>
          <a:ln w="9144">
            <a:solidFill>
              <a:srgbClr val="0A1128"/>
            </a:solidFill>
            <a:prstDash val="solid"/>
          </a:ln>
        </p:spPr>
        <p:txBody>
          <a:bodyPr/>
          <a:lstStyle/>
          <a:p>
            <a:endParaRPr lang="en-US"/>
          </a:p>
        </p:txBody>
      </p:sp>
      <p:sp>
        <p:nvSpPr>
          <p:cNvPr id="25" name="Text 22"/>
          <p:cNvSpPr/>
          <p:nvPr/>
        </p:nvSpPr>
        <p:spPr>
          <a:xfrm>
            <a:off x="5486400" y="3334680"/>
            <a:ext cx="2800350" cy="378619"/>
          </a:xfrm>
          <a:prstGeom prst="rect">
            <a:avLst/>
          </a:prstGeom>
          <a:noFill/>
          <a:ln/>
        </p:spPr>
        <p:txBody>
          <a:bodyPr wrap="square" lIns="170053" tIns="127508" rIns="170053" bIns="127508" rtlCol="0" anchor="t">
            <a:spAutoFit/>
          </a:bodyPr>
          <a:lstStyle/>
          <a:p>
            <a:pPr marL="0" indent="0" algn="ctr">
              <a:buNone/>
            </a:pPr>
            <a:r>
              <a:rPr lang="en-US" sz="800" b="1" dirty="0">
                <a:solidFill>
                  <a:srgbClr val="0A1128"/>
                </a:solidFill>
                <a:latin typeface="Roboto Mono Bold" pitchFamily="34" charset="0"/>
                <a:ea typeface="Roboto Mono Bold" pitchFamily="34" charset="-122"/>
                <a:cs typeface="Roboto Mono Bold" pitchFamily="34" charset="-120"/>
              </a:rPr>
              <a:t>+ Humanisation &amp; Transposition</a:t>
            </a:r>
            <a:endParaRPr lang="en-US" sz="800" dirty="0"/>
          </a:p>
        </p:txBody>
      </p:sp>
      <p:sp>
        <p:nvSpPr>
          <p:cNvPr id="26" name="Text 23"/>
          <p:cNvSpPr/>
          <p:nvPr/>
        </p:nvSpPr>
        <p:spPr>
          <a:xfrm>
            <a:off x="5486400" y="3806168"/>
            <a:ext cx="2800350" cy="171450"/>
          </a:xfrm>
          <a:prstGeom prst="rect">
            <a:avLst/>
          </a:prstGeom>
          <a:noFill/>
          <a:ln/>
        </p:spPr>
        <p:txBody>
          <a:bodyPr wrap="none" lIns="0" tIns="0" rIns="0" bIns="0" rtlCol="0" anchor="t">
            <a:spAutoFit/>
          </a:bodyPr>
          <a:lstStyle/>
          <a:p>
            <a:pPr marL="0" indent="0" algn="ctr">
              <a:lnSpc>
                <a:spcPct val="80000"/>
              </a:lnSpc>
              <a:buNone/>
            </a:pPr>
            <a:r>
              <a:rPr lang="en-US" sz="1250" dirty="0">
                <a:solidFill>
                  <a:srgbClr val="FF4500"/>
                </a:solidFill>
                <a:latin typeface="Roboto Mono" pitchFamily="34" charset="0"/>
                <a:ea typeface="Roboto Mono" pitchFamily="34" charset="-122"/>
                <a:cs typeface="Roboto Mono" pitchFamily="34" charset="-120"/>
              </a:rPr>
              <a:t>↓</a:t>
            </a:r>
            <a:endParaRPr lang="en-US" sz="1250" dirty="0"/>
          </a:p>
        </p:txBody>
      </p:sp>
      <p:sp>
        <p:nvSpPr>
          <p:cNvPr id="27" name="Shape 24"/>
          <p:cNvSpPr/>
          <p:nvPr/>
        </p:nvSpPr>
        <p:spPr>
          <a:xfrm>
            <a:off x="5486400" y="4084774"/>
            <a:ext cx="2800350" cy="528638"/>
          </a:xfrm>
          <a:prstGeom prst="rect">
            <a:avLst/>
          </a:prstGeom>
          <a:solidFill>
            <a:srgbClr val="0A1128"/>
          </a:solidFill>
          <a:ln w="9144">
            <a:solidFill>
              <a:srgbClr val="0A1128"/>
            </a:solidFill>
            <a:prstDash val="solid"/>
          </a:ln>
        </p:spPr>
        <p:txBody>
          <a:bodyPr/>
          <a:lstStyle/>
          <a:p>
            <a:endParaRPr lang="en-US"/>
          </a:p>
        </p:txBody>
      </p:sp>
      <p:sp>
        <p:nvSpPr>
          <p:cNvPr id="28" name="Text 25"/>
          <p:cNvSpPr/>
          <p:nvPr/>
        </p:nvSpPr>
        <p:spPr>
          <a:xfrm>
            <a:off x="5486400" y="4084774"/>
            <a:ext cx="2800350" cy="528638"/>
          </a:xfrm>
          <a:prstGeom prst="rect">
            <a:avLst/>
          </a:prstGeom>
          <a:noFill/>
          <a:ln/>
        </p:spPr>
        <p:txBody>
          <a:bodyPr wrap="square" lIns="170053" tIns="127508" rIns="170053" bIns="127508" rtlCol="0" anchor="t">
            <a:spAutoFit/>
          </a:bodyPr>
          <a:lstStyle/>
          <a:p>
            <a:pPr marL="0" indent="0" algn="ctr">
              <a:buNone/>
            </a:pPr>
            <a:r>
              <a:rPr lang="en-US" sz="800" b="1" dirty="0">
                <a:solidFill>
                  <a:srgbClr val="FFFFFF"/>
                </a:solidFill>
                <a:latin typeface="Roboto Mono Bold" pitchFamily="34" charset="0"/>
                <a:ea typeface="Roboto Mono Bold" pitchFamily="34" charset="-122"/>
                <a:cs typeface="Roboto Mono Bold" pitchFamily="34" charset="-120"/>
              </a:rPr>
              <a:t>Accord réaliste (Prêt pour l'entraînement)</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Text 0"/>
          <p:cNvSpPr/>
          <p:nvPr/>
        </p:nvSpPr>
        <p:spPr>
          <a:xfrm>
            <a:off x="571500" y="357188"/>
            <a:ext cx="8001000" cy="377168"/>
          </a:xfrm>
          <a:prstGeom prst="rect">
            <a:avLst/>
          </a:prstGeom>
          <a:noFill/>
          <a:ln/>
        </p:spPr>
        <p:txBody>
          <a:bodyPr wrap="none" lIns="0" tIns="0" rIns="0" bIns="0" rtlCol="0" anchor="t">
            <a:spAutoFit/>
          </a:bodyPr>
          <a:lstStyle/>
          <a:p>
            <a:pPr marL="0" indent="0" algn="l">
              <a:lnSpc>
                <a:spcPct val="96000"/>
              </a:lnSpc>
              <a:buNone/>
            </a:pPr>
            <a:r>
              <a:rPr lang="en-US" sz="2250" b="1" dirty="0">
                <a:solidFill>
                  <a:srgbClr val="0A1128"/>
                </a:solidFill>
                <a:latin typeface="Playfair Display Black" pitchFamily="34" charset="0"/>
                <a:ea typeface="Playfair Display Black" pitchFamily="34" charset="-122"/>
                <a:cs typeface="Playfair Display Black" pitchFamily="34" charset="-120"/>
              </a:rPr>
              <a:t>Organisation et répartition</a:t>
            </a:r>
            <a:endParaRPr lang="en-US" sz="2250" dirty="0"/>
          </a:p>
        </p:txBody>
      </p:sp>
      <p:sp>
        <p:nvSpPr>
          <p:cNvPr id="4" name="Text 1"/>
          <p:cNvSpPr/>
          <p:nvPr/>
        </p:nvSpPr>
        <p:spPr>
          <a:xfrm>
            <a:off x="571500" y="1155836"/>
            <a:ext cx="68563" cy="171450"/>
          </a:xfrm>
          <a:prstGeom prst="rect">
            <a:avLst/>
          </a:prstGeom>
          <a:noFill/>
          <a:ln/>
        </p:spPr>
        <p:txBody>
          <a:bodyPr wrap="none" lIns="0" tIns="0" rIns="0" bIns="0" rtlCol="0" anchor="t">
            <a:spAutoFit/>
          </a:bodyPr>
          <a:lstStyle/>
          <a:p>
            <a:pPr marL="0" indent="0" algn="l">
              <a:lnSpc>
                <a:spcPct val="120000"/>
              </a:lnSpc>
              <a:buNone/>
            </a:pPr>
            <a:r>
              <a:rPr lang="en-US" sz="850" dirty="0">
                <a:solidFill>
                  <a:srgbClr val="FF4500"/>
                </a:solidFill>
                <a:latin typeface="Roboto Mono" pitchFamily="34" charset="0"/>
                <a:ea typeface="Roboto Mono" pitchFamily="34" charset="-122"/>
                <a:cs typeface="Roboto Mono" pitchFamily="34" charset="-120"/>
              </a:rPr>
              <a:t>■</a:t>
            </a:r>
            <a:endParaRPr lang="en-US" sz="850" dirty="0"/>
          </a:p>
        </p:txBody>
      </p:sp>
      <p:sp>
        <p:nvSpPr>
          <p:cNvPr id="5" name="Text 2"/>
          <p:cNvSpPr/>
          <p:nvPr/>
        </p:nvSpPr>
        <p:spPr>
          <a:xfrm>
            <a:off x="785813" y="1141549"/>
            <a:ext cx="3916087" cy="214313"/>
          </a:xfrm>
          <a:prstGeom prst="rect">
            <a:avLst/>
          </a:prstGeom>
          <a:noFill/>
          <a:ln/>
        </p:spPr>
        <p:txBody>
          <a:bodyPr wrap="none" lIns="0" tIns="0" rIns="0" bIns="0" rtlCol="0" anchor="t">
            <a:spAutoFit/>
          </a:bodyPr>
          <a:lstStyle/>
          <a:p>
            <a:pPr marL="0" indent="0" algn="l">
              <a:lnSpc>
                <a:spcPct val="120000"/>
              </a:lnSpc>
              <a:buNone/>
            </a:pPr>
            <a:r>
              <a:rPr lang="en-US" sz="1000" b="1" dirty="0">
                <a:solidFill>
                  <a:srgbClr val="0A1128"/>
                </a:solidFill>
                <a:latin typeface="Roboto Mono Bold" pitchFamily="34" charset="0"/>
                <a:ea typeface="Roboto Mono Bold" pitchFamily="34" charset="-122"/>
                <a:cs typeface="Roboto Mono Bold" pitchFamily="34" charset="-120"/>
              </a:rPr>
              <a:t>Manifestes CSV</a:t>
            </a:r>
            <a:endParaRPr lang="en-US" sz="1000" dirty="0"/>
          </a:p>
        </p:txBody>
      </p:sp>
      <p:sp>
        <p:nvSpPr>
          <p:cNvPr id="6" name="Text 3"/>
          <p:cNvSpPr/>
          <p:nvPr/>
        </p:nvSpPr>
        <p:spPr>
          <a:xfrm>
            <a:off x="785813" y="1409440"/>
            <a:ext cx="3461147" cy="303032"/>
          </a:xfrm>
          <a:prstGeom prst="rect">
            <a:avLst/>
          </a:prstGeom>
          <a:noFill/>
          <a:ln/>
        </p:spPr>
        <p:txBody>
          <a:bodyPr wrap="square" lIns="0" tIns="0" rIns="0" bIns="0" rtlCol="0" anchor="t">
            <a:spAutoFit/>
          </a:bodyPr>
          <a:lstStyle/>
          <a:p>
            <a:pPr marL="0" indent="0" algn="l">
              <a:lnSpc>
                <a:spcPct val="120000"/>
              </a:lnSpc>
              <a:buNone/>
            </a:pPr>
            <a:r>
              <a:rPr lang="en-US" sz="850" dirty="0">
                <a:solidFill>
                  <a:srgbClr val="0A1128"/>
                </a:solidFill>
                <a:latin typeface="Roboto Mono" pitchFamily="34" charset="0"/>
                <a:ea typeface="Roboto Mono" pitchFamily="34" charset="-122"/>
                <a:cs typeface="Roboto Mono" pitchFamily="34" charset="-120"/>
              </a:rPr>
              <a:t>Indexation de chaque fichier audio avec son étiquette pour garantir la </a:t>
            </a:r>
            <a:r>
              <a:rPr lang="en-US" sz="850" dirty="0" err="1">
                <a:solidFill>
                  <a:srgbClr val="0A1128"/>
                </a:solidFill>
                <a:latin typeface="Roboto Mono" pitchFamily="34" charset="0"/>
                <a:ea typeface="Roboto Mono" pitchFamily="34" charset="-122"/>
                <a:cs typeface="Roboto Mono" pitchFamily="34" charset="-120"/>
              </a:rPr>
              <a:t>traçabilité</a:t>
            </a:r>
            <a:r>
              <a:rPr lang="en-US" sz="850" dirty="0">
                <a:solidFill>
                  <a:srgbClr val="0A1128"/>
                </a:solidFill>
                <a:latin typeface="Roboto Mono" pitchFamily="34" charset="0"/>
                <a:ea typeface="Roboto Mono" pitchFamily="34" charset="-122"/>
                <a:cs typeface="Roboto Mono" pitchFamily="34" charset="-120"/>
              </a:rPr>
              <a:t> des données.</a:t>
            </a:r>
            <a:endParaRPr lang="en-US" sz="850" dirty="0"/>
          </a:p>
        </p:txBody>
      </p:sp>
      <p:sp>
        <p:nvSpPr>
          <p:cNvPr id="7" name="Text 4"/>
          <p:cNvSpPr/>
          <p:nvPr/>
        </p:nvSpPr>
        <p:spPr>
          <a:xfrm>
            <a:off x="571500" y="2105955"/>
            <a:ext cx="68563" cy="171450"/>
          </a:xfrm>
          <a:prstGeom prst="rect">
            <a:avLst/>
          </a:prstGeom>
          <a:noFill/>
          <a:ln/>
        </p:spPr>
        <p:txBody>
          <a:bodyPr wrap="none" lIns="0" tIns="0" rIns="0" bIns="0" rtlCol="0" anchor="t">
            <a:spAutoFit/>
          </a:bodyPr>
          <a:lstStyle/>
          <a:p>
            <a:pPr marL="0" indent="0" algn="l">
              <a:lnSpc>
                <a:spcPct val="120000"/>
              </a:lnSpc>
              <a:buNone/>
            </a:pPr>
            <a:r>
              <a:rPr lang="en-US" sz="850" dirty="0">
                <a:solidFill>
                  <a:srgbClr val="FF4500"/>
                </a:solidFill>
                <a:latin typeface="Roboto Mono" pitchFamily="34" charset="0"/>
                <a:ea typeface="Roboto Mono" pitchFamily="34" charset="-122"/>
                <a:cs typeface="Roboto Mono" pitchFamily="34" charset="-120"/>
              </a:rPr>
              <a:t>■</a:t>
            </a:r>
            <a:endParaRPr lang="en-US" sz="850" dirty="0"/>
          </a:p>
        </p:txBody>
      </p:sp>
      <p:sp>
        <p:nvSpPr>
          <p:cNvPr id="8" name="Text 5"/>
          <p:cNvSpPr/>
          <p:nvPr/>
        </p:nvSpPr>
        <p:spPr>
          <a:xfrm>
            <a:off x="785813" y="2091668"/>
            <a:ext cx="3916087" cy="214313"/>
          </a:xfrm>
          <a:prstGeom prst="rect">
            <a:avLst/>
          </a:prstGeom>
          <a:noFill/>
          <a:ln/>
        </p:spPr>
        <p:txBody>
          <a:bodyPr wrap="none" lIns="0" tIns="0" rIns="0" bIns="0" rtlCol="0" anchor="t">
            <a:spAutoFit/>
          </a:bodyPr>
          <a:lstStyle/>
          <a:p>
            <a:pPr marL="0" indent="0" algn="l">
              <a:lnSpc>
                <a:spcPct val="120000"/>
              </a:lnSpc>
              <a:buNone/>
            </a:pPr>
            <a:r>
              <a:rPr lang="en-US" sz="1000" b="1" dirty="0">
                <a:solidFill>
                  <a:srgbClr val="0A1128"/>
                </a:solidFill>
                <a:latin typeface="Roboto Mono Bold" pitchFamily="34" charset="0"/>
                <a:ea typeface="Roboto Mono Bold" pitchFamily="34" charset="-122"/>
                <a:cs typeface="Roboto Mono Bold" pitchFamily="34" charset="-120"/>
              </a:rPr>
              <a:t>Séparation stratifiée</a:t>
            </a:r>
            <a:endParaRPr lang="en-US" sz="1000" dirty="0"/>
          </a:p>
        </p:txBody>
      </p:sp>
      <p:sp>
        <p:nvSpPr>
          <p:cNvPr id="9" name="Text 6"/>
          <p:cNvSpPr/>
          <p:nvPr/>
        </p:nvSpPr>
        <p:spPr>
          <a:xfrm>
            <a:off x="785813" y="2359558"/>
            <a:ext cx="3664744" cy="303032"/>
          </a:xfrm>
          <a:prstGeom prst="rect">
            <a:avLst/>
          </a:prstGeom>
          <a:noFill/>
          <a:ln/>
        </p:spPr>
        <p:txBody>
          <a:bodyPr wrap="square" lIns="0" tIns="0" rIns="0" bIns="0" rtlCol="0" anchor="t">
            <a:spAutoFit/>
          </a:bodyPr>
          <a:lstStyle/>
          <a:p>
            <a:pPr marL="0" indent="0" algn="l">
              <a:lnSpc>
                <a:spcPct val="120000"/>
              </a:lnSpc>
              <a:buNone/>
            </a:pPr>
            <a:r>
              <a:rPr lang="en-US" sz="850" dirty="0">
                <a:solidFill>
                  <a:srgbClr val="0A1128"/>
                </a:solidFill>
                <a:latin typeface="Roboto Mono" pitchFamily="34" charset="0"/>
                <a:ea typeface="Roboto Mono" pitchFamily="34" charset="-122"/>
                <a:cs typeface="Roboto Mono" pitchFamily="34" charset="-120"/>
              </a:rPr>
              <a:t>Division </a:t>
            </a:r>
            <a:r>
              <a:rPr lang="en-US" sz="850" dirty="0" err="1">
                <a:solidFill>
                  <a:srgbClr val="0A1128"/>
                </a:solidFill>
                <a:latin typeface="Roboto Mono" pitchFamily="34" charset="0"/>
                <a:ea typeface="Roboto Mono" pitchFamily="34" charset="-122"/>
                <a:cs typeface="Roboto Mono" pitchFamily="34" charset="-120"/>
              </a:rPr>
              <a:t>garantissant</a:t>
            </a:r>
            <a:r>
              <a:rPr lang="en-US" sz="850" dirty="0">
                <a:solidFill>
                  <a:srgbClr val="0A1128"/>
                </a:solidFill>
                <a:latin typeface="Roboto Mono" pitchFamily="34" charset="0"/>
                <a:ea typeface="Roboto Mono" pitchFamily="34" charset="-122"/>
                <a:cs typeface="Roboto Mono" pitchFamily="34" charset="-120"/>
              </a:rPr>
              <a:t> la même proportion de classes (accords) dans chaque sous-ensemble.</a:t>
            </a:r>
            <a:endParaRPr lang="en-US" sz="850" dirty="0"/>
          </a:p>
        </p:txBody>
      </p:sp>
      <p:sp>
        <p:nvSpPr>
          <p:cNvPr id="10" name="Text 7"/>
          <p:cNvSpPr/>
          <p:nvPr/>
        </p:nvSpPr>
        <p:spPr>
          <a:xfrm>
            <a:off x="571500" y="2884624"/>
            <a:ext cx="68563" cy="171450"/>
          </a:xfrm>
          <a:prstGeom prst="rect">
            <a:avLst/>
          </a:prstGeom>
          <a:noFill/>
          <a:ln/>
        </p:spPr>
        <p:txBody>
          <a:bodyPr wrap="none" lIns="0" tIns="0" rIns="0" bIns="0" rtlCol="0" anchor="t">
            <a:spAutoFit/>
          </a:bodyPr>
          <a:lstStyle/>
          <a:p>
            <a:pPr marL="0" indent="0" algn="l">
              <a:lnSpc>
                <a:spcPct val="120000"/>
              </a:lnSpc>
              <a:buNone/>
            </a:pPr>
            <a:r>
              <a:rPr lang="en-US" sz="850" dirty="0">
                <a:solidFill>
                  <a:srgbClr val="FF4500"/>
                </a:solidFill>
                <a:latin typeface="Roboto Mono" pitchFamily="34" charset="0"/>
                <a:ea typeface="Roboto Mono" pitchFamily="34" charset="-122"/>
                <a:cs typeface="Roboto Mono" pitchFamily="34" charset="-120"/>
              </a:rPr>
              <a:t>■</a:t>
            </a:r>
            <a:endParaRPr lang="en-US" sz="850" dirty="0"/>
          </a:p>
        </p:txBody>
      </p:sp>
      <p:sp>
        <p:nvSpPr>
          <p:cNvPr id="11" name="Text 8"/>
          <p:cNvSpPr/>
          <p:nvPr/>
        </p:nvSpPr>
        <p:spPr>
          <a:xfrm>
            <a:off x="785813" y="2870336"/>
            <a:ext cx="3916087" cy="214313"/>
          </a:xfrm>
          <a:prstGeom prst="rect">
            <a:avLst/>
          </a:prstGeom>
          <a:noFill/>
          <a:ln/>
        </p:spPr>
        <p:txBody>
          <a:bodyPr wrap="none" lIns="0" tIns="0" rIns="0" bIns="0" rtlCol="0" anchor="t">
            <a:spAutoFit/>
          </a:bodyPr>
          <a:lstStyle/>
          <a:p>
            <a:pPr marL="0" indent="0" algn="l">
              <a:lnSpc>
                <a:spcPct val="120000"/>
              </a:lnSpc>
              <a:buNone/>
            </a:pPr>
            <a:r>
              <a:rPr lang="en-US" sz="1000" b="1" dirty="0">
                <a:solidFill>
                  <a:srgbClr val="0A1128"/>
                </a:solidFill>
                <a:latin typeface="Roboto Mono Bold" pitchFamily="34" charset="0"/>
                <a:ea typeface="Roboto Mono Bold" pitchFamily="34" charset="-122"/>
                <a:cs typeface="Roboto Mono Bold" pitchFamily="34" charset="-120"/>
              </a:rPr>
              <a:t>Normalisation (Z-score)</a:t>
            </a:r>
            <a:endParaRPr lang="en-US" sz="1000" dirty="0"/>
          </a:p>
        </p:txBody>
      </p:sp>
      <p:sp>
        <p:nvSpPr>
          <p:cNvPr id="12" name="Text 9"/>
          <p:cNvSpPr/>
          <p:nvPr/>
        </p:nvSpPr>
        <p:spPr>
          <a:xfrm>
            <a:off x="785813" y="3138227"/>
            <a:ext cx="3596878" cy="492919"/>
          </a:xfrm>
          <a:prstGeom prst="rect">
            <a:avLst/>
          </a:prstGeom>
          <a:noFill/>
          <a:ln/>
        </p:spPr>
        <p:txBody>
          <a:bodyPr wrap="square" lIns="0" tIns="0" rIns="0" bIns="0" rtlCol="0" anchor="t">
            <a:spAutoFit/>
          </a:bodyPr>
          <a:lstStyle/>
          <a:p>
            <a:pPr marL="0" indent="0" algn="l">
              <a:lnSpc>
                <a:spcPct val="120000"/>
              </a:lnSpc>
              <a:buNone/>
            </a:pPr>
            <a:r>
              <a:rPr lang="en-US" sz="850" dirty="0">
                <a:solidFill>
                  <a:srgbClr val="0A1128"/>
                </a:solidFill>
                <a:latin typeface="Roboto Mono" pitchFamily="34" charset="0"/>
                <a:ea typeface="Roboto Mono" pitchFamily="34" charset="-122"/>
                <a:cs typeface="Roboto Mono" pitchFamily="34" charset="-120"/>
              </a:rPr>
              <a:t>Centrage et réduction appliqués uniquement sur le jeu d'entraînement pour éviter la fuite de données (data leakage).</a:t>
            </a:r>
            <a:endParaRPr lang="en-US" sz="850" dirty="0"/>
          </a:p>
        </p:txBody>
      </p:sp>
      <p:sp>
        <p:nvSpPr>
          <p:cNvPr id="13" name="Text 10"/>
          <p:cNvSpPr/>
          <p:nvPr/>
        </p:nvSpPr>
        <p:spPr>
          <a:xfrm>
            <a:off x="571500" y="3834743"/>
            <a:ext cx="68563" cy="171450"/>
          </a:xfrm>
          <a:prstGeom prst="rect">
            <a:avLst/>
          </a:prstGeom>
          <a:noFill/>
          <a:ln/>
        </p:spPr>
        <p:txBody>
          <a:bodyPr wrap="none" lIns="0" tIns="0" rIns="0" bIns="0" rtlCol="0" anchor="t">
            <a:spAutoFit/>
          </a:bodyPr>
          <a:lstStyle/>
          <a:p>
            <a:pPr marL="0" indent="0" algn="l">
              <a:lnSpc>
                <a:spcPct val="120000"/>
              </a:lnSpc>
              <a:buNone/>
            </a:pPr>
            <a:r>
              <a:rPr lang="en-US" sz="850" dirty="0">
                <a:solidFill>
                  <a:srgbClr val="FF4500"/>
                </a:solidFill>
                <a:latin typeface="Roboto Mono" pitchFamily="34" charset="0"/>
                <a:ea typeface="Roboto Mono" pitchFamily="34" charset="-122"/>
                <a:cs typeface="Roboto Mono" pitchFamily="34" charset="-120"/>
              </a:rPr>
              <a:t>■</a:t>
            </a:r>
            <a:endParaRPr lang="en-US" sz="850" dirty="0"/>
          </a:p>
        </p:txBody>
      </p:sp>
      <p:sp>
        <p:nvSpPr>
          <p:cNvPr id="14" name="Text 11"/>
          <p:cNvSpPr/>
          <p:nvPr/>
        </p:nvSpPr>
        <p:spPr>
          <a:xfrm>
            <a:off x="785813" y="3820455"/>
            <a:ext cx="3916087" cy="214313"/>
          </a:xfrm>
          <a:prstGeom prst="rect">
            <a:avLst/>
          </a:prstGeom>
          <a:noFill/>
          <a:ln/>
        </p:spPr>
        <p:txBody>
          <a:bodyPr wrap="none" lIns="0" tIns="0" rIns="0" bIns="0" rtlCol="0" anchor="t">
            <a:spAutoFit/>
          </a:bodyPr>
          <a:lstStyle/>
          <a:p>
            <a:pPr marL="0" indent="0" algn="l">
              <a:lnSpc>
                <a:spcPct val="120000"/>
              </a:lnSpc>
              <a:buNone/>
            </a:pPr>
            <a:r>
              <a:rPr lang="en-US" sz="1000" b="1" dirty="0">
                <a:solidFill>
                  <a:srgbClr val="0A1128"/>
                </a:solidFill>
                <a:latin typeface="Roboto Mono Bold" pitchFamily="34" charset="0"/>
                <a:ea typeface="Roboto Mono Bold" pitchFamily="34" charset="-122"/>
                <a:cs typeface="Roboto Mono Bold" pitchFamily="34" charset="-120"/>
              </a:rPr>
              <a:t>Cache de features</a:t>
            </a:r>
            <a:endParaRPr lang="en-US" sz="1000" dirty="0"/>
          </a:p>
        </p:txBody>
      </p:sp>
      <p:sp>
        <p:nvSpPr>
          <p:cNvPr id="15" name="Text 12"/>
          <p:cNvSpPr/>
          <p:nvPr/>
        </p:nvSpPr>
        <p:spPr>
          <a:xfrm>
            <a:off x="785813" y="4088346"/>
            <a:ext cx="3529013" cy="303032"/>
          </a:xfrm>
          <a:prstGeom prst="rect">
            <a:avLst/>
          </a:prstGeom>
          <a:noFill/>
          <a:ln/>
        </p:spPr>
        <p:txBody>
          <a:bodyPr wrap="square" lIns="0" tIns="0" rIns="0" bIns="0" rtlCol="0" anchor="t">
            <a:spAutoFit/>
          </a:bodyPr>
          <a:lstStyle/>
          <a:p>
            <a:pPr marL="0" indent="0" algn="l">
              <a:lnSpc>
                <a:spcPct val="120000"/>
              </a:lnSpc>
              <a:buNone/>
            </a:pPr>
            <a:r>
              <a:rPr lang="en-US" sz="850" dirty="0">
                <a:solidFill>
                  <a:srgbClr val="0A1128"/>
                </a:solidFill>
                <a:latin typeface="Roboto Mono" pitchFamily="34" charset="0"/>
                <a:ea typeface="Roboto Mono" pitchFamily="34" charset="-122"/>
                <a:cs typeface="Roboto Mono" pitchFamily="34" charset="-120"/>
              </a:rPr>
              <a:t>Pré-calcul et sauvegarde des tenseurs Chroma CQT sur disque pour </a:t>
            </a:r>
            <a:r>
              <a:rPr lang="en-US" sz="850" dirty="0" err="1">
                <a:solidFill>
                  <a:srgbClr val="0A1128"/>
                </a:solidFill>
                <a:latin typeface="Roboto Mono" pitchFamily="34" charset="0"/>
                <a:ea typeface="Roboto Mono" pitchFamily="34" charset="-122"/>
                <a:cs typeface="Roboto Mono" pitchFamily="34" charset="-120"/>
              </a:rPr>
              <a:t>accélérer</a:t>
            </a:r>
            <a:r>
              <a:rPr lang="en-US" sz="850" dirty="0">
                <a:solidFill>
                  <a:srgbClr val="0A1128"/>
                </a:solidFill>
                <a:latin typeface="Roboto Mono" pitchFamily="34" charset="0"/>
                <a:ea typeface="Roboto Mono" pitchFamily="34" charset="-122"/>
                <a:cs typeface="Roboto Mono" pitchFamily="34" charset="-120"/>
              </a:rPr>
              <a:t> les itérations d'entraînement.</a:t>
            </a:r>
            <a:endParaRPr lang="en-US" sz="850" dirty="0"/>
          </a:p>
        </p:txBody>
      </p:sp>
      <p:sp>
        <p:nvSpPr>
          <p:cNvPr id="16" name="Text 13"/>
          <p:cNvSpPr/>
          <p:nvPr/>
        </p:nvSpPr>
        <p:spPr>
          <a:xfrm>
            <a:off x="5130524" y="1212986"/>
            <a:ext cx="3441976" cy="266105"/>
          </a:xfrm>
          <a:prstGeom prst="rect">
            <a:avLst/>
          </a:prstGeom>
          <a:noFill/>
          <a:ln/>
        </p:spPr>
        <p:txBody>
          <a:bodyPr wrap="square" lIns="0" tIns="0" rIns="0" bIns="0" rtlCol="0" anchor="t">
            <a:spAutoFit/>
          </a:bodyPr>
          <a:lstStyle/>
          <a:p>
            <a:pPr marL="0" indent="0" algn="l">
              <a:buNone/>
            </a:pPr>
            <a:r>
              <a:rPr lang="en-US" sz="1400" b="1" dirty="0">
                <a:solidFill>
                  <a:srgbClr val="0A1128"/>
                </a:solidFill>
                <a:latin typeface="Playfair Display Black" pitchFamily="34" charset="0"/>
                <a:ea typeface="Playfair Display Black" pitchFamily="34" charset="-122"/>
                <a:cs typeface="Playfair Display Black" pitchFamily="34" charset="-120"/>
              </a:rPr>
              <a:t>Répartition du Dataset</a:t>
            </a:r>
            <a:endParaRPr lang="en-US" sz="1400" dirty="0"/>
          </a:p>
        </p:txBody>
      </p:sp>
      <p:sp>
        <p:nvSpPr>
          <p:cNvPr id="17" name="Text 14"/>
          <p:cNvSpPr/>
          <p:nvPr/>
        </p:nvSpPr>
        <p:spPr>
          <a:xfrm>
            <a:off x="5429948" y="2480109"/>
            <a:ext cx="1535906" cy="169664"/>
          </a:xfrm>
          <a:prstGeom prst="rect">
            <a:avLst/>
          </a:prstGeom>
          <a:noFill/>
          <a:ln/>
        </p:spPr>
        <p:txBody>
          <a:bodyPr wrap="square" lIns="0" tIns="0" rIns="0" bIns="0" rtlCol="0" anchor="t">
            <a:spAutoFit/>
          </a:bodyPr>
          <a:lstStyle/>
          <a:p>
            <a:pPr marL="0" indent="0" algn="l">
              <a:buNone/>
            </a:pPr>
            <a:r>
              <a:rPr lang="en-US" sz="950" dirty="0">
                <a:solidFill>
                  <a:srgbClr val="0A1128"/>
                </a:solidFill>
                <a:latin typeface="Roboto Mono" pitchFamily="34" charset="0"/>
                <a:ea typeface="Roboto Mono" pitchFamily="34" charset="-122"/>
                <a:cs typeface="Roboto Mono" pitchFamily="34" charset="-120"/>
              </a:rPr>
              <a:t>Entraînement (70.6%)</a:t>
            </a:r>
            <a:endParaRPr lang="en-US" sz="950" dirty="0"/>
          </a:p>
        </p:txBody>
      </p:sp>
      <p:sp>
        <p:nvSpPr>
          <p:cNvPr id="18" name="Text 15"/>
          <p:cNvSpPr/>
          <p:nvPr/>
        </p:nvSpPr>
        <p:spPr>
          <a:xfrm>
            <a:off x="8188523" y="2480109"/>
            <a:ext cx="383977" cy="169664"/>
          </a:xfrm>
          <a:prstGeom prst="rect">
            <a:avLst/>
          </a:prstGeom>
          <a:noFill/>
          <a:ln/>
        </p:spPr>
        <p:txBody>
          <a:bodyPr wrap="none" lIns="0" tIns="0" rIns="0" bIns="0" rtlCol="0" anchor="t">
            <a:spAutoFit/>
          </a:bodyPr>
          <a:lstStyle/>
          <a:p>
            <a:pPr marL="0" indent="0" algn="l">
              <a:buNone/>
            </a:pPr>
            <a:r>
              <a:rPr lang="en-US" sz="900" b="1" dirty="0">
                <a:solidFill>
                  <a:srgbClr val="0A1128"/>
                </a:solidFill>
                <a:latin typeface="Roboto Mono Bold" pitchFamily="34" charset="0"/>
                <a:ea typeface="Roboto Mono Bold" pitchFamily="34" charset="-122"/>
                <a:cs typeface="Roboto Mono Bold" pitchFamily="34" charset="-120"/>
              </a:rPr>
              <a:t>2 772</a:t>
            </a:r>
            <a:endParaRPr lang="en-US" sz="900" dirty="0"/>
          </a:p>
        </p:txBody>
      </p:sp>
      <p:sp>
        <p:nvSpPr>
          <p:cNvPr id="19" name="Text 16"/>
          <p:cNvSpPr/>
          <p:nvPr/>
        </p:nvSpPr>
        <p:spPr>
          <a:xfrm>
            <a:off x="5432320" y="2794434"/>
            <a:ext cx="1382316" cy="169664"/>
          </a:xfrm>
          <a:prstGeom prst="rect">
            <a:avLst/>
          </a:prstGeom>
          <a:noFill/>
          <a:ln/>
        </p:spPr>
        <p:txBody>
          <a:bodyPr wrap="square" lIns="0" tIns="0" rIns="0" bIns="0" rtlCol="0" anchor="t">
            <a:spAutoFit/>
          </a:bodyPr>
          <a:lstStyle/>
          <a:p>
            <a:pPr marL="0" indent="0" algn="l">
              <a:buNone/>
            </a:pPr>
            <a:r>
              <a:rPr lang="en-US" sz="950" dirty="0">
                <a:solidFill>
                  <a:srgbClr val="0A1128"/>
                </a:solidFill>
                <a:latin typeface="Roboto Mono" pitchFamily="34" charset="0"/>
                <a:ea typeface="Roboto Mono" pitchFamily="34" charset="-122"/>
                <a:cs typeface="Roboto Mono" pitchFamily="34" charset="-120"/>
              </a:rPr>
              <a:t>Validation (14.7%)</a:t>
            </a:r>
            <a:endParaRPr lang="en-US" sz="950" dirty="0"/>
          </a:p>
        </p:txBody>
      </p:sp>
      <p:sp>
        <p:nvSpPr>
          <p:cNvPr id="20" name="Text 17"/>
          <p:cNvSpPr/>
          <p:nvPr/>
        </p:nvSpPr>
        <p:spPr>
          <a:xfrm>
            <a:off x="8342114" y="2794434"/>
            <a:ext cx="230386" cy="169664"/>
          </a:xfrm>
          <a:prstGeom prst="rect">
            <a:avLst/>
          </a:prstGeom>
          <a:noFill/>
          <a:ln/>
        </p:spPr>
        <p:txBody>
          <a:bodyPr wrap="none" lIns="0" tIns="0" rIns="0" bIns="0" rtlCol="0" anchor="t">
            <a:spAutoFit/>
          </a:bodyPr>
          <a:lstStyle/>
          <a:p>
            <a:pPr marL="0" indent="0" algn="l">
              <a:buNone/>
            </a:pPr>
            <a:r>
              <a:rPr lang="en-US" sz="900" b="1" dirty="0">
                <a:solidFill>
                  <a:srgbClr val="0A1128"/>
                </a:solidFill>
                <a:latin typeface="Roboto Mono Bold" pitchFamily="34" charset="0"/>
                <a:ea typeface="Roboto Mono Bold" pitchFamily="34" charset="-122"/>
                <a:cs typeface="Roboto Mono Bold" pitchFamily="34" charset="-120"/>
              </a:rPr>
              <a:t>576</a:t>
            </a:r>
            <a:endParaRPr lang="en-US" sz="900" dirty="0"/>
          </a:p>
        </p:txBody>
      </p:sp>
      <p:sp>
        <p:nvSpPr>
          <p:cNvPr id="21" name="Text 18"/>
          <p:cNvSpPr/>
          <p:nvPr/>
        </p:nvSpPr>
        <p:spPr>
          <a:xfrm>
            <a:off x="5429948" y="3108759"/>
            <a:ext cx="921544" cy="169664"/>
          </a:xfrm>
          <a:prstGeom prst="rect">
            <a:avLst/>
          </a:prstGeom>
          <a:noFill/>
          <a:ln/>
        </p:spPr>
        <p:txBody>
          <a:bodyPr wrap="none" lIns="0" tIns="0" rIns="0" bIns="0" rtlCol="0" anchor="t">
            <a:spAutoFit/>
          </a:bodyPr>
          <a:lstStyle/>
          <a:p>
            <a:pPr marL="0" indent="0" algn="l">
              <a:buNone/>
            </a:pPr>
            <a:r>
              <a:rPr lang="en-US" sz="950" dirty="0">
                <a:solidFill>
                  <a:srgbClr val="0A1128"/>
                </a:solidFill>
                <a:latin typeface="Roboto Mono" pitchFamily="34" charset="0"/>
                <a:ea typeface="Roboto Mono" pitchFamily="34" charset="-122"/>
                <a:cs typeface="Roboto Mono" pitchFamily="34" charset="-120"/>
              </a:rPr>
              <a:t>Test (14.7%)</a:t>
            </a:r>
            <a:endParaRPr lang="en-US" sz="950" dirty="0"/>
          </a:p>
        </p:txBody>
      </p:sp>
      <p:sp>
        <p:nvSpPr>
          <p:cNvPr id="22" name="Text 19"/>
          <p:cNvSpPr/>
          <p:nvPr/>
        </p:nvSpPr>
        <p:spPr>
          <a:xfrm>
            <a:off x="8342114" y="3108759"/>
            <a:ext cx="230386" cy="169664"/>
          </a:xfrm>
          <a:prstGeom prst="rect">
            <a:avLst/>
          </a:prstGeom>
          <a:noFill/>
          <a:ln/>
        </p:spPr>
        <p:txBody>
          <a:bodyPr wrap="none" lIns="0" tIns="0" rIns="0" bIns="0" rtlCol="0" anchor="t">
            <a:spAutoFit/>
          </a:bodyPr>
          <a:lstStyle/>
          <a:p>
            <a:pPr marL="0" indent="0" algn="l">
              <a:buNone/>
            </a:pPr>
            <a:r>
              <a:rPr lang="en-US" sz="900" b="1" dirty="0">
                <a:solidFill>
                  <a:srgbClr val="0A1128"/>
                </a:solidFill>
                <a:latin typeface="Roboto Mono Bold" pitchFamily="34" charset="0"/>
                <a:ea typeface="Roboto Mono Bold" pitchFamily="34" charset="-122"/>
                <a:cs typeface="Roboto Mono Bold" pitchFamily="34" charset="-120"/>
              </a:rPr>
              <a:t>576</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ext 0"/>
          <p:cNvSpPr/>
          <p:nvPr/>
        </p:nvSpPr>
        <p:spPr>
          <a:xfrm>
            <a:off x="571500" y="357188"/>
            <a:ext cx="8001000" cy="377168"/>
          </a:xfrm>
          <a:prstGeom prst="rect">
            <a:avLst/>
          </a:prstGeom>
          <a:noFill/>
          <a:ln/>
        </p:spPr>
        <p:txBody>
          <a:bodyPr wrap="none" lIns="0" tIns="0" rIns="0" bIns="0" rtlCol="0" anchor="t">
            <a:spAutoFit/>
          </a:bodyPr>
          <a:lstStyle/>
          <a:p>
            <a:pPr marL="0" indent="0" algn="l">
              <a:lnSpc>
                <a:spcPct val="96000"/>
              </a:lnSpc>
              <a:buNone/>
            </a:pPr>
            <a:r>
              <a:rPr lang="en-US" sz="2250" b="1" dirty="0">
                <a:solidFill>
                  <a:srgbClr val="0A1128"/>
                </a:solidFill>
                <a:latin typeface="Playfair Display Black" pitchFamily="34" charset="0"/>
                <a:ea typeface="Playfair Display Black" pitchFamily="34" charset="-122"/>
                <a:cs typeface="Playfair Display Black" pitchFamily="34" charset="-120"/>
              </a:rPr>
              <a:t>Architecture logicielle</a:t>
            </a:r>
            <a:endParaRPr lang="en-US" sz="2250" dirty="0"/>
          </a:p>
        </p:txBody>
      </p:sp>
      <p:sp>
        <p:nvSpPr>
          <p:cNvPr id="4" name="Text 1"/>
          <p:cNvSpPr/>
          <p:nvPr/>
        </p:nvSpPr>
        <p:spPr>
          <a:xfrm>
            <a:off x="571500" y="998674"/>
            <a:ext cx="2714625" cy="822871"/>
          </a:xfrm>
          <a:prstGeom prst="rect">
            <a:avLst/>
          </a:prstGeom>
          <a:noFill/>
          <a:ln/>
        </p:spPr>
        <p:txBody>
          <a:bodyPr wrap="square" lIns="0" tIns="0" rIns="0" bIns="0" rtlCol="0" anchor="t">
            <a:spAutoFit/>
          </a:bodyPr>
          <a:lstStyle/>
          <a:p>
            <a:pPr marL="0" indent="0" algn="l">
              <a:lnSpc>
                <a:spcPct val="128000"/>
              </a:lnSpc>
              <a:buNone/>
            </a:pPr>
            <a:r>
              <a:rPr lang="en-US" sz="950" dirty="0">
                <a:solidFill>
                  <a:srgbClr val="0A1128"/>
                </a:solidFill>
                <a:latin typeface="Roboto Mono" pitchFamily="34" charset="0"/>
                <a:ea typeface="Roboto Mono" pitchFamily="34" charset="-122"/>
                <a:cs typeface="Roboto Mono" pitchFamily="34" charset="-120"/>
              </a:rPr>
              <a:t>L'architecture est organisée en </a:t>
            </a:r>
            <a:r>
              <a:rPr lang="en-US" sz="900" b="1" dirty="0">
                <a:solidFill>
                  <a:srgbClr val="FF4500"/>
                </a:solidFill>
                <a:latin typeface="Roboto Mono Bold" pitchFamily="34" charset="0"/>
                <a:ea typeface="Roboto Mono Bold" pitchFamily="34" charset="-122"/>
                <a:cs typeface="Roboto Mono Bold" pitchFamily="34" charset="-120"/>
              </a:rPr>
              <a:t>couches indépendantes</a:t>
            </a:r>
            <a:r>
              <a:rPr lang="en-US" sz="950" dirty="0">
                <a:solidFill>
                  <a:srgbClr val="0A1128"/>
                </a:solidFill>
                <a:latin typeface="Roboto Mono" pitchFamily="34" charset="0"/>
                <a:ea typeface="Roboto Mono" pitchFamily="34" charset="-122"/>
                <a:cs typeface="Roboto Mono" pitchFamily="34" charset="-120"/>
              </a:rPr>
              <a:t> pour garantir une séparation stricte des responsabilités.</a:t>
            </a:r>
            <a:endParaRPr lang="en-US" sz="950" dirty="0"/>
          </a:p>
        </p:txBody>
      </p:sp>
      <p:sp>
        <p:nvSpPr>
          <p:cNvPr id="5" name="Text 2"/>
          <p:cNvSpPr/>
          <p:nvPr/>
        </p:nvSpPr>
        <p:spPr>
          <a:xfrm>
            <a:off x="571500" y="1935845"/>
            <a:ext cx="2714625" cy="822871"/>
          </a:xfrm>
          <a:prstGeom prst="rect">
            <a:avLst/>
          </a:prstGeom>
          <a:noFill/>
          <a:ln/>
        </p:spPr>
        <p:txBody>
          <a:bodyPr wrap="square" lIns="0" tIns="0" rIns="0" bIns="0" rtlCol="0" anchor="t">
            <a:spAutoFit/>
          </a:bodyPr>
          <a:lstStyle/>
          <a:p>
            <a:pPr marL="0" indent="0" algn="l">
              <a:lnSpc>
                <a:spcPct val="128000"/>
              </a:lnSpc>
              <a:buNone/>
            </a:pPr>
            <a:r>
              <a:rPr lang="en-US" sz="950" dirty="0">
                <a:solidFill>
                  <a:srgbClr val="0A1128"/>
                </a:solidFill>
                <a:latin typeface="Roboto Mono" pitchFamily="34" charset="0"/>
                <a:ea typeface="Roboto Mono" pitchFamily="34" charset="-122"/>
                <a:cs typeface="Roboto Mono" pitchFamily="34" charset="-120"/>
              </a:rPr>
              <a:t>Cette conception modulaire facilite la maintenance, les tests isolés et la reproductibilité des expériences d'apprentissage.</a:t>
            </a:r>
            <a:endParaRPr lang="en-US" sz="950" dirty="0"/>
          </a:p>
        </p:txBody>
      </p:sp>
      <p:sp>
        <p:nvSpPr>
          <p:cNvPr id="6" name="Shape 3"/>
          <p:cNvSpPr/>
          <p:nvPr/>
        </p:nvSpPr>
        <p:spPr>
          <a:xfrm>
            <a:off x="3571875" y="998674"/>
            <a:ext cx="5000625" cy="526852"/>
          </a:xfrm>
          <a:prstGeom prst="rect">
            <a:avLst/>
          </a:prstGeom>
          <a:solidFill>
            <a:srgbClr val="E0E7F1"/>
          </a:solidFill>
          <a:ln w="18288">
            <a:solidFill>
              <a:srgbClr val="0A1128"/>
            </a:solidFill>
            <a:prstDash val="solid"/>
          </a:ln>
        </p:spPr>
        <p:txBody>
          <a:bodyPr/>
          <a:lstStyle/>
          <a:p>
            <a:endParaRPr lang="en-US"/>
          </a:p>
        </p:txBody>
      </p:sp>
      <p:sp>
        <p:nvSpPr>
          <p:cNvPr id="7" name="Text 4"/>
          <p:cNvSpPr/>
          <p:nvPr/>
        </p:nvSpPr>
        <p:spPr>
          <a:xfrm>
            <a:off x="3657600" y="1070111"/>
            <a:ext cx="4829175" cy="169664"/>
          </a:xfrm>
          <a:prstGeom prst="rect">
            <a:avLst/>
          </a:prstGeom>
          <a:noFill/>
          <a:ln/>
        </p:spPr>
        <p:txBody>
          <a:bodyPr wrap="square" lIns="0" tIns="0" rIns="0" bIns="0" rtlCol="0" anchor="t">
            <a:spAutoFit/>
          </a:bodyPr>
          <a:lstStyle/>
          <a:p>
            <a:pPr marL="0" indent="0" algn="l">
              <a:buNone/>
            </a:pPr>
            <a:r>
              <a:rPr lang="en-US" sz="900" b="1" dirty="0">
                <a:solidFill>
                  <a:srgbClr val="FF4500"/>
                </a:solidFill>
                <a:latin typeface="Roboto Mono Bold" pitchFamily="34" charset="0"/>
                <a:ea typeface="Roboto Mono Bold" pitchFamily="34" charset="-122"/>
                <a:cs typeface="Roboto Mono Bold" pitchFamily="34" charset="-120"/>
              </a:rPr>
              <a:t>1. Configuration</a:t>
            </a:r>
            <a:endParaRPr lang="en-US" sz="900" dirty="0"/>
          </a:p>
        </p:txBody>
      </p:sp>
      <p:sp>
        <p:nvSpPr>
          <p:cNvPr id="8" name="Text 5"/>
          <p:cNvSpPr/>
          <p:nvPr/>
        </p:nvSpPr>
        <p:spPr>
          <a:xfrm>
            <a:off x="3657600" y="1275494"/>
            <a:ext cx="4829175" cy="150019"/>
          </a:xfrm>
          <a:prstGeom prst="rect">
            <a:avLst/>
          </a:prstGeom>
          <a:noFill/>
          <a:ln/>
        </p:spPr>
        <p:txBody>
          <a:bodyPr wrap="none" lIns="0" tIns="0" rIns="0" bIns="0" rtlCol="0" anchor="t">
            <a:spAutoFit/>
          </a:bodyPr>
          <a:lstStyle/>
          <a:p>
            <a:pPr marL="0" indent="0" algn="l">
              <a:lnSpc>
                <a:spcPct val="112000"/>
              </a:lnSpc>
              <a:buNone/>
            </a:pPr>
            <a:r>
              <a:rPr lang="en-US" sz="800" dirty="0">
                <a:solidFill>
                  <a:srgbClr val="0A1128"/>
                </a:solidFill>
                <a:latin typeface="Roboto Mono" pitchFamily="34" charset="0"/>
                <a:ea typeface="Roboto Mono" pitchFamily="34" charset="-122"/>
                <a:cs typeface="Roboto Mono" pitchFamily="34" charset="-120"/>
              </a:rPr>
              <a:t>Paramètres reproductibles centralisés (musica.toml)</a:t>
            </a:r>
            <a:endParaRPr lang="en-US" sz="800" dirty="0"/>
          </a:p>
        </p:txBody>
      </p:sp>
      <p:sp>
        <p:nvSpPr>
          <p:cNvPr id="9" name="Text 6"/>
          <p:cNvSpPr/>
          <p:nvPr/>
        </p:nvSpPr>
        <p:spPr>
          <a:xfrm>
            <a:off x="3857625" y="1554100"/>
            <a:ext cx="4714875" cy="171450"/>
          </a:xfrm>
          <a:prstGeom prst="rect">
            <a:avLst/>
          </a:prstGeom>
          <a:noFill/>
          <a:ln/>
        </p:spPr>
        <p:txBody>
          <a:bodyPr wrap="none" lIns="0" tIns="0" rIns="0" bIns="0" rtlCol="0" anchor="t">
            <a:spAutoFit/>
          </a:bodyPr>
          <a:lstStyle/>
          <a:p>
            <a:pPr marL="0" indent="0" algn="l">
              <a:lnSpc>
                <a:spcPct val="80000"/>
              </a:lnSpc>
              <a:buNone/>
            </a:pPr>
            <a:r>
              <a:rPr lang="en-US" sz="1200" b="1" dirty="0">
                <a:solidFill>
                  <a:srgbClr val="0A1128"/>
                </a:solidFill>
                <a:latin typeface="Roboto Mono Bold" pitchFamily="34" charset="0"/>
                <a:ea typeface="Roboto Mono Bold" pitchFamily="34" charset="-122"/>
                <a:cs typeface="Roboto Mono Bold" pitchFamily="34" charset="-120"/>
              </a:rPr>
              <a:t>↓</a:t>
            </a:r>
            <a:endParaRPr lang="en-US" sz="1200" dirty="0"/>
          </a:p>
        </p:txBody>
      </p:sp>
      <p:sp>
        <p:nvSpPr>
          <p:cNvPr id="10" name="Shape 7"/>
          <p:cNvSpPr/>
          <p:nvPr/>
        </p:nvSpPr>
        <p:spPr>
          <a:xfrm>
            <a:off x="3571875" y="1782700"/>
            <a:ext cx="5000625" cy="526852"/>
          </a:xfrm>
          <a:prstGeom prst="rect">
            <a:avLst/>
          </a:prstGeom>
          <a:solidFill>
            <a:srgbClr val="0A1128"/>
          </a:solidFill>
          <a:ln w="18288">
            <a:solidFill>
              <a:srgbClr val="0A1128"/>
            </a:solidFill>
            <a:prstDash val="solid"/>
          </a:ln>
        </p:spPr>
        <p:txBody>
          <a:bodyPr/>
          <a:lstStyle/>
          <a:p>
            <a:endParaRPr lang="en-US"/>
          </a:p>
        </p:txBody>
      </p:sp>
      <p:sp>
        <p:nvSpPr>
          <p:cNvPr id="11" name="Text 8"/>
          <p:cNvSpPr/>
          <p:nvPr/>
        </p:nvSpPr>
        <p:spPr>
          <a:xfrm>
            <a:off x="3657600" y="1854138"/>
            <a:ext cx="4829175" cy="169664"/>
          </a:xfrm>
          <a:prstGeom prst="rect">
            <a:avLst/>
          </a:prstGeom>
          <a:noFill/>
          <a:ln/>
        </p:spPr>
        <p:txBody>
          <a:bodyPr wrap="square" lIns="0" tIns="0" rIns="0" bIns="0" rtlCol="0" anchor="t">
            <a:spAutoFit/>
          </a:bodyPr>
          <a:lstStyle/>
          <a:p>
            <a:pPr marL="0" indent="0" algn="l">
              <a:buNone/>
            </a:pPr>
            <a:r>
              <a:rPr lang="en-US" sz="900" b="1" dirty="0">
                <a:solidFill>
                  <a:srgbClr val="FF4500"/>
                </a:solidFill>
                <a:latin typeface="Roboto Mono Bold" pitchFamily="34" charset="0"/>
                <a:ea typeface="Roboto Mono Bold" pitchFamily="34" charset="-122"/>
                <a:cs typeface="Roboto Mono Bold" pitchFamily="34" charset="-120"/>
              </a:rPr>
              <a:t>2. Interface d'exécution</a:t>
            </a:r>
            <a:endParaRPr lang="en-US" sz="900" dirty="0"/>
          </a:p>
        </p:txBody>
      </p:sp>
      <p:sp>
        <p:nvSpPr>
          <p:cNvPr id="12" name="Text 9"/>
          <p:cNvSpPr/>
          <p:nvPr/>
        </p:nvSpPr>
        <p:spPr>
          <a:xfrm>
            <a:off x="3657600" y="2059521"/>
            <a:ext cx="4829175" cy="150019"/>
          </a:xfrm>
          <a:prstGeom prst="rect">
            <a:avLst/>
          </a:prstGeom>
          <a:noFill/>
          <a:ln/>
        </p:spPr>
        <p:txBody>
          <a:bodyPr wrap="none" lIns="0" tIns="0" rIns="0" bIns="0" rtlCol="0" anchor="t">
            <a:spAutoFit/>
          </a:bodyPr>
          <a:lstStyle/>
          <a:p>
            <a:pPr marL="0" indent="0" algn="l">
              <a:lnSpc>
                <a:spcPct val="112000"/>
              </a:lnSpc>
              <a:buNone/>
            </a:pPr>
            <a:r>
              <a:rPr lang="en-US" sz="800" dirty="0">
                <a:solidFill>
                  <a:srgbClr val="FFFFFF"/>
                </a:solidFill>
                <a:latin typeface="Roboto Mono" pitchFamily="34" charset="0"/>
                <a:ea typeface="Roboto Mono" pitchFamily="34" charset="-122"/>
                <a:cs typeface="Roboto Mono" pitchFamily="34" charset="-120"/>
              </a:rPr>
              <a:t>CLI et orchestration du pipeline sans logique métier</a:t>
            </a:r>
            <a:endParaRPr lang="en-US" sz="800" dirty="0"/>
          </a:p>
        </p:txBody>
      </p:sp>
      <p:sp>
        <p:nvSpPr>
          <p:cNvPr id="13" name="Text 10"/>
          <p:cNvSpPr/>
          <p:nvPr/>
        </p:nvSpPr>
        <p:spPr>
          <a:xfrm>
            <a:off x="3857625" y="2338127"/>
            <a:ext cx="4714875" cy="171450"/>
          </a:xfrm>
          <a:prstGeom prst="rect">
            <a:avLst/>
          </a:prstGeom>
          <a:noFill/>
          <a:ln/>
        </p:spPr>
        <p:txBody>
          <a:bodyPr wrap="none" lIns="0" tIns="0" rIns="0" bIns="0" rtlCol="0" anchor="t">
            <a:spAutoFit/>
          </a:bodyPr>
          <a:lstStyle/>
          <a:p>
            <a:pPr marL="0" indent="0" algn="l">
              <a:lnSpc>
                <a:spcPct val="80000"/>
              </a:lnSpc>
              <a:buNone/>
            </a:pPr>
            <a:r>
              <a:rPr lang="en-US" sz="1200" b="1" dirty="0">
                <a:solidFill>
                  <a:srgbClr val="0A1128"/>
                </a:solidFill>
                <a:latin typeface="Roboto Mono Bold" pitchFamily="34" charset="0"/>
                <a:ea typeface="Roboto Mono Bold" pitchFamily="34" charset="-122"/>
                <a:cs typeface="Roboto Mono Bold" pitchFamily="34" charset="-120"/>
              </a:rPr>
              <a:t>↓</a:t>
            </a:r>
            <a:endParaRPr lang="en-US" sz="1200" dirty="0"/>
          </a:p>
        </p:txBody>
      </p:sp>
      <p:sp>
        <p:nvSpPr>
          <p:cNvPr id="14" name="Shape 11"/>
          <p:cNvSpPr/>
          <p:nvPr/>
        </p:nvSpPr>
        <p:spPr>
          <a:xfrm>
            <a:off x="3571875" y="2566727"/>
            <a:ext cx="5000625" cy="1362670"/>
          </a:xfrm>
          <a:prstGeom prst="rect">
            <a:avLst/>
          </a:prstGeom>
          <a:solidFill>
            <a:srgbClr val="FFFFFF"/>
          </a:solidFill>
          <a:ln w="18288">
            <a:solidFill>
              <a:srgbClr val="0A1128"/>
            </a:solidFill>
            <a:prstDash val="dash"/>
          </a:ln>
        </p:spPr>
        <p:txBody>
          <a:bodyPr/>
          <a:lstStyle/>
          <a:p>
            <a:endParaRPr lang="en-US"/>
          </a:p>
        </p:txBody>
      </p:sp>
      <p:sp>
        <p:nvSpPr>
          <p:cNvPr id="15" name="Text 12"/>
          <p:cNvSpPr/>
          <p:nvPr/>
        </p:nvSpPr>
        <p:spPr>
          <a:xfrm>
            <a:off x="3657600" y="2652452"/>
            <a:ext cx="4829175" cy="169664"/>
          </a:xfrm>
          <a:prstGeom prst="rect">
            <a:avLst/>
          </a:prstGeom>
          <a:noFill/>
          <a:ln/>
        </p:spPr>
        <p:txBody>
          <a:bodyPr wrap="square" lIns="0" tIns="0" rIns="0" bIns="0" rtlCol="0" anchor="t">
            <a:spAutoFit/>
          </a:bodyPr>
          <a:lstStyle/>
          <a:p>
            <a:pPr marL="0" indent="0" algn="l">
              <a:buNone/>
            </a:pPr>
            <a:r>
              <a:rPr lang="en-US" sz="900" b="1" dirty="0">
                <a:solidFill>
                  <a:srgbClr val="0A1128"/>
                </a:solidFill>
                <a:latin typeface="Roboto Mono Bold" pitchFamily="34" charset="0"/>
                <a:ea typeface="Roboto Mono Bold" pitchFamily="34" charset="-122"/>
                <a:cs typeface="Roboto Mono Bold" pitchFamily="34" charset="-120"/>
              </a:rPr>
              <a:t>Noyau de traitement</a:t>
            </a:r>
            <a:endParaRPr lang="en-US" sz="900" dirty="0"/>
          </a:p>
        </p:txBody>
      </p:sp>
      <p:sp>
        <p:nvSpPr>
          <p:cNvPr id="16" name="Shape 13"/>
          <p:cNvSpPr/>
          <p:nvPr/>
        </p:nvSpPr>
        <p:spPr>
          <a:xfrm>
            <a:off x="3657600" y="2914985"/>
            <a:ext cx="1562109" cy="900113"/>
          </a:xfrm>
          <a:prstGeom prst="rect">
            <a:avLst/>
          </a:prstGeom>
          <a:solidFill>
            <a:srgbClr val="E0E7F1"/>
          </a:solidFill>
          <a:ln/>
        </p:spPr>
        <p:txBody>
          <a:bodyPr/>
          <a:lstStyle/>
          <a:p>
            <a:endParaRPr lang="en-US"/>
          </a:p>
        </p:txBody>
      </p:sp>
      <p:sp>
        <p:nvSpPr>
          <p:cNvPr id="17" name="Shape 14"/>
          <p:cNvSpPr/>
          <p:nvPr/>
        </p:nvSpPr>
        <p:spPr>
          <a:xfrm>
            <a:off x="3657600" y="2914985"/>
            <a:ext cx="28575" cy="900113"/>
          </a:xfrm>
          <a:prstGeom prst="rect">
            <a:avLst/>
          </a:prstGeom>
          <a:solidFill>
            <a:srgbClr val="FF4500"/>
          </a:solidFill>
          <a:ln/>
        </p:spPr>
        <p:txBody>
          <a:bodyPr/>
          <a:lstStyle/>
          <a:p>
            <a:endParaRPr lang="en-US"/>
          </a:p>
        </p:txBody>
      </p:sp>
      <p:sp>
        <p:nvSpPr>
          <p:cNvPr id="18" name="Text 15"/>
          <p:cNvSpPr/>
          <p:nvPr/>
        </p:nvSpPr>
        <p:spPr>
          <a:xfrm>
            <a:off x="3729038" y="2972135"/>
            <a:ext cx="1400175" cy="150019"/>
          </a:xfrm>
          <a:prstGeom prst="rect">
            <a:avLst/>
          </a:prstGeom>
          <a:noFill/>
          <a:ln/>
        </p:spPr>
        <p:txBody>
          <a:bodyPr wrap="square" lIns="0" tIns="0" rIns="0" bIns="0" rtlCol="0" anchor="t">
            <a:spAutoFit/>
          </a:bodyPr>
          <a:lstStyle/>
          <a:p>
            <a:pPr marL="0" indent="0" algn="l">
              <a:buNone/>
            </a:pPr>
            <a:r>
              <a:rPr lang="en-US" sz="800" b="1" dirty="0">
                <a:solidFill>
                  <a:srgbClr val="FF4500"/>
                </a:solidFill>
                <a:latin typeface="Roboto Mono Bold" pitchFamily="34" charset="0"/>
                <a:ea typeface="Roboto Mono Bold" pitchFamily="34" charset="-122"/>
                <a:cs typeface="Roboto Mono Bold" pitchFamily="34" charset="-120"/>
              </a:rPr>
              <a:t>3. Couche Données</a:t>
            </a:r>
            <a:endParaRPr lang="en-US" sz="800" dirty="0"/>
          </a:p>
        </p:txBody>
      </p:sp>
      <p:sp>
        <p:nvSpPr>
          <p:cNvPr id="19" name="Text 16"/>
          <p:cNvSpPr/>
          <p:nvPr/>
        </p:nvSpPr>
        <p:spPr>
          <a:xfrm>
            <a:off x="3729038" y="3157872"/>
            <a:ext cx="1400175" cy="450056"/>
          </a:xfrm>
          <a:prstGeom prst="rect">
            <a:avLst/>
          </a:prstGeom>
          <a:noFill/>
          <a:ln/>
        </p:spPr>
        <p:txBody>
          <a:bodyPr wrap="square" lIns="0" tIns="0" rIns="0" bIns="0" rtlCol="0" anchor="t">
            <a:spAutoFit/>
          </a:bodyPr>
          <a:lstStyle/>
          <a:p>
            <a:pPr marL="0" indent="0" algn="l">
              <a:lnSpc>
                <a:spcPct val="112000"/>
              </a:lnSpc>
              <a:buNone/>
            </a:pPr>
            <a:r>
              <a:rPr lang="en-US" sz="800" dirty="0">
                <a:solidFill>
                  <a:srgbClr val="0A1128"/>
                </a:solidFill>
                <a:latin typeface="Roboto Mono" pitchFamily="34" charset="0"/>
                <a:ea typeface="Roboto Mono" pitchFamily="34" charset="-122"/>
                <a:cs typeface="Roboto Mono" pitchFamily="34" charset="-120"/>
              </a:rPr>
              <a:t>Préparation des fichiers audio, labels et manifestes</a:t>
            </a:r>
            <a:endParaRPr lang="en-US" sz="800" dirty="0"/>
          </a:p>
        </p:txBody>
      </p:sp>
      <p:sp>
        <p:nvSpPr>
          <p:cNvPr id="20" name="Shape 17"/>
          <p:cNvSpPr/>
          <p:nvPr/>
        </p:nvSpPr>
        <p:spPr>
          <a:xfrm>
            <a:off x="5272088" y="2914985"/>
            <a:ext cx="1571625" cy="900113"/>
          </a:xfrm>
          <a:prstGeom prst="rect">
            <a:avLst/>
          </a:prstGeom>
          <a:solidFill>
            <a:srgbClr val="E0E7F1"/>
          </a:solidFill>
          <a:ln/>
        </p:spPr>
        <p:txBody>
          <a:bodyPr/>
          <a:lstStyle/>
          <a:p>
            <a:endParaRPr lang="en-US"/>
          </a:p>
        </p:txBody>
      </p:sp>
      <p:sp>
        <p:nvSpPr>
          <p:cNvPr id="21" name="Shape 18"/>
          <p:cNvSpPr/>
          <p:nvPr/>
        </p:nvSpPr>
        <p:spPr>
          <a:xfrm>
            <a:off x="5272088" y="2914985"/>
            <a:ext cx="28575" cy="900113"/>
          </a:xfrm>
          <a:prstGeom prst="rect">
            <a:avLst/>
          </a:prstGeom>
          <a:solidFill>
            <a:srgbClr val="FF4500"/>
          </a:solidFill>
          <a:ln/>
        </p:spPr>
        <p:txBody>
          <a:bodyPr/>
          <a:lstStyle/>
          <a:p>
            <a:endParaRPr lang="en-US"/>
          </a:p>
        </p:txBody>
      </p:sp>
      <p:sp>
        <p:nvSpPr>
          <p:cNvPr id="22" name="Text 19"/>
          <p:cNvSpPr/>
          <p:nvPr/>
        </p:nvSpPr>
        <p:spPr>
          <a:xfrm>
            <a:off x="5353041" y="2972135"/>
            <a:ext cx="1409691" cy="300038"/>
          </a:xfrm>
          <a:prstGeom prst="rect">
            <a:avLst/>
          </a:prstGeom>
          <a:noFill/>
          <a:ln/>
        </p:spPr>
        <p:txBody>
          <a:bodyPr wrap="square" lIns="0" tIns="0" rIns="0" bIns="0" rtlCol="0" anchor="t">
            <a:spAutoFit/>
          </a:bodyPr>
          <a:lstStyle/>
          <a:p>
            <a:pPr marL="0" indent="0" algn="l">
              <a:buNone/>
            </a:pPr>
            <a:r>
              <a:rPr lang="en-US" sz="800" b="1" dirty="0">
                <a:solidFill>
                  <a:srgbClr val="FF4500"/>
                </a:solidFill>
                <a:latin typeface="Roboto Mono Bold" pitchFamily="34" charset="0"/>
                <a:ea typeface="Roboto Mono Bold" pitchFamily="34" charset="-122"/>
                <a:cs typeface="Roboto Mono Bold" pitchFamily="34" charset="-120"/>
              </a:rPr>
              <a:t>4. Couche Apprentissage</a:t>
            </a:r>
            <a:endParaRPr lang="en-US" sz="800" dirty="0"/>
          </a:p>
        </p:txBody>
      </p:sp>
      <p:sp>
        <p:nvSpPr>
          <p:cNvPr id="23" name="Text 20"/>
          <p:cNvSpPr/>
          <p:nvPr/>
        </p:nvSpPr>
        <p:spPr>
          <a:xfrm>
            <a:off x="5353041" y="3175733"/>
            <a:ext cx="1409691" cy="450056"/>
          </a:xfrm>
          <a:prstGeom prst="rect">
            <a:avLst/>
          </a:prstGeom>
          <a:noFill/>
          <a:ln/>
        </p:spPr>
        <p:txBody>
          <a:bodyPr wrap="square" lIns="0" tIns="0" rIns="0" bIns="0" rtlCol="0" anchor="t">
            <a:spAutoFit/>
          </a:bodyPr>
          <a:lstStyle/>
          <a:p>
            <a:pPr marL="0" indent="0" algn="l">
              <a:lnSpc>
                <a:spcPct val="112000"/>
              </a:lnSpc>
              <a:buNone/>
            </a:pPr>
            <a:r>
              <a:rPr lang="en-US" sz="800" dirty="0">
                <a:solidFill>
                  <a:srgbClr val="0A1128"/>
                </a:solidFill>
                <a:latin typeface="Roboto Mono" pitchFamily="34" charset="0"/>
                <a:ea typeface="Roboto Mono" pitchFamily="34" charset="-122"/>
                <a:cs typeface="Roboto Mono" pitchFamily="34" charset="-120"/>
              </a:rPr>
              <a:t>Extraction des features (CQT), split et entraînement CNN</a:t>
            </a:r>
            <a:endParaRPr lang="en-US" sz="800" dirty="0"/>
          </a:p>
        </p:txBody>
      </p:sp>
      <p:sp>
        <p:nvSpPr>
          <p:cNvPr id="24" name="Shape 21"/>
          <p:cNvSpPr/>
          <p:nvPr/>
        </p:nvSpPr>
        <p:spPr>
          <a:xfrm>
            <a:off x="6905606" y="2914985"/>
            <a:ext cx="1581141" cy="900113"/>
          </a:xfrm>
          <a:prstGeom prst="rect">
            <a:avLst/>
          </a:prstGeom>
          <a:solidFill>
            <a:srgbClr val="E0E7F1"/>
          </a:solidFill>
          <a:ln/>
        </p:spPr>
        <p:txBody>
          <a:bodyPr/>
          <a:lstStyle/>
          <a:p>
            <a:endParaRPr lang="en-US"/>
          </a:p>
        </p:txBody>
      </p:sp>
      <p:sp>
        <p:nvSpPr>
          <p:cNvPr id="25" name="Shape 22"/>
          <p:cNvSpPr/>
          <p:nvPr/>
        </p:nvSpPr>
        <p:spPr>
          <a:xfrm>
            <a:off x="6905606" y="2914985"/>
            <a:ext cx="28575" cy="900113"/>
          </a:xfrm>
          <a:prstGeom prst="rect">
            <a:avLst/>
          </a:prstGeom>
          <a:solidFill>
            <a:srgbClr val="FF4500"/>
          </a:solidFill>
          <a:ln/>
        </p:spPr>
        <p:txBody>
          <a:bodyPr/>
          <a:lstStyle/>
          <a:p>
            <a:endParaRPr lang="en-US"/>
          </a:p>
        </p:txBody>
      </p:sp>
      <p:sp>
        <p:nvSpPr>
          <p:cNvPr id="26" name="Text 23"/>
          <p:cNvSpPr/>
          <p:nvPr/>
        </p:nvSpPr>
        <p:spPr>
          <a:xfrm>
            <a:off x="6996131" y="2972135"/>
            <a:ext cx="1419234" cy="150019"/>
          </a:xfrm>
          <a:prstGeom prst="rect">
            <a:avLst/>
          </a:prstGeom>
          <a:noFill/>
          <a:ln/>
        </p:spPr>
        <p:txBody>
          <a:bodyPr wrap="square" lIns="0" tIns="0" rIns="0" bIns="0" rtlCol="0" anchor="t">
            <a:spAutoFit/>
          </a:bodyPr>
          <a:lstStyle/>
          <a:p>
            <a:pPr marL="0" indent="0" algn="l">
              <a:buNone/>
            </a:pPr>
            <a:r>
              <a:rPr lang="en-US" sz="800" b="1" dirty="0">
                <a:solidFill>
                  <a:srgbClr val="FF4500"/>
                </a:solidFill>
                <a:latin typeface="Roboto Mono Bold" pitchFamily="34" charset="0"/>
                <a:ea typeface="Roboto Mono Bold" pitchFamily="34" charset="-122"/>
                <a:cs typeface="Roboto Mono Bold" pitchFamily="34" charset="-120"/>
              </a:rPr>
              <a:t>5. Couche Évaluation</a:t>
            </a:r>
            <a:endParaRPr lang="en-US" sz="800" dirty="0"/>
          </a:p>
        </p:txBody>
      </p:sp>
      <p:sp>
        <p:nvSpPr>
          <p:cNvPr id="27" name="Text 24"/>
          <p:cNvSpPr/>
          <p:nvPr/>
        </p:nvSpPr>
        <p:spPr>
          <a:xfrm>
            <a:off x="6996131" y="3157872"/>
            <a:ext cx="1419234" cy="405880"/>
          </a:xfrm>
          <a:prstGeom prst="rect">
            <a:avLst/>
          </a:prstGeom>
          <a:noFill/>
          <a:ln/>
        </p:spPr>
        <p:txBody>
          <a:bodyPr wrap="square" lIns="0" tIns="0" rIns="0" bIns="0" rtlCol="0" anchor="t">
            <a:spAutoFit/>
          </a:bodyPr>
          <a:lstStyle/>
          <a:p>
            <a:pPr marL="0" indent="0" algn="l">
              <a:lnSpc>
                <a:spcPct val="112000"/>
              </a:lnSpc>
              <a:buNone/>
            </a:pPr>
            <a:r>
              <a:rPr lang="en-US" sz="800" dirty="0">
                <a:solidFill>
                  <a:srgbClr val="0A1128"/>
                </a:solidFill>
                <a:latin typeface="Roboto Mono" pitchFamily="34" charset="0"/>
                <a:ea typeface="Roboto Mono" pitchFamily="34" charset="-122"/>
                <a:cs typeface="Roboto Mono" pitchFamily="34" charset="-120"/>
              </a:rPr>
              <a:t>Calcul des métriques et </a:t>
            </a:r>
            <a:r>
              <a:rPr lang="en-US" sz="800" dirty="0" err="1">
                <a:solidFill>
                  <a:srgbClr val="0A1128"/>
                </a:solidFill>
                <a:latin typeface="Roboto Mono" pitchFamily="34" charset="0"/>
                <a:ea typeface="Roboto Mono" pitchFamily="34" charset="-122"/>
                <a:cs typeface="Roboto Mono" pitchFamily="34" charset="-120"/>
              </a:rPr>
              <a:t>génération</a:t>
            </a:r>
            <a:r>
              <a:rPr lang="en-US" sz="800" dirty="0">
                <a:solidFill>
                  <a:srgbClr val="0A1128"/>
                </a:solidFill>
                <a:latin typeface="Roboto Mono" pitchFamily="34" charset="0"/>
                <a:ea typeface="Roboto Mono" pitchFamily="34" charset="-122"/>
                <a:cs typeface="Roboto Mono" pitchFamily="34" charset="-120"/>
              </a:rPr>
              <a:t> des </a:t>
            </a:r>
            <a:r>
              <a:rPr lang="en-US" sz="800" dirty="0" err="1">
                <a:solidFill>
                  <a:srgbClr val="0A1128"/>
                </a:solidFill>
                <a:latin typeface="Roboto Mono" pitchFamily="34" charset="0"/>
                <a:ea typeface="Roboto Mono" pitchFamily="34" charset="-122"/>
                <a:cs typeface="Roboto Mono" pitchFamily="34" charset="-120"/>
              </a:rPr>
              <a:t>modèles</a:t>
            </a:r>
            <a:r>
              <a:rPr lang="en-US" sz="800" dirty="0">
                <a:solidFill>
                  <a:srgbClr val="0A1128"/>
                </a:solidFill>
                <a:latin typeface="Roboto Mono" pitchFamily="34" charset="0"/>
                <a:ea typeface="Roboto Mono" pitchFamily="34" charset="-122"/>
                <a:cs typeface="Roboto Mono" pitchFamily="34" charset="-120"/>
              </a:rPr>
              <a:t> de prédictions</a:t>
            </a:r>
            <a:endParaRPr lang="en-US" sz="800" dirty="0"/>
          </a:p>
        </p:txBody>
      </p:sp>
      <p:sp>
        <p:nvSpPr>
          <p:cNvPr id="28" name="Text 25"/>
          <p:cNvSpPr/>
          <p:nvPr/>
        </p:nvSpPr>
        <p:spPr>
          <a:xfrm>
            <a:off x="3857625" y="3957972"/>
            <a:ext cx="4714875" cy="171450"/>
          </a:xfrm>
          <a:prstGeom prst="rect">
            <a:avLst/>
          </a:prstGeom>
          <a:noFill/>
          <a:ln/>
        </p:spPr>
        <p:txBody>
          <a:bodyPr wrap="none" lIns="0" tIns="0" rIns="0" bIns="0" rtlCol="0" anchor="t">
            <a:spAutoFit/>
          </a:bodyPr>
          <a:lstStyle/>
          <a:p>
            <a:pPr marL="0" indent="0" algn="l">
              <a:lnSpc>
                <a:spcPct val="80000"/>
              </a:lnSpc>
              <a:buNone/>
            </a:pPr>
            <a:r>
              <a:rPr lang="en-US" sz="1200" b="1" dirty="0">
                <a:solidFill>
                  <a:srgbClr val="0A1128"/>
                </a:solidFill>
                <a:latin typeface="Roboto Mono Bold" pitchFamily="34" charset="0"/>
                <a:ea typeface="Roboto Mono Bold" pitchFamily="34" charset="-122"/>
                <a:cs typeface="Roboto Mono Bold" pitchFamily="34" charset="-120"/>
              </a:rPr>
              <a:t>↓</a:t>
            </a:r>
            <a:endParaRPr lang="en-US" sz="1200" dirty="0"/>
          </a:p>
        </p:txBody>
      </p:sp>
      <p:sp>
        <p:nvSpPr>
          <p:cNvPr id="29" name="Shape 26"/>
          <p:cNvSpPr/>
          <p:nvPr/>
        </p:nvSpPr>
        <p:spPr>
          <a:xfrm>
            <a:off x="3571875" y="4186572"/>
            <a:ext cx="5000625" cy="526852"/>
          </a:xfrm>
          <a:prstGeom prst="rect">
            <a:avLst/>
          </a:prstGeom>
          <a:solidFill>
            <a:srgbClr val="E0E7F1"/>
          </a:solidFill>
          <a:ln w="18288">
            <a:solidFill>
              <a:srgbClr val="0A1128"/>
            </a:solidFill>
            <a:prstDash val="solid"/>
          </a:ln>
        </p:spPr>
        <p:txBody>
          <a:bodyPr/>
          <a:lstStyle/>
          <a:p>
            <a:endParaRPr lang="en-US"/>
          </a:p>
        </p:txBody>
      </p:sp>
      <p:sp>
        <p:nvSpPr>
          <p:cNvPr id="30" name="Text 27"/>
          <p:cNvSpPr/>
          <p:nvPr/>
        </p:nvSpPr>
        <p:spPr>
          <a:xfrm>
            <a:off x="3657600" y="4258010"/>
            <a:ext cx="4829175" cy="169664"/>
          </a:xfrm>
          <a:prstGeom prst="rect">
            <a:avLst/>
          </a:prstGeom>
          <a:noFill/>
          <a:ln/>
        </p:spPr>
        <p:txBody>
          <a:bodyPr wrap="square" lIns="0" tIns="0" rIns="0" bIns="0" rtlCol="0" anchor="t">
            <a:spAutoFit/>
          </a:bodyPr>
          <a:lstStyle/>
          <a:p>
            <a:pPr marL="0" indent="0" algn="l">
              <a:buNone/>
            </a:pPr>
            <a:r>
              <a:rPr lang="en-US" sz="900" b="1" dirty="0">
                <a:solidFill>
                  <a:srgbClr val="FF4500"/>
                </a:solidFill>
                <a:latin typeface="Roboto Mono Bold" pitchFamily="34" charset="0"/>
                <a:ea typeface="Roboto Mono Bold" pitchFamily="34" charset="-122"/>
                <a:cs typeface="Roboto Mono Bold" pitchFamily="34" charset="-120"/>
              </a:rPr>
              <a:t>6. Artefacts</a:t>
            </a:r>
            <a:endParaRPr lang="en-US" sz="900" dirty="0"/>
          </a:p>
        </p:txBody>
      </p:sp>
      <p:sp>
        <p:nvSpPr>
          <p:cNvPr id="31" name="Text 28"/>
          <p:cNvSpPr/>
          <p:nvPr/>
        </p:nvSpPr>
        <p:spPr>
          <a:xfrm>
            <a:off x="3657600" y="4463393"/>
            <a:ext cx="4829175" cy="150019"/>
          </a:xfrm>
          <a:prstGeom prst="rect">
            <a:avLst/>
          </a:prstGeom>
          <a:noFill/>
          <a:ln/>
        </p:spPr>
        <p:txBody>
          <a:bodyPr wrap="none" lIns="0" tIns="0" rIns="0" bIns="0" rtlCol="0" anchor="t">
            <a:spAutoFit/>
          </a:bodyPr>
          <a:lstStyle/>
          <a:p>
            <a:pPr marL="0" indent="0" algn="l">
              <a:lnSpc>
                <a:spcPct val="112000"/>
              </a:lnSpc>
              <a:buNone/>
            </a:pPr>
            <a:r>
              <a:rPr lang="en-US" sz="800" dirty="0">
                <a:solidFill>
                  <a:srgbClr val="0A1128"/>
                </a:solidFill>
                <a:latin typeface="Roboto Mono" pitchFamily="34" charset="0"/>
                <a:ea typeface="Roboto Mono" pitchFamily="34" charset="-122"/>
                <a:cs typeface="Roboto Mono" pitchFamily="34" charset="-120"/>
              </a:rPr>
              <a:t>Modèle exporté, logs d'exécution et graphiques réutilisables</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ext 0"/>
          <p:cNvSpPr/>
          <p:nvPr/>
        </p:nvSpPr>
        <p:spPr>
          <a:xfrm>
            <a:off x="571500" y="357188"/>
            <a:ext cx="8001000" cy="377168"/>
          </a:xfrm>
          <a:prstGeom prst="rect">
            <a:avLst/>
          </a:prstGeom>
          <a:noFill/>
          <a:ln/>
        </p:spPr>
        <p:txBody>
          <a:bodyPr wrap="none" lIns="0" tIns="0" rIns="0" bIns="0" rtlCol="0" anchor="t">
            <a:spAutoFit/>
          </a:bodyPr>
          <a:lstStyle/>
          <a:p>
            <a:pPr marL="0" indent="0" algn="l">
              <a:lnSpc>
                <a:spcPct val="96000"/>
              </a:lnSpc>
              <a:buNone/>
            </a:pPr>
            <a:r>
              <a:rPr lang="en-US" sz="2250" b="1" dirty="0">
                <a:solidFill>
                  <a:srgbClr val="0A1128"/>
                </a:solidFill>
                <a:latin typeface="Playfair Display Black" pitchFamily="34" charset="0"/>
                <a:ea typeface="Playfair Display Black" pitchFamily="34" charset="-122"/>
                <a:cs typeface="Playfair Display Black" pitchFamily="34" charset="-120"/>
              </a:rPr>
              <a:t>Expérimentation 1 : MLP Baseline</a:t>
            </a:r>
            <a:endParaRPr lang="en-US" sz="2250" dirty="0"/>
          </a:p>
        </p:txBody>
      </p:sp>
      <p:sp>
        <p:nvSpPr>
          <p:cNvPr id="4" name="Text 1"/>
          <p:cNvSpPr/>
          <p:nvPr/>
        </p:nvSpPr>
        <p:spPr>
          <a:xfrm>
            <a:off x="571500" y="1141549"/>
            <a:ext cx="4543425" cy="226814"/>
          </a:xfrm>
          <a:prstGeom prst="rect">
            <a:avLst/>
          </a:prstGeom>
          <a:noFill/>
          <a:ln/>
        </p:spPr>
        <p:txBody>
          <a:bodyPr wrap="square" lIns="0" tIns="0" rIns="0" bIns="0" rtlCol="0" anchor="t">
            <a:spAutoFit/>
          </a:bodyPr>
          <a:lstStyle/>
          <a:p>
            <a:pPr marL="0" indent="0" algn="l">
              <a:buNone/>
            </a:pPr>
            <a:r>
              <a:rPr lang="en-US" sz="1200" b="1" dirty="0">
                <a:solidFill>
                  <a:srgbClr val="FF4500"/>
                </a:solidFill>
                <a:latin typeface="Roboto Mono Bold" pitchFamily="34" charset="0"/>
                <a:ea typeface="Roboto Mono Bold" pitchFamily="34" charset="-122"/>
                <a:cs typeface="Roboto Mono Bold" pitchFamily="34" charset="-120"/>
              </a:rPr>
              <a:t>ARCHITECTURE &amp; HYPERPARAMÈTRES</a:t>
            </a:r>
            <a:endParaRPr lang="en-US" sz="1200" dirty="0"/>
          </a:p>
        </p:txBody>
      </p:sp>
      <p:sp>
        <p:nvSpPr>
          <p:cNvPr id="5" name="Shape 2"/>
          <p:cNvSpPr/>
          <p:nvPr/>
        </p:nvSpPr>
        <p:spPr>
          <a:xfrm>
            <a:off x="571500" y="1511238"/>
            <a:ext cx="2044536" cy="321469"/>
          </a:xfrm>
          <a:prstGeom prst="rect">
            <a:avLst/>
          </a:prstGeom>
          <a:solidFill>
            <a:srgbClr val="0A1128"/>
          </a:solidFill>
          <a:ln/>
        </p:spPr>
        <p:txBody>
          <a:bodyPr/>
          <a:lstStyle/>
          <a:p>
            <a:endParaRPr lang="en-US"/>
          </a:p>
        </p:txBody>
      </p:sp>
      <p:sp>
        <p:nvSpPr>
          <p:cNvPr id="6" name="Text 3"/>
          <p:cNvSpPr/>
          <p:nvPr/>
        </p:nvSpPr>
        <p:spPr>
          <a:xfrm>
            <a:off x="571500" y="1511238"/>
            <a:ext cx="2044536" cy="321469"/>
          </a:xfrm>
          <a:prstGeom prst="rect">
            <a:avLst/>
          </a:prstGeom>
          <a:noFill/>
          <a:ln/>
        </p:spPr>
        <p:txBody>
          <a:bodyPr wrap="square" lIns="127508" tIns="102108" rIns="127508" bIns="102108" rtlCol="0" anchor="ctr">
            <a:spAutoFit/>
          </a:bodyPr>
          <a:lstStyle/>
          <a:p>
            <a:pPr marL="0" indent="0" algn="l">
              <a:buNone/>
            </a:pPr>
            <a:r>
              <a:rPr lang="en-US" sz="800" b="1" dirty="0">
                <a:solidFill>
                  <a:srgbClr val="FFFFFF"/>
                </a:solidFill>
                <a:latin typeface="Roboto Mono Bold" pitchFamily="34" charset="0"/>
                <a:ea typeface="Roboto Mono Bold" pitchFamily="34" charset="-122"/>
                <a:cs typeface="Roboto Mono Bold" pitchFamily="34" charset="-120"/>
              </a:rPr>
              <a:t>Paramètre</a:t>
            </a:r>
            <a:endParaRPr lang="en-US" sz="800" dirty="0"/>
          </a:p>
        </p:txBody>
      </p:sp>
      <p:sp>
        <p:nvSpPr>
          <p:cNvPr id="7" name="Shape 4"/>
          <p:cNvSpPr/>
          <p:nvPr/>
        </p:nvSpPr>
        <p:spPr>
          <a:xfrm>
            <a:off x="2616036" y="1511238"/>
            <a:ext cx="2498889" cy="321469"/>
          </a:xfrm>
          <a:prstGeom prst="rect">
            <a:avLst/>
          </a:prstGeom>
          <a:solidFill>
            <a:srgbClr val="0A1128"/>
          </a:solidFill>
          <a:ln/>
        </p:spPr>
        <p:txBody>
          <a:bodyPr/>
          <a:lstStyle/>
          <a:p>
            <a:endParaRPr lang="en-US"/>
          </a:p>
        </p:txBody>
      </p:sp>
      <p:sp>
        <p:nvSpPr>
          <p:cNvPr id="8" name="Text 5"/>
          <p:cNvSpPr/>
          <p:nvPr/>
        </p:nvSpPr>
        <p:spPr>
          <a:xfrm>
            <a:off x="2616036" y="1511238"/>
            <a:ext cx="2498889" cy="321469"/>
          </a:xfrm>
          <a:prstGeom prst="rect">
            <a:avLst/>
          </a:prstGeom>
          <a:noFill/>
          <a:ln/>
        </p:spPr>
        <p:txBody>
          <a:bodyPr wrap="square" lIns="127508" tIns="102108" rIns="127508" bIns="102108" rtlCol="0" anchor="ctr">
            <a:spAutoFit/>
          </a:bodyPr>
          <a:lstStyle/>
          <a:p>
            <a:pPr marL="0" indent="0" algn="l">
              <a:buNone/>
            </a:pPr>
            <a:r>
              <a:rPr lang="en-US" sz="800" b="1" dirty="0">
                <a:solidFill>
                  <a:srgbClr val="FFFFFF"/>
                </a:solidFill>
                <a:latin typeface="Roboto Mono Bold" pitchFamily="34" charset="0"/>
                <a:ea typeface="Roboto Mono Bold" pitchFamily="34" charset="-122"/>
                <a:cs typeface="Roboto Mono Bold" pitchFamily="34" charset="-120"/>
              </a:rPr>
              <a:t>Valeur / Choix</a:t>
            </a:r>
            <a:endParaRPr lang="en-US" sz="800" dirty="0"/>
          </a:p>
        </p:txBody>
      </p:sp>
      <p:sp>
        <p:nvSpPr>
          <p:cNvPr id="9" name="Text 6"/>
          <p:cNvSpPr/>
          <p:nvPr/>
        </p:nvSpPr>
        <p:spPr>
          <a:xfrm>
            <a:off x="571500" y="1832707"/>
            <a:ext cx="2044536" cy="475059"/>
          </a:xfrm>
          <a:prstGeom prst="rect">
            <a:avLst/>
          </a:prstGeom>
          <a:noFill/>
          <a:ln/>
        </p:spPr>
        <p:txBody>
          <a:bodyPr wrap="square" lIns="127508" tIns="102108" rIns="127508" bIns="102108" rtlCol="0" anchor="ctr">
            <a:spAutoFit/>
          </a:bodyPr>
          <a:lstStyle/>
          <a:p>
            <a:pPr marL="0" indent="0" algn="l">
              <a:buNone/>
            </a:pPr>
            <a:r>
              <a:rPr lang="en-US" sz="800" b="1" dirty="0">
                <a:solidFill>
                  <a:srgbClr val="0A1128"/>
                </a:solidFill>
                <a:latin typeface="Roboto Mono Bold" pitchFamily="34" charset="0"/>
                <a:ea typeface="Roboto Mono Bold" pitchFamily="34" charset="-122"/>
                <a:cs typeface="Roboto Mono Bold" pitchFamily="34" charset="-120"/>
              </a:rPr>
              <a:t>Inputs</a:t>
            </a:r>
            <a:endParaRPr lang="en-US" sz="800" dirty="0"/>
          </a:p>
        </p:txBody>
      </p:sp>
      <p:sp>
        <p:nvSpPr>
          <p:cNvPr id="10" name="Text 7"/>
          <p:cNvSpPr/>
          <p:nvPr/>
        </p:nvSpPr>
        <p:spPr>
          <a:xfrm>
            <a:off x="2616036" y="1832707"/>
            <a:ext cx="2498889" cy="475059"/>
          </a:xfrm>
          <a:prstGeom prst="rect">
            <a:avLst/>
          </a:prstGeom>
          <a:noFill/>
          <a:ln/>
        </p:spPr>
        <p:txBody>
          <a:bodyPr wrap="square" lIns="127508" tIns="102108" rIns="127508" bIns="102108" rtlCol="0" anchor="ctr">
            <a:spAutoFit/>
          </a:bodyPr>
          <a:lstStyle/>
          <a:p>
            <a:pPr marL="0" indent="0" algn="l">
              <a:buNone/>
            </a:pPr>
            <a:r>
              <a:rPr lang="en-US" sz="850" dirty="0">
                <a:solidFill>
                  <a:srgbClr val="0A1128"/>
                </a:solidFill>
                <a:latin typeface="Roboto Mono" pitchFamily="34" charset="0"/>
                <a:ea typeface="Roboto Mono" pitchFamily="34" charset="-122"/>
                <a:cs typeface="Roboto Mono" pitchFamily="34" charset="-120"/>
              </a:rPr>
              <a:t>Tenseur 2D aplati (Flatten) en vecteur 1D</a:t>
            </a:r>
            <a:endParaRPr lang="en-US" sz="850" dirty="0"/>
          </a:p>
        </p:txBody>
      </p:sp>
      <p:sp>
        <p:nvSpPr>
          <p:cNvPr id="11" name="Text 8"/>
          <p:cNvSpPr/>
          <p:nvPr/>
        </p:nvSpPr>
        <p:spPr>
          <a:xfrm>
            <a:off x="571500" y="2307766"/>
            <a:ext cx="2044536" cy="478631"/>
          </a:xfrm>
          <a:prstGeom prst="rect">
            <a:avLst/>
          </a:prstGeom>
          <a:noFill/>
          <a:ln/>
        </p:spPr>
        <p:txBody>
          <a:bodyPr wrap="square" lIns="127508" tIns="102108" rIns="127508" bIns="102108" rtlCol="0" anchor="ctr">
            <a:spAutoFit/>
          </a:bodyPr>
          <a:lstStyle/>
          <a:p>
            <a:pPr marL="0" indent="0" algn="l">
              <a:buNone/>
            </a:pPr>
            <a:r>
              <a:rPr lang="en-US" sz="800" b="1" dirty="0">
                <a:solidFill>
                  <a:srgbClr val="0A1128"/>
                </a:solidFill>
                <a:latin typeface="Roboto Mono Bold" pitchFamily="34" charset="0"/>
                <a:ea typeface="Roboto Mono Bold" pitchFamily="34" charset="-122"/>
                <a:cs typeface="Roboto Mono Bold" pitchFamily="34" charset="-120"/>
              </a:rPr>
              <a:t>Couches cachées</a:t>
            </a:r>
            <a:endParaRPr lang="en-US" sz="800" dirty="0"/>
          </a:p>
        </p:txBody>
      </p:sp>
      <p:sp>
        <p:nvSpPr>
          <p:cNvPr id="12" name="Text 9"/>
          <p:cNvSpPr/>
          <p:nvPr/>
        </p:nvSpPr>
        <p:spPr>
          <a:xfrm>
            <a:off x="2616036" y="2307766"/>
            <a:ext cx="2498889" cy="478631"/>
          </a:xfrm>
          <a:prstGeom prst="rect">
            <a:avLst/>
          </a:prstGeom>
          <a:noFill/>
          <a:ln/>
        </p:spPr>
        <p:txBody>
          <a:bodyPr wrap="square" lIns="127508" tIns="102108" rIns="127508" bIns="102108" rtlCol="0" anchor="ctr">
            <a:spAutoFit/>
          </a:bodyPr>
          <a:lstStyle/>
          <a:p>
            <a:pPr marL="0" indent="0" algn="l">
              <a:buNone/>
            </a:pPr>
            <a:r>
              <a:rPr lang="en-US" sz="850" dirty="0">
                <a:solidFill>
                  <a:srgbClr val="0A1128"/>
                </a:solidFill>
                <a:latin typeface="Roboto Mono" pitchFamily="34" charset="0"/>
                <a:ea typeface="Roboto Mono" pitchFamily="34" charset="-122"/>
                <a:cs typeface="Roboto Mono" pitchFamily="34" charset="-120"/>
              </a:rPr>
              <a:t>2 couches denses (Fully Connected)</a:t>
            </a:r>
            <a:endParaRPr lang="en-US" sz="850" dirty="0"/>
          </a:p>
        </p:txBody>
      </p:sp>
      <p:sp>
        <p:nvSpPr>
          <p:cNvPr id="13" name="Text 10"/>
          <p:cNvSpPr/>
          <p:nvPr/>
        </p:nvSpPr>
        <p:spPr>
          <a:xfrm>
            <a:off x="571500" y="2786397"/>
            <a:ext cx="2044536" cy="328613"/>
          </a:xfrm>
          <a:prstGeom prst="rect">
            <a:avLst/>
          </a:prstGeom>
          <a:noFill/>
          <a:ln/>
        </p:spPr>
        <p:txBody>
          <a:bodyPr wrap="square" lIns="127508" tIns="102108" rIns="127508" bIns="102108" rtlCol="0" anchor="ctr">
            <a:spAutoFit/>
          </a:bodyPr>
          <a:lstStyle/>
          <a:p>
            <a:pPr marL="0" indent="0" algn="l">
              <a:buNone/>
            </a:pPr>
            <a:r>
              <a:rPr lang="en-US" sz="800" b="1" dirty="0">
                <a:solidFill>
                  <a:srgbClr val="0A1128"/>
                </a:solidFill>
                <a:latin typeface="Roboto Mono Bold" pitchFamily="34" charset="0"/>
                <a:ea typeface="Roboto Mono Bold" pitchFamily="34" charset="-122"/>
                <a:cs typeface="Roboto Mono Bold" pitchFamily="34" charset="-120"/>
              </a:rPr>
              <a:t>Neurones par couche</a:t>
            </a:r>
            <a:endParaRPr lang="en-US" sz="800" dirty="0"/>
          </a:p>
        </p:txBody>
      </p:sp>
      <p:sp>
        <p:nvSpPr>
          <p:cNvPr id="14" name="Text 11"/>
          <p:cNvSpPr/>
          <p:nvPr/>
        </p:nvSpPr>
        <p:spPr>
          <a:xfrm>
            <a:off x="2616036" y="2786397"/>
            <a:ext cx="2498889" cy="328613"/>
          </a:xfrm>
          <a:prstGeom prst="rect">
            <a:avLst/>
          </a:prstGeom>
          <a:noFill/>
          <a:ln/>
        </p:spPr>
        <p:txBody>
          <a:bodyPr wrap="square" lIns="127508" tIns="102108" rIns="127508" bIns="102108" rtlCol="0" anchor="ctr">
            <a:spAutoFit/>
          </a:bodyPr>
          <a:lstStyle/>
          <a:p>
            <a:pPr marL="0" indent="0" algn="l">
              <a:buNone/>
            </a:pPr>
            <a:r>
              <a:rPr lang="en-US" sz="850" dirty="0">
                <a:solidFill>
                  <a:srgbClr val="0A1128"/>
                </a:solidFill>
                <a:latin typeface="Roboto Mono" pitchFamily="34" charset="0"/>
                <a:ea typeface="Roboto Mono" pitchFamily="34" charset="-122"/>
                <a:cs typeface="Roboto Mono" pitchFamily="34" charset="-120"/>
              </a:rPr>
              <a:t>256 (Couche 1), 128 (Couche 2)</a:t>
            </a:r>
            <a:endParaRPr lang="en-US" sz="850" dirty="0"/>
          </a:p>
        </p:txBody>
      </p:sp>
      <p:sp>
        <p:nvSpPr>
          <p:cNvPr id="15" name="Text 12"/>
          <p:cNvSpPr/>
          <p:nvPr/>
        </p:nvSpPr>
        <p:spPr>
          <a:xfrm>
            <a:off x="571500" y="3115010"/>
            <a:ext cx="2044536" cy="328613"/>
          </a:xfrm>
          <a:prstGeom prst="rect">
            <a:avLst/>
          </a:prstGeom>
          <a:noFill/>
          <a:ln/>
        </p:spPr>
        <p:txBody>
          <a:bodyPr wrap="square" lIns="127508" tIns="102108" rIns="127508" bIns="102108" rtlCol="0" anchor="ctr">
            <a:spAutoFit/>
          </a:bodyPr>
          <a:lstStyle/>
          <a:p>
            <a:pPr marL="0" indent="0" algn="l">
              <a:buNone/>
            </a:pPr>
            <a:r>
              <a:rPr lang="en-US" sz="800" b="1" dirty="0">
                <a:solidFill>
                  <a:srgbClr val="0A1128"/>
                </a:solidFill>
                <a:latin typeface="Roboto Mono Bold" pitchFamily="34" charset="0"/>
                <a:ea typeface="Roboto Mono Bold" pitchFamily="34" charset="-122"/>
                <a:cs typeface="Roboto Mono Bold" pitchFamily="34" charset="-120"/>
              </a:rPr>
              <a:t>Fonction d'activation</a:t>
            </a:r>
            <a:endParaRPr lang="en-US" sz="800" dirty="0"/>
          </a:p>
        </p:txBody>
      </p:sp>
      <p:sp>
        <p:nvSpPr>
          <p:cNvPr id="16" name="Text 13"/>
          <p:cNvSpPr/>
          <p:nvPr/>
        </p:nvSpPr>
        <p:spPr>
          <a:xfrm>
            <a:off x="2616036" y="3115010"/>
            <a:ext cx="2498889" cy="328613"/>
          </a:xfrm>
          <a:prstGeom prst="rect">
            <a:avLst/>
          </a:prstGeom>
          <a:noFill/>
          <a:ln/>
        </p:spPr>
        <p:txBody>
          <a:bodyPr wrap="square" lIns="127508" tIns="102108" rIns="127508" bIns="102108" rtlCol="0" anchor="ctr">
            <a:spAutoFit/>
          </a:bodyPr>
          <a:lstStyle/>
          <a:p>
            <a:pPr marL="0" indent="0" algn="l">
              <a:buNone/>
            </a:pPr>
            <a:r>
              <a:rPr lang="en-US" sz="850" dirty="0">
                <a:solidFill>
                  <a:srgbClr val="0A1128"/>
                </a:solidFill>
                <a:latin typeface="Roboto Mono" pitchFamily="34" charset="0"/>
                <a:ea typeface="Roboto Mono" pitchFamily="34" charset="-122"/>
                <a:cs typeface="Roboto Mono" pitchFamily="34" charset="-120"/>
              </a:rPr>
              <a:t>ReLU (Rectified Linear Unit)</a:t>
            </a:r>
            <a:endParaRPr lang="en-US" sz="850" dirty="0"/>
          </a:p>
        </p:txBody>
      </p:sp>
      <p:sp>
        <p:nvSpPr>
          <p:cNvPr id="17" name="Text 14"/>
          <p:cNvSpPr/>
          <p:nvPr/>
        </p:nvSpPr>
        <p:spPr>
          <a:xfrm>
            <a:off x="571500" y="3443622"/>
            <a:ext cx="2044536" cy="328613"/>
          </a:xfrm>
          <a:prstGeom prst="rect">
            <a:avLst/>
          </a:prstGeom>
          <a:noFill/>
          <a:ln/>
        </p:spPr>
        <p:txBody>
          <a:bodyPr wrap="square" lIns="127508" tIns="102108" rIns="127508" bIns="102108" rtlCol="0" anchor="ctr">
            <a:spAutoFit/>
          </a:bodyPr>
          <a:lstStyle/>
          <a:p>
            <a:pPr marL="0" indent="0" algn="l">
              <a:buNone/>
            </a:pPr>
            <a:r>
              <a:rPr lang="en-US" sz="800" b="1" dirty="0">
                <a:solidFill>
                  <a:srgbClr val="0A1128"/>
                </a:solidFill>
                <a:latin typeface="Roboto Mono Bold" pitchFamily="34" charset="0"/>
                <a:ea typeface="Roboto Mono Bold" pitchFamily="34" charset="-122"/>
                <a:cs typeface="Roboto Mono Bold" pitchFamily="34" charset="-120"/>
              </a:rPr>
              <a:t>Initialisation</a:t>
            </a:r>
            <a:endParaRPr lang="en-US" sz="800" dirty="0"/>
          </a:p>
        </p:txBody>
      </p:sp>
      <p:sp>
        <p:nvSpPr>
          <p:cNvPr id="18" name="Text 15"/>
          <p:cNvSpPr/>
          <p:nvPr/>
        </p:nvSpPr>
        <p:spPr>
          <a:xfrm>
            <a:off x="2616036" y="3439421"/>
            <a:ext cx="2498889" cy="337015"/>
          </a:xfrm>
          <a:prstGeom prst="rect">
            <a:avLst/>
          </a:prstGeom>
          <a:noFill/>
          <a:ln/>
        </p:spPr>
        <p:txBody>
          <a:bodyPr wrap="square" lIns="127508" tIns="102108" rIns="127508" bIns="102108" rtlCol="0" anchor="ctr">
            <a:spAutoFit/>
          </a:bodyPr>
          <a:lstStyle/>
          <a:p>
            <a:pPr marL="0" indent="0" algn="l">
              <a:buNone/>
            </a:pPr>
            <a:r>
              <a:rPr lang="en-US" sz="850" dirty="0" err="1">
                <a:solidFill>
                  <a:srgbClr val="0A1128"/>
                </a:solidFill>
                <a:latin typeface="Roboto Mono" pitchFamily="34" charset="0"/>
                <a:ea typeface="Roboto Mono" pitchFamily="34" charset="-122"/>
                <a:cs typeface="Roboto Mono" pitchFamily="34" charset="-120"/>
              </a:rPr>
              <a:t>Glorot</a:t>
            </a:r>
            <a:r>
              <a:rPr lang="en-US" sz="850" dirty="0">
                <a:solidFill>
                  <a:srgbClr val="0A1128"/>
                </a:solidFill>
                <a:latin typeface="Roboto Mono" pitchFamily="34" charset="0"/>
                <a:ea typeface="Roboto Mono" pitchFamily="34" charset="-122"/>
                <a:cs typeface="Roboto Mono" pitchFamily="34" charset="-120"/>
              </a:rPr>
              <a:t> Uniform</a:t>
            </a:r>
            <a:endParaRPr lang="en-US" sz="850" dirty="0"/>
          </a:p>
        </p:txBody>
      </p:sp>
      <p:sp>
        <p:nvSpPr>
          <p:cNvPr id="19" name="Text 16"/>
          <p:cNvSpPr/>
          <p:nvPr/>
        </p:nvSpPr>
        <p:spPr>
          <a:xfrm>
            <a:off x="571500" y="3772235"/>
            <a:ext cx="2044536" cy="328613"/>
          </a:xfrm>
          <a:prstGeom prst="rect">
            <a:avLst/>
          </a:prstGeom>
          <a:noFill/>
          <a:ln/>
        </p:spPr>
        <p:txBody>
          <a:bodyPr wrap="square" lIns="127508" tIns="102108" rIns="127508" bIns="102108" rtlCol="0" anchor="ctr">
            <a:spAutoFit/>
          </a:bodyPr>
          <a:lstStyle/>
          <a:p>
            <a:pPr marL="0" indent="0" algn="l">
              <a:buNone/>
            </a:pPr>
            <a:r>
              <a:rPr lang="en-US" sz="800" b="1" dirty="0">
                <a:solidFill>
                  <a:srgbClr val="0A1128"/>
                </a:solidFill>
                <a:latin typeface="Roboto Mono Bold" pitchFamily="34" charset="0"/>
                <a:ea typeface="Roboto Mono Bold" pitchFamily="34" charset="-122"/>
                <a:cs typeface="Roboto Mono Bold" pitchFamily="34" charset="-120"/>
              </a:rPr>
              <a:t>Optimiseur &amp; LR</a:t>
            </a:r>
            <a:endParaRPr lang="en-US" sz="800" dirty="0"/>
          </a:p>
        </p:txBody>
      </p:sp>
      <p:sp>
        <p:nvSpPr>
          <p:cNvPr id="20" name="Text 17"/>
          <p:cNvSpPr/>
          <p:nvPr/>
        </p:nvSpPr>
        <p:spPr>
          <a:xfrm>
            <a:off x="2616036" y="3772235"/>
            <a:ext cx="2498889" cy="328613"/>
          </a:xfrm>
          <a:prstGeom prst="rect">
            <a:avLst/>
          </a:prstGeom>
          <a:noFill/>
          <a:ln/>
        </p:spPr>
        <p:txBody>
          <a:bodyPr wrap="square" lIns="127508" tIns="102108" rIns="127508" bIns="102108" rtlCol="0" anchor="ctr">
            <a:spAutoFit/>
          </a:bodyPr>
          <a:lstStyle/>
          <a:p>
            <a:pPr marL="0" indent="0" algn="l">
              <a:buNone/>
            </a:pPr>
            <a:r>
              <a:rPr lang="en-US" sz="850" dirty="0">
                <a:solidFill>
                  <a:srgbClr val="0A1128"/>
                </a:solidFill>
                <a:latin typeface="Roboto Mono" pitchFamily="34" charset="0"/>
                <a:ea typeface="Roboto Mono" pitchFamily="34" charset="-122"/>
                <a:cs typeface="Roboto Mono" pitchFamily="34" charset="-120"/>
              </a:rPr>
              <a:t>Adam / Learning Rate = 0.001</a:t>
            </a:r>
            <a:endParaRPr lang="en-US" sz="850" dirty="0"/>
          </a:p>
        </p:txBody>
      </p:sp>
      <p:sp>
        <p:nvSpPr>
          <p:cNvPr id="21" name="Text 18"/>
          <p:cNvSpPr/>
          <p:nvPr/>
        </p:nvSpPr>
        <p:spPr>
          <a:xfrm>
            <a:off x="571500" y="4100847"/>
            <a:ext cx="2044536" cy="328613"/>
          </a:xfrm>
          <a:prstGeom prst="rect">
            <a:avLst/>
          </a:prstGeom>
          <a:noFill/>
          <a:ln/>
        </p:spPr>
        <p:txBody>
          <a:bodyPr wrap="square" lIns="127508" tIns="102108" rIns="127508" bIns="102108" rtlCol="0" anchor="ctr">
            <a:spAutoFit/>
          </a:bodyPr>
          <a:lstStyle/>
          <a:p>
            <a:pPr marL="0" indent="0" algn="l">
              <a:buNone/>
            </a:pPr>
            <a:r>
              <a:rPr lang="en-US" sz="800" b="1" dirty="0">
                <a:solidFill>
                  <a:srgbClr val="0A1128"/>
                </a:solidFill>
                <a:latin typeface="Roboto Mono Bold" pitchFamily="34" charset="0"/>
                <a:ea typeface="Roboto Mono Bold" pitchFamily="34" charset="-122"/>
                <a:cs typeface="Roboto Mono Bold" pitchFamily="34" charset="-120"/>
              </a:rPr>
              <a:t>Fonction de perte</a:t>
            </a:r>
            <a:endParaRPr lang="en-US" sz="800" dirty="0"/>
          </a:p>
        </p:txBody>
      </p:sp>
      <p:sp>
        <p:nvSpPr>
          <p:cNvPr id="22" name="Text 19"/>
          <p:cNvSpPr/>
          <p:nvPr/>
        </p:nvSpPr>
        <p:spPr>
          <a:xfrm>
            <a:off x="2616036" y="4100847"/>
            <a:ext cx="2498889" cy="328613"/>
          </a:xfrm>
          <a:prstGeom prst="rect">
            <a:avLst/>
          </a:prstGeom>
          <a:noFill/>
          <a:ln/>
        </p:spPr>
        <p:txBody>
          <a:bodyPr wrap="square" lIns="127508" tIns="102108" rIns="127508" bIns="102108" rtlCol="0" anchor="ctr">
            <a:spAutoFit/>
          </a:bodyPr>
          <a:lstStyle/>
          <a:p>
            <a:pPr marL="0" indent="0" algn="l">
              <a:buNone/>
            </a:pPr>
            <a:r>
              <a:rPr lang="en-US" sz="850" dirty="0">
                <a:solidFill>
                  <a:srgbClr val="0A1128"/>
                </a:solidFill>
                <a:latin typeface="Roboto Mono" pitchFamily="34" charset="0"/>
                <a:ea typeface="Roboto Mono" pitchFamily="34" charset="-122"/>
                <a:cs typeface="Roboto Mono" pitchFamily="34" charset="-120"/>
              </a:rPr>
              <a:t>Sparse Categorical Crossentropy</a:t>
            </a:r>
            <a:endParaRPr lang="en-US" sz="850" dirty="0"/>
          </a:p>
        </p:txBody>
      </p:sp>
      <p:sp>
        <p:nvSpPr>
          <p:cNvPr id="23" name="Text 20"/>
          <p:cNvSpPr/>
          <p:nvPr/>
        </p:nvSpPr>
        <p:spPr>
          <a:xfrm>
            <a:off x="571500" y="4429460"/>
            <a:ext cx="2044536" cy="478631"/>
          </a:xfrm>
          <a:prstGeom prst="rect">
            <a:avLst/>
          </a:prstGeom>
          <a:noFill/>
          <a:ln/>
        </p:spPr>
        <p:txBody>
          <a:bodyPr wrap="square" lIns="127508" tIns="102108" rIns="127508" bIns="102108" rtlCol="0" anchor="ctr">
            <a:spAutoFit/>
          </a:bodyPr>
          <a:lstStyle/>
          <a:p>
            <a:pPr marL="0" indent="0" algn="l">
              <a:buNone/>
            </a:pPr>
            <a:r>
              <a:rPr lang="en-US" sz="800" b="1" dirty="0">
                <a:solidFill>
                  <a:srgbClr val="0A1128"/>
                </a:solidFill>
                <a:latin typeface="Roboto Mono Bold" pitchFamily="34" charset="0"/>
                <a:ea typeface="Roboto Mono Bold" pitchFamily="34" charset="-122"/>
                <a:cs typeface="Roboto Mono Bold" pitchFamily="34" charset="-120"/>
              </a:rPr>
              <a:t>Outputs</a:t>
            </a:r>
            <a:endParaRPr lang="en-US" sz="800" dirty="0"/>
          </a:p>
        </p:txBody>
      </p:sp>
      <p:sp>
        <p:nvSpPr>
          <p:cNvPr id="24" name="Text 21"/>
          <p:cNvSpPr/>
          <p:nvPr/>
        </p:nvSpPr>
        <p:spPr>
          <a:xfrm>
            <a:off x="2616036" y="4429460"/>
            <a:ext cx="2498889" cy="478631"/>
          </a:xfrm>
          <a:prstGeom prst="rect">
            <a:avLst/>
          </a:prstGeom>
          <a:noFill/>
          <a:ln/>
        </p:spPr>
        <p:txBody>
          <a:bodyPr wrap="square" lIns="127508" tIns="102108" rIns="127508" bIns="102108" rtlCol="0" anchor="ctr">
            <a:spAutoFit/>
          </a:bodyPr>
          <a:lstStyle/>
          <a:p>
            <a:pPr marL="0" indent="0" algn="l">
              <a:buNone/>
            </a:pPr>
            <a:r>
              <a:rPr lang="en-US" sz="850" dirty="0">
                <a:solidFill>
                  <a:srgbClr val="0A1128"/>
                </a:solidFill>
                <a:latin typeface="Roboto Mono" pitchFamily="34" charset="0"/>
                <a:ea typeface="Roboto Mono" pitchFamily="34" charset="-122"/>
                <a:cs typeface="Roboto Mono" pitchFamily="34" charset="-120"/>
              </a:rPr>
              <a:t>Couche dense (36 neurones) + Softmax</a:t>
            </a:r>
            <a:endParaRPr lang="en-US" sz="850" dirty="0"/>
          </a:p>
        </p:txBody>
      </p:sp>
      <p:sp>
        <p:nvSpPr>
          <p:cNvPr id="25" name="Text 22"/>
          <p:cNvSpPr/>
          <p:nvPr/>
        </p:nvSpPr>
        <p:spPr>
          <a:xfrm>
            <a:off x="5543550" y="1141549"/>
            <a:ext cx="3028950" cy="226814"/>
          </a:xfrm>
          <a:prstGeom prst="rect">
            <a:avLst/>
          </a:prstGeom>
          <a:noFill/>
          <a:ln/>
        </p:spPr>
        <p:txBody>
          <a:bodyPr wrap="square" lIns="0" tIns="0" rIns="0" bIns="0" rtlCol="0" anchor="t">
            <a:spAutoFit/>
          </a:bodyPr>
          <a:lstStyle/>
          <a:p>
            <a:pPr marL="0" indent="0" algn="l">
              <a:buNone/>
            </a:pPr>
            <a:r>
              <a:rPr lang="en-US" sz="1200" b="1" dirty="0">
                <a:solidFill>
                  <a:srgbClr val="FF4500"/>
                </a:solidFill>
                <a:latin typeface="Roboto Mono Bold" pitchFamily="34" charset="0"/>
                <a:ea typeface="Roboto Mono Bold" pitchFamily="34" charset="-122"/>
                <a:cs typeface="Roboto Mono Bold" pitchFamily="34" charset="-120"/>
              </a:rPr>
              <a:t>PERFORMANCES</a:t>
            </a:r>
            <a:endParaRPr lang="en-US" sz="1200" dirty="0"/>
          </a:p>
        </p:txBody>
      </p:sp>
      <p:sp>
        <p:nvSpPr>
          <p:cNvPr id="26" name="Shape 23"/>
          <p:cNvSpPr/>
          <p:nvPr/>
        </p:nvSpPr>
        <p:spPr>
          <a:xfrm>
            <a:off x="5543550" y="1511238"/>
            <a:ext cx="3028950" cy="1603772"/>
          </a:xfrm>
          <a:prstGeom prst="rect">
            <a:avLst/>
          </a:prstGeom>
          <a:solidFill>
            <a:srgbClr val="0A1128"/>
          </a:solidFill>
          <a:ln/>
        </p:spPr>
        <p:txBody>
          <a:bodyPr/>
          <a:lstStyle/>
          <a:p>
            <a:endParaRPr lang="en-US"/>
          </a:p>
        </p:txBody>
      </p:sp>
      <p:sp>
        <p:nvSpPr>
          <p:cNvPr id="27" name="Shape 24"/>
          <p:cNvSpPr/>
          <p:nvPr/>
        </p:nvSpPr>
        <p:spPr>
          <a:xfrm>
            <a:off x="5543550" y="1511238"/>
            <a:ext cx="3028950" cy="28575"/>
          </a:xfrm>
          <a:prstGeom prst="rect">
            <a:avLst/>
          </a:prstGeom>
          <a:solidFill>
            <a:srgbClr val="FF4500"/>
          </a:solidFill>
          <a:ln/>
        </p:spPr>
        <p:txBody>
          <a:bodyPr/>
          <a:lstStyle/>
          <a:p>
            <a:endParaRPr lang="en-US"/>
          </a:p>
        </p:txBody>
      </p:sp>
      <p:sp>
        <p:nvSpPr>
          <p:cNvPr id="28" name="Text 25"/>
          <p:cNvSpPr/>
          <p:nvPr/>
        </p:nvSpPr>
        <p:spPr>
          <a:xfrm>
            <a:off x="5757863" y="1725550"/>
            <a:ext cx="2600325" cy="150019"/>
          </a:xfrm>
          <a:prstGeom prst="rect">
            <a:avLst/>
          </a:prstGeom>
          <a:noFill/>
          <a:ln/>
        </p:spPr>
        <p:txBody>
          <a:bodyPr wrap="square" lIns="0" tIns="0" rIns="0" bIns="0" rtlCol="0" anchor="t">
            <a:spAutoFit/>
          </a:bodyPr>
          <a:lstStyle/>
          <a:p>
            <a:pPr marL="0" indent="0" algn="l">
              <a:buNone/>
            </a:pPr>
            <a:r>
              <a:rPr lang="en-US" sz="850" kern="0" spc="1" dirty="0">
                <a:solidFill>
                  <a:srgbClr val="E0E7F1"/>
                </a:solidFill>
                <a:latin typeface="Roboto Mono" pitchFamily="34" charset="0"/>
                <a:ea typeface="Roboto Mono" pitchFamily="34" charset="-122"/>
                <a:cs typeface="Roboto Mono" pitchFamily="34" charset="-120"/>
              </a:rPr>
              <a:t>ACCURACY (TEST)</a:t>
            </a:r>
            <a:endParaRPr lang="en-US" sz="850" dirty="0"/>
          </a:p>
        </p:txBody>
      </p:sp>
      <p:sp>
        <p:nvSpPr>
          <p:cNvPr id="29" name="Text 26"/>
          <p:cNvSpPr/>
          <p:nvPr/>
        </p:nvSpPr>
        <p:spPr>
          <a:xfrm>
            <a:off x="5757863" y="1911288"/>
            <a:ext cx="945772" cy="309187"/>
          </a:xfrm>
          <a:prstGeom prst="rect">
            <a:avLst/>
          </a:prstGeom>
          <a:noFill/>
          <a:ln/>
        </p:spPr>
        <p:txBody>
          <a:bodyPr wrap="none" lIns="0" tIns="0" rIns="0" bIns="0" rtlCol="0" anchor="t">
            <a:spAutoFit/>
          </a:bodyPr>
          <a:lstStyle/>
          <a:p>
            <a:pPr marL="0" indent="0" algn="l">
              <a:lnSpc>
                <a:spcPct val="80000"/>
              </a:lnSpc>
              <a:buNone/>
            </a:pPr>
            <a:r>
              <a:rPr lang="en-US" sz="2450" b="1" dirty="0">
                <a:solidFill>
                  <a:srgbClr val="FF4500"/>
                </a:solidFill>
                <a:ea typeface="Playfair Display Black" pitchFamily="34" charset="-122"/>
                <a:cs typeface="Playfair Display Black" pitchFamily="34" charset="-120"/>
              </a:rPr>
              <a:t>~65.2%</a:t>
            </a:r>
            <a:endParaRPr lang="en-US" sz="2450" dirty="0"/>
          </a:p>
        </p:txBody>
      </p:sp>
      <p:sp>
        <p:nvSpPr>
          <p:cNvPr id="30" name="Text 27"/>
          <p:cNvSpPr/>
          <p:nvPr/>
        </p:nvSpPr>
        <p:spPr>
          <a:xfrm>
            <a:off x="5757863" y="2432782"/>
            <a:ext cx="2600325" cy="150019"/>
          </a:xfrm>
          <a:prstGeom prst="rect">
            <a:avLst/>
          </a:prstGeom>
          <a:noFill/>
          <a:ln/>
        </p:spPr>
        <p:txBody>
          <a:bodyPr wrap="square" lIns="0" tIns="0" rIns="0" bIns="0" rtlCol="0" anchor="t">
            <a:spAutoFit/>
          </a:bodyPr>
          <a:lstStyle/>
          <a:p>
            <a:pPr marL="0" indent="0" algn="l">
              <a:buNone/>
            </a:pPr>
            <a:r>
              <a:rPr lang="en-US" sz="850" kern="0" spc="1" dirty="0">
                <a:solidFill>
                  <a:srgbClr val="E0E7F1"/>
                </a:solidFill>
                <a:latin typeface="Roboto Mono" pitchFamily="34" charset="0"/>
                <a:ea typeface="Roboto Mono" pitchFamily="34" charset="-122"/>
                <a:cs typeface="Roboto Mono" pitchFamily="34" charset="-120"/>
              </a:rPr>
              <a:t>LOSS (TEST)</a:t>
            </a:r>
            <a:endParaRPr lang="en-US" sz="850" dirty="0"/>
          </a:p>
        </p:txBody>
      </p:sp>
      <p:sp>
        <p:nvSpPr>
          <p:cNvPr id="31" name="Text 28"/>
          <p:cNvSpPr/>
          <p:nvPr/>
        </p:nvSpPr>
        <p:spPr>
          <a:xfrm>
            <a:off x="5757863" y="2618519"/>
            <a:ext cx="718145" cy="309187"/>
          </a:xfrm>
          <a:prstGeom prst="rect">
            <a:avLst/>
          </a:prstGeom>
          <a:noFill/>
          <a:ln/>
        </p:spPr>
        <p:txBody>
          <a:bodyPr wrap="none" lIns="0" tIns="0" rIns="0" bIns="0" rtlCol="0" anchor="t">
            <a:spAutoFit/>
          </a:bodyPr>
          <a:lstStyle/>
          <a:p>
            <a:pPr marL="0" indent="0" algn="l">
              <a:lnSpc>
                <a:spcPct val="80000"/>
              </a:lnSpc>
              <a:buNone/>
            </a:pPr>
            <a:r>
              <a:rPr lang="en-US" sz="2450" b="1" dirty="0">
                <a:solidFill>
                  <a:srgbClr val="FF4500"/>
                </a:solidFill>
                <a:ea typeface="Playfair Display Black" pitchFamily="34" charset="-122"/>
                <a:cs typeface="Playfair Display Black" pitchFamily="34" charset="-120"/>
              </a:rPr>
              <a:t>1.450</a:t>
            </a:r>
            <a:endParaRPr lang="en-US" sz="2450" dirty="0"/>
          </a:p>
        </p:txBody>
      </p:sp>
      <p:sp>
        <p:nvSpPr>
          <p:cNvPr id="32" name="Shape 29"/>
          <p:cNvSpPr/>
          <p:nvPr/>
        </p:nvSpPr>
        <p:spPr>
          <a:xfrm>
            <a:off x="5508757" y="3257885"/>
            <a:ext cx="2600325" cy="267890"/>
          </a:xfrm>
          <a:prstGeom prst="rect">
            <a:avLst/>
          </a:prstGeom>
          <a:solidFill>
            <a:srgbClr val="FFFFFF"/>
          </a:solidFill>
          <a:ln/>
        </p:spPr>
        <p:txBody>
          <a:bodyPr/>
          <a:lstStyle/>
          <a:p>
            <a:r>
              <a:rPr lang="en-US" sz="1200" b="1" dirty="0">
                <a:solidFill>
                  <a:srgbClr val="FF4500"/>
                </a:solidFill>
                <a:latin typeface="Roboto Mono Bold" pitchFamily="34" charset="0"/>
                <a:ea typeface="Roboto Mono Bold" pitchFamily="34" charset="-122"/>
                <a:cs typeface="Roboto Mono Bold" pitchFamily="34" charset="-120"/>
              </a:rPr>
              <a:t>OBSERVATIONS</a:t>
            </a:r>
            <a:endParaRPr lang="en-US" sz="1200" dirty="0"/>
          </a:p>
        </p:txBody>
      </p:sp>
      <p:sp>
        <p:nvSpPr>
          <p:cNvPr id="34" name="Text 31"/>
          <p:cNvSpPr/>
          <p:nvPr/>
        </p:nvSpPr>
        <p:spPr>
          <a:xfrm>
            <a:off x="5511182" y="3545032"/>
            <a:ext cx="3028949" cy="1031436"/>
          </a:xfrm>
          <a:prstGeom prst="rect">
            <a:avLst/>
          </a:prstGeom>
          <a:noFill/>
          <a:ln/>
        </p:spPr>
        <p:txBody>
          <a:bodyPr wrap="square" lIns="127508" tIns="127508" rIns="127508" bIns="127508" rtlCol="0" anchor="t">
            <a:spAutoFit/>
          </a:bodyPr>
          <a:lstStyle/>
          <a:p>
            <a:pPr marL="0" indent="0" algn="l">
              <a:lnSpc>
                <a:spcPct val="120000"/>
              </a:lnSpc>
              <a:buNone/>
            </a:pPr>
            <a:r>
              <a:rPr lang="en-US" sz="850" dirty="0" err="1">
                <a:solidFill>
                  <a:srgbClr val="0A1128"/>
                </a:solidFill>
                <a:latin typeface="Roboto Mono" pitchFamily="34" charset="0"/>
                <a:ea typeface="Roboto Mono" pitchFamily="34" charset="-122"/>
                <a:cs typeface="Roboto Mono" pitchFamily="34" charset="-120"/>
              </a:rPr>
              <a:t>L'aplatissement</a:t>
            </a:r>
            <a:r>
              <a:rPr lang="en-US" sz="850" dirty="0">
                <a:solidFill>
                  <a:srgbClr val="0A1128"/>
                </a:solidFill>
                <a:latin typeface="Roboto Mono" pitchFamily="34" charset="0"/>
                <a:ea typeface="Roboto Mono" pitchFamily="34" charset="-122"/>
                <a:cs typeface="Roboto Mono" pitchFamily="34" charset="-120"/>
              </a:rPr>
              <a:t> des données détruit la structure spatio-temporelle du spectrogramme. Le modèle sature rapidement et peine à généraliser sur les variations de timbre.</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ext 0"/>
          <p:cNvSpPr/>
          <p:nvPr/>
        </p:nvSpPr>
        <p:spPr>
          <a:xfrm>
            <a:off x="571500" y="357188"/>
            <a:ext cx="8001000" cy="377168"/>
          </a:xfrm>
          <a:prstGeom prst="rect">
            <a:avLst/>
          </a:prstGeom>
          <a:noFill/>
          <a:ln/>
        </p:spPr>
        <p:txBody>
          <a:bodyPr wrap="none" lIns="0" tIns="0" rIns="0" bIns="0" rtlCol="0" anchor="t">
            <a:spAutoFit/>
          </a:bodyPr>
          <a:lstStyle/>
          <a:p>
            <a:pPr marL="0" indent="0" algn="l">
              <a:lnSpc>
                <a:spcPct val="96000"/>
              </a:lnSpc>
              <a:buNone/>
            </a:pPr>
            <a:r>
              <a:rPr lang="en-US" sz="2250" b="1" dirty="0">
                <a:solidFill>
                  <a:srgbClr val="0A1128"/>
                </a:solidFill>
                <a:latin typeface="Playfair Display Black" pitchFamily="34" charset="0"/>
                <a:ea typeface="Playfair Display Black" pitchFamily="34" charset="-122"/>
                <a:cs typeface="Playfair Display Black" pitchFamily="34" charset="-120"/>
              </a:rPr>
              <a:t>Expérimentation 2 : CNN Simple</a:t>
            </a:r>
            <a:endParaRPr lang="en-US" sz="2250" dirty="0"/>
          </a:p>
        </p:txBody>
      </p:sp>
      <p:sp>
        <p:nvSpPr>
          <p:cNvPr id="4" name="Text 1"/>
          <p:cNvSpPr/>
          <p:nvPr/>
        </p:nvSpPr>
        <p:spPr>
          <a:xfrm>
            <a:off x="571500" y="1141549"/>
            <a:ext cx="3786188" cy="226814"/>
          </a:xfrm>
          <a:prstGeom prst="rect">
            <a:avLst/>
          </a:prstGeom>
          <a:noFill/>
          <a:ln/>
        </p:spPr>
        <p:txBody>
          <a:bodyPr wrap="square" lIns="0" tIns="0" rIns="0" bIns="0" rtlCol="0" anchor="t">
            <a:spAutoFit/>
          </a:bodyPr>
          <a:lstStyle/>
          <a:p>
            <a:pPr marL="0" indent="0" algn="l">
              <a:buNone/>
            </a:pPr>
            <a:r>
              <a:rPr lang="en-US" sz="1200" b="1" dirty="0">
                <a:solidFill>
                  <a:srgbClr val="FF4500"/>
                </a:solidFill>
                <a:latin typeface="Roboto Mono Bold" pitchFamily="34" charset="0"/>
                <a:ea typeface="Roboto Mono Bold" pitchFamily="34" charset="-122"/>
                <a:cs typeface="Roboto Mono Bold" pitchFamily="34" charset="-120"/>
              </a:rPr>
              <a:t>ARCHITECTURE</a:t>
            </a:r>
            <a:endParaRPr lang="en-US" sz="1200" dirty="0"/>
          </a:p>
        </p:txBody>
      </p:sp>
      <p:sp>
        <p:nvSpPr>
          <p:cNvPr id="5" name="Text 2"/>
          <p:cNvSpPr/>
          <p:nvPr/>
        </p:nvSpPr>
        <p:spPr>
          <a:xfrm>
            <a:off x="571500" y="1511238"/>
            <a:ext cx="3786188" cy="411435"/>
          </a:xfrm>
          <a:prstGeom prst="rect">
            <a:avLst/>
          </a:prstGeom>
          <a:noFill/>
          <a:ln/>
        </p:spPr>
        <p:txBody>
          <a:bodyPr wrap="square" lIns="212598" tIns="0" rIns="0" bIns="0" rtlCol="0" anchor="t">
            <a:spAutoFit/>
          </a:bodyPr>
          <a:lstStyle/>
          <a:p>
            <a:pPr marL="0" indent="0" algn="l">
              <a:lnSpc>
                <a:spcPct val="128000"/>
              </a:lnSpc>
              <a:buNone/>
            </a:pPr>
            <a:r>
              <a:rPr lang="en-US" sz="900" b="1" dirty="0">
                <a:solidFill>
                  <a:srgbClr val="0A1128"/>
                </a:solidFill>
                <a:latin typeface="Roboto Mono Bold" pitchFamily="34" charset="0"/>
                <a:ea typeface="Roboto Mono Bold" pitchFamily="34" charset="-122"/>
                <a:cs typeface="Roboto Mono Bold" pitchFamily="34" charset="-120"/>
              </a:rPr>
              <a:t>Couches cachées :</a:t>
            </a:r>
            <a:r>
              <a:rPr lang="en-US" sz="950" dirty="0">
                <a:solidFill>
                  <a:srgbClr val="0A1128"/>
                </a:solidFill>
                <a:latin typeface="Roboto Mono" pitchFamily="34" charset="0"/>
                <a:ea typeface="Roboto Mono" pitchFamily="34" charset="-122"/>
                <a:cs typeface="Roboto Mono" pitchFamily="34" charset="-120"/>
              </a:rPr>
              <a:t> 2 couches convolutives (Conv2D, 32 filtres, kernel 3x3).</a:t>
            </a:r>
            <a:endParaRPr lang="en-US" sz="900" dirty="0"/>
          </a:p>
        </p:txBody>
      </p:sp>
      <p:sp>
        <p:nvSpPr>
          <p:cNvPr id="6" name="Text 3"/>
          <p:cNvSpPr/>
          <p:nvPr/>
        </p:nvSpPr>
        <p:spPr>
          <a:xfrm>
            <a:off x="571500" y="2029830"/>
            <a:ext cx="3786188" cy="411435"/>
          </a:xfrm>
          <a:prstGeom prst="rect">
            <a:avLst/>
          </a:prstGeom>
          <a:noFill/>
          <a:ln/>
        </p:spPr>
        <p:txBody>
          <a:bodyPr wrap="square" lIns="212598" tIns="0" rIns="0" bIns="0" rtlCol="0" anchor="t">
            <a:spAutoFit/>
          </a:bodyPr>
          <a:lstStyle/>
          <a:p>
            <a:pPr marL="0" indent="0" algn="l">
              <a:lnSpc>
                <a:spcPct val="128000"/>
              </a:lnSpc>
              <a:buNone/>
            </a:pPr>
            <a:r>
              <a:rPr lang="en-US" sz="900" b="1" dirty="0">
                <a:solidFill>
                  <a:srgbClr val="0A1128"/>
                </a:solidFill>
                <a:latin typeface="Roboto Mono Bold" pitchFamily="34" charset="0"/>
                <a:ea typeface="Roboto Mono Bold" pitchFamily="34" charset="-122"/>
                <a:cs typeface="Roboto Mono Bold" pitchFamily="34" charset="-120"/>
              </a:rPr>
              <a:t>Réduction spatiale :</a:t>
            </a:r>
            <a:r>
              <a:rPr lang="en-US" sz="950" dirty="0">
                <a:solidFill>
                  <a:srgbClr val="0A1128"/>
                </a:solidFill>
                <a:latin typeface="Roboto Mono" pitchFamily="34" charset="0"/>
                <a:ea typeface="Roboto Mono" pitchFamily="34" charset="-122"/>
                <a:cs typeface="Roboto Mono" pitchFamily="34" charset="-120"/>
              </a:rPr>
              <a:t> MaxPooling2D après chaque convolution.</a:t>
            </a:r>
            <a:endParaRPr lang="en-US" sz="900" dirty="0"/>
          </a:p>
        </p:txBody>
      </p:sp>
      <p:sp>
        <p:nvSpPr>
          <p:cNvPr id="7" name="Text 4"/>
          <p:cNvSpPr/>
          <p:nvPr/>
        </p:nvSpPr>
        <p:spPr>
          <a:xfrm>
            <a:off x="571500" y="2548421"/>
            <a:ext cx="3786188" cy="411435"/>
          </a:xfrm>
          <a:prstGeom prst="rect">
            <a:avLst/>
          </a:prstGeom>
          <a:noFill/>
          <a:ln/>
        </p:spPr>
        <p:txBody>
          <a:bodyPr wrap="square" lIns="212598" tIns="0" rIns="0" bIns="0" rtlCol="0" anchor="t">
            <a:spAutoFit/>
          </a:bodyPr>
          <a:lstStyle/>
          <a:p>
            <a:pPr marL="0" indent="0" algn="l">
              <a:lnSpc>
                <a:spcPct val="128000"/>
              </a:lnSpc>
              <a:buNone/>
            </a:pPr>
            <a:r>
              <a:rPr lang="en-US" sz="900" b="1" dirty="0">
                <a:solidFill>
                  <a:srgbClr val="0A1128"/>
                </a:solidFill>
                <a:latin typeface="Roboto Mono Bold" pitchFamily="34" charset="0"/>
                <a:ea typeface="Roboto Mono Bold" pitchFamily="34" charset="-122"/>
                <a:cs typeface="Roboto Mono Bold" pitchFamily="34" charset="-120"/>
              </a:rPr>
              <a:t>Classification :</a:t>
            </a:r>
            <a:r>
              <a:rPr lang="en-US" sz="950" dirty="0">
                <a:solidFill>
                  <a:srgbClr val="0A1128"/>
                </a:solidFill>
                <a:latin typeface="Roboto Mono" pitchFamily="34" charset="0"/>
                <a:ea typeface="Roboto Mono" pitchFamily="34" charset="-122"/>
                <a:cs typeface="Roboto Mono" pitchFamily="34" charset="-120"/>
              </a:rPr>
              <a:t> 1 couche dense (64 neurones) avant la sortie Softmax (36 classes).</a:t>
            </a:r>
            <a:endParaRPr lang="en-US" sz="900" dirty="0"/>
          </a:p>
        </p:txBody>
      </p:sp>
      <p:sp>
        <p:nvSpPr>
          <p:cNvPr id="8" name="Text 5"/>
          <p:cNvSpPr/>
          <p:nvPr/>
        </p:nvSpPr>
        <p:spPr>
          <a:xfrm>
            <a:off x="571500" y="3067013"/>
            <a:ext cx="3786188" cy="205718"/>
          </a:xfrm>
          <a:prstGeom prst="rect">
            <a:avLst/>
          </a:prstGeom>
          <a:noFill/>
          <a:ln/>
        </p:spPr>
        <p:txBody>
          <a:bodyPr wrap="none" lIns="212598" tIns="0" rIns="0" bIns="0" rtlCol="0" anchor="t">
            <a:spAutoFit/>
          </a:bodyPr>
          <a:lstStyle/>
          <a:p>
            <a:pPr marL="0" indent="0" algn="l">
              <a:lnSpc>
                <a:spcPct val="128000"/>
              </a:lnSpc>
              <a:buNone/>
            </a:pPr>
            <a:r>
              <a:rPr lang="en-US" sz="900" b="1" dirty="0">
                <a:solidFill>
                  <a:srgbClr val="0A1128"/>
                </a:solidFill>
                <a:latin typeface="Roboto Mono Bold" pitchFamily="34" charset="0"/>
                <a:ea typeface="Roboto Mono Bold" pitchFamily="34" charset="-122"/>
                <a:cs typeface="Roboto Mono Bold" pitchFamily="34" charset="-120"/>
              </a:rPr>
              <a:t>Activation :</a:t>
            </a:r>
            <a:r>
              <a:rPr lang="en-US" sz="950" dirty="0">
                <a:solidFill>
                  <a:srgbClr val="0A1128"/>
                </a:solidFill>
                <a:latin typeface="Roboto Mono" pitchFamily="34" charset="0"/>
                <a:ea typeface="Roboto Mono" pitchFamily="34" charset="-122"/>
                <a:cs typeface="Roboto Mono" pitchFamily="34" charset="-120"/>
              </a:rPr>
              <a:t> ReLU pour les couches cachées.</a:t>
            </a:r>
            <a:endParaRPr lang="en-US" sz="900" dirty="0"/>
          </a:p>
        </p:txBody>
      </p:sp>
      <p:sp>
        <p:nvSpPr>
          <p:cNvPr id="9" name="Text 6"/>
          <p:cNvSpPr/>
          <p:nvPr/>
        </p:nvSpPr>
        <p:spPr>
          <a:xfrm>
            <a:off x="571500" y="3487043"/>
            <a:ext cx="3786188" cy="226814"/>
          </a:xfrm>
          <a:prstGeom prst="rect">
            <a:avLst/>
          </a:prstGeom>
          <a:noFill/>
          <a:ln/>
        </p:spPr>
        <p:txBody>
          <a:bodyPr wrap="square" lIns="0" tIns="0" rIns="0" bIns="0" rtlCol="0" anchor="t">
            <a:spAutoFit/>
          </a:bodyPr>
          <a:lstStyle/>
          <a:p>
            <a:pPr marL="0" indent="0" algn="l">
              <a:buNone/>
            </a:pPr>
            <a:r>
              <a:rPr lang="en-US" sz="1200" b="1" dirty="0">
                <a:solidFill>
                  <a:srgbClr val="FF4500"/>
                </a:solidFill>
                <a:latin typeface="Roboto Mono Bold" pitchFamily="34" charset="0"/>
                <a:ea typeface="Roboto Mono Bold" pitchFamily="34" charset="-122"/>
                <a:cs typeface="Roboto Mono Bold" pitchFamily="34" charset="-120"/>
              </a:rPr>
              <a:t>HYPERPARAMÈTRES</a:t>
            </a:r>
            <a:endParaRPr lang="en-US" sz="1200" dirty="0"/>
          </a:p>
        </p:txBody>
      </p:sp>
      <p:sp>
        <p:nvSpPr>
          <p:cNvPr id="10" name="Text 7"/>
          <p:cNvSpPr/>
          <p:nvPr/>
        </p:nvSpPr>
        <p:spPr>
          <a:xfrm>
            <a:off x="571500" y="1525525"/>
            <a:ext cx="59996" cy="159981"/>
          </a:xfrm>
          <a:prstGeom prst="rect">
            <a:avLst/>
          </a:prstGeom>
          <a:noFill/>
          <a:ln/>
        </p:spPr>
        <p:txBody>
          <a:bodyPr wrap="none" lIns="0" tIns="0" rIns="0" bIns="0" rtlCol="0" anchor="t">
            <a:spAutoFit/>
          </a:bodyPr>
          <a:lstStyle/>
          <a:p>
            <a:pPr marL="0" indent="0" algn="l">
              <a:lnSpc>
                <a:spcPct val="128000"/>
              </a:lnSpc>
              <a:buNone/>
            </a:pPr>
            <a:r>
              <a:rPr lang="en-US" sz="750" dirty="0">
                <a:solidFill>
                  <a:srgbClr val="FF4500"/>
                </a:solidFill>
                <a:latin typeface="Roboto Mono" pitchFamily="34" charset="0"/>
                <a:ea typeface="Roboto Mono" pitchFamily="34" charset="-122"/>
                <a:cs typeface="Roboto Mono" pitchFamily="34" charset="-120"/>
              </a:rPr>
              <a:t>■</a:t>
            </a:r>
            <a:endParaRPr lang="en-US" sz="750" dirty="0"/>
          </a:p>
        </p:txBody>
      </p:sp>
      <p:sp>
        <p:nvSpPr>
          <p:cNvPr id="11" name="Text 8"/>
          <p:cNvSpPr/>
          <p:nvPr/>
        </p:nvSpPr>
        <p:spPr>
          <a:xfrm>
            <a:off x="571500" y="2044117"/>
            <a:ext cx="59996" cy="159981"/>
          </a:xfrm>
          <a:prstGeom prst="rect">
            <a:avLst/>
          </a:prstGeom>
          <a:noFill/>
          <a:ln/>
        </p:spPr>
        <p:txBody>
          <a:bodyPr wrap="none" lIns="0" tIns="0" rIns="0" bIns="0" rtlCol="0" anchor="t">
            <a:spAutoFit/>
          </a:bodyPr>
          <a:lstStyle/>
          <a:p>
            <a:pPr marL="0" indent="0" algn="l">
              <a:lnSpc>
                <a:spcPct val="128000"/>
              </a:lnSpc>
              <a:buNone/>
            </a:pPr>
            <a:r>
              <a:rPr lang="en-US" sz="750" dirty="0">
                <a:solidFill>
                  <a:srgbClr val="FF4500"/>
                </a:solidFill>
                <a:latin typeface="Roboto Mono" pitchFamily="34" charset="0"/>
                <a:ea typeface="Roboto Mono" pitchFamily="34" charset="-122"/>
                <a:cs typeface="Roboto Mono" pitchFamily="34" charset="-120"/>
              </a:rPr>
              <a:t>■</a:t>
            </a:r>
            <a:endParaRPr lang="en-US" sz="750" dirty="0"/>
          </a:p>
        </p:txBody>
      </p:sp>
      <p:sp>
        <p:nvSpPr>
          <p:cNvPr id="12" name="Text 9"/>
          <p:cNvSpPr/>
          <p:nvPr/>
        </p:nvSpPr>
        <p:spPr>
          <a:xfrm>
            <a:off x="571500" y="2562709"/>
            <a:ext cx="59996" cy="159981"/>
          </a:xfrm>
          <a:prstGeom prst="rect">
            <a:avLst/>
          </a:prstGeom>
          <a:noFill/>
          <a:ln/>
        </p:spPr>
        <p:txBody>
          <a:bodyPr wrap="none" lIns="0" tIns="0" rIns="0" bIns="0" rtlCol="0" anchor="t">
            <a:spAutoFit/>
          </a:bodyPr>
          <a:lstStyle/>
          <a:p>
            <a:pPr marL="0" indent="0" algn="l">
              <a:lnSpc>
                <a:spcPct val="128000"/>
              </a:lnSpc>
              <a:buNone/>
            </a:pPr>
            <a:r>
              <a:rPr lang="en-US" sz="750" dirty="0">
                <a:solidFill>
                  <a:srgbClr val="FF4500"/>
                </a:solidFill>
                <a:latin typeface="Roboto Mono" pitchFamily="34" charset="0"/>
                <a:ea typeface="Roboto Mono" pitchFamily="34" charset="-122"/>
                <a:cs typeface="Roboto Mono" pitchFamily="34" charset="-120"/>
              </a:rPr>
              <a:t>■</a:t>
            </a:r>
            <a:endParaRPr lang="en-US" sz="750" dirty="0"/>
          </a:p>
        </p:txBody>
      </p:sp>
      <p:sp>
        <p:nvSpPr>
          <p:cNvPr id="13" name="Text 10"/>
          <p:cNvSpPr/>
          <p:nvPr/>
        </p:nvSpPr>
        <p:spPr>
          <a:xfrm>
            <a:off x="571500" y="3081300"/>
            <a:ext cx="59996" cy="159981"/>
          </a:xfrm>
          <a:prstGeom prst="rect">
            <a:avLst/>
          </a:prstGeom>
          <a:noFill/>
          <a:ln/>
        </p:spPr>
        <p:txBody>
          <a:bodyPr wrap="none" lIns="0" tIns="0" rIns="0" bIns="0" rtlCol="0" anchor="t">
            <a:spAutoFit/>
          </a:bodyPr>
          <a:lstStyle/>
          <a:p>
            <a:pPr marL="0" indent="0" algn="l">
              <a:lnSpc>
                <a:spcPct val="128000"/>
              </a:lnSpc>
              <a:buNone/>
            </a:pPr>
            <a:r>
              <a:rPr lang="en-US" sz="750" dirty="0">
                <a:solidFill>
                  <a:srgbClr val="FF4500"/>
                </a:solidFill>
                <a:latin typeface="Roboto Mono" pitchFamily="34" charset="0"/>
                <a:ea typeface="Roboto Mono" pitchFamily="34" charset="-122"/>
                <a:cs typeface="Roboto Mono" pitchFamily="34" charset="-120"/>
              </a:rPr>
              <a:t>■</a:t>
            </a:r>
            <a:endParaRPr lang="en-US" sz="750" dirty="0"/>
          </a:p>
        </p:txBody>
      </p:sp>
      <p:sp>
        <p:nvSpPr>
          <p:cNvPr id="14" name="Text 11"/>
          <p:cNvSpPr/>
          <p:nvPr/>
        </p:nvSpPr>
        <p:spPr>
          <a:xfrm>
            <a:off x="571500" y="3856732"/>
            <a:ext cx="3786188" cy="205718"/>
          </a:xfrm>
          <a:prstGeom prst="rect">
            <a:avLst/>
          </a:prstGeom>
          <a:noFill/>
          <a:ln/>
        </p:spPr>
        <p:txBody>
          <a:bodyPr wrap="none" lIns="212598" tIns="0" rIns="0" bIns="0" rtlCol="0" anchor="t">
            <a:spAutoFit/>
          </a:bodyPr>
          <a:lstStyle/>
          <a:p>
            <a:pPr marL="0" indent="0" algn="l">
              <a:lnSpc>
                <a:spcPct val="128000"/>
              </a:lnSpc>
              <a:buNone/>
            </a:pPr>
            <a:r>
              <a:rPr lang="en-US" sz="900" b="1" dirty="0">
                <a:solidFill>
                  <a:srgbClr val="0A1128"/>
                </a:solidFill>
                <a:latin typeface="Roboto Mono Bold" pitchFamily="34" charset="0"/>
                <a:ea typeface="Roboto Mono Bold" pitchFamily="34" charset="-122"/>
                <a:cs typeface="Roboto Mono Bold" pitchFamily="34" charset="-120"/>
              </a:rPr>
              <a:t>Optimiseur :</a:t>
            </a:r>
            <a:r>
              <a:rPr lang="en-US" sz="950" dirty="0">
                <a:solidFill>
                  <a:srgbClr val="0A1128"/>
                </a:solidFill>
                <a:latin typeface="Roboto Mono" pitchFamily="34" charset="0"/>
                <a:ea typeface="Roboto Mono" pitchFamily="34" charset="-122"/>
                <a:cs typeface="Roboto Mono" pitchFamily="34" charset="-120"/>
              </a:rPr>
              <a:t> Adam (Learning Rate = 0.001).</a:t>
            </a:r>
            <a:endParaRPr lang="en-US" sz="900" dirty="0"/>
          </a:p>
        </p:txBody>
      </p:sp>
      <p:sp>
        <p:nvSpPr>
          <p:cNvPr id="15" name="Text 12"/>
          <p:cNvSpPr/>
          <p:nvPr/>
        </p:nvSpPr>
        <p:spPr>
          <a:xfrm>
            <a:off x="571500" y="4169606"/>
            <a:ext cx="3786188" cy="411435"/>
          </a:xfrm>
          <a:prstGeom prst="rect">
            <a:avLst/>
          </a:prstGeom>
          <a:noFill/>
          <a:ln/>
        </p:spPr>
        <p:txBody>
          <a:bodyPr wrap="square" lIns="212598" tIns="0" rIns="0" bIns="0" rtlCol="0" anchor="t">
            <a:spAutoFit/>
          </a:bodyPr>
          <a:lstStyle/>
          <a:p>
            <a:pPr marL="0" indent="0" algn="l">
              <a:lnSpc>
                <a:spcPct val="128000"/>
              </a:lnSpc>
              <a:buNone/>
            </a:pPr>
            <a:r>
              <a:rPr lang="en-US" sz="900" b="1" dirty="0">
                <a:solidFill>
                  <a:srgbClr val="0A1128"/>
                </a:solidFill>
                <a:latin typeface="Roboto Mono Bold" pitchFamily="34" charset="0"/>
                <a:ea typeface="Roboto Mono Bold" pitchFamily="34" charset="-122"/>
                <a:cs typeface="Roboto Mono Bold" pitchFamily="34" charset="-120"/>
              </a:rPr>
              <a:t>Fonction de perte :</a:t>
            </a:r>
            <a:r>
              <a:rPr lang="en-US" sz="950" dirty="0">
                <a:solidFill>
                  <a:srgbClr val="0A1128"/>
                </a:solidFill>
                <a:latin typeface="Roboto Mono" pitchFamily="34" charset="0"/>
                <a:ea typeface="Roboto Mono" pitchFamily="34" charset="-122"/>
                <a:cs typeface="Roboto Mono" pitchFamily="34" charset="-120"/>
              </a:rPr>
              <a:t> Sparse Categorical Crossentropy.</a:t>
            </a:r>
            <a:endParaRPr lang="en-US" sz="900" dirty="0"/>
          </a:p>
        </p:txBody>
      </p:sp>
      <p:sp>
        <p:nvSpPr>
          <p:cNvPr id="16" name="Text 13"/>
          <p:cNvSpPr/>
          <p:nvPr/>
        </p:nvSpPr>
        <p:spPr>
          <a:xfrm>
            <a:off x="571500" y="4688198"/>
            <a:ext cx="3786188" cy="205718"/>
          </a:xfrm>
          <a:prstGeom prst="rect">
            <a:avLst/>
          </a:prstGeom>
          <a:noFill/>
          <a:ln/>
        </p:spPr>
        <p:txBody>
          <a:bodyPr wrap="none" lIns="212598" tIns="0" rIns="0" bIns="0" rtlCol="0" anchor="t">
            <a:spAutoFit/>
          </a:bodyPr>
          <a:lstStyle/>
          <a:p>
            <a:pPr marL="0" indent="0" algn="l">
              <a:lnSpc>
                <a:spcPct val="128000"/>
              </a:lnSpc>
              <a:buNone/>
            </a:pPr>
            <a:r>
              <a:rPr lang="en-US" sz="900" b="1" dirty="0">
                <a:solidFill>
                  <a:srgbClr val="0A1128"/>
                </a:solidFill>
                <a:latin typeface="Roboto Mono Bold" pitchFamily="34" charset="0"/>
                <a:ea typeface="Roboto Mono Bold" pitchFamily="34" charset="-122"/>
                <a:cs typeface="Roboto Mono Bold" pitchFamily="34" charset="-120"/>
              </a:rPr>
              <a:t>Batch size :</a:t>
            </a:r>
            <a:r>
              <a:rPr lang="en-US" sz="950" dirty="0">
                <a:solidFill>
                  <a:srgbClr val="0A1128"/>
                </a:solidFill>
                <a:latin typeface="Roboto Mono" pitchFamily="34" charset="0"/>
                <a:ea typeface="Roboto Mono" pitchFamily="34" charset="-122"/>
                <a:cs typeface="Roboto Mono" pitchFamily="34" charset="-120"/>
              </a:rPr>
              <a:t> 32.</a:t>
            </a:r>
            <a:endParaRPr lang="en-US" sz="900" dirty="0"/>
          </a:p>
        </p:txBody>
      </p:sp>
      <p:sp>
        <p:nvSpPr>
          <p:cNvPr id="17" name="Text 14"/>
          <p:cNvSpPr/>
          <p:nvPr/>
        </p:nvSpPr>
        <p:spPr>
          <a:xfrm>
            <a:off x="571500" y="3871020"/>
            <a:ext cx="59996" cy="159981"/>
          </a:xfrm>
          <a:prstGeom prst="rect">
            <a:avLst/>
          </a:prstGeom>
          <a:noFill/>
          <a:ln/>
        </p:spPr>
        <p:txBody>
          <a:bodyPr wrap="none" lIns="0" tIns="0" rIns="0" bIns="0" rtlCol="0" anchor="t">
            <a:spAutoFit/>
          </a:bodyPr>
          <a:lstStyle/>
          <a:p>
            <a:pPr marL="0" indent="0" algn="l">
              <a:lnSpc>
                <a:spcPct val="128000"/>
              </a:lnSpc>
              <a:buNone/>
            </a:pPr>
            <a:r>
              <a:rPr lang="en-US" sz="750" dirty="0">
                <a:solidFill>
                  <a:srgbClr val="FF4500"/>
                </a:solidFill>
                <a:latin typeface="Roboto Mono" pitchFamily="34" charset="0"/>
                <a:ea typeface="Roboto Mono" pitchFamily="34" charset="-122"/>
                <a:cs typeface="Roboto Mono" pitchFamily="34" charset="-120"/>
              </a:rPr>
              <a:t>■</a:t>
            </a:r>
            <a:endParaRPr lang="en-US" sz="750" dirty="0"/>
          </a:p>
        </p:txBody>
      </p:sp>
      <p:sp>
        <p:nvSpPr>
          <p:cNvPr id="18" name="Text 15"/>
          <p:cNvSpPr/>
          <p:nvPr/>
        </p:nvSpPr>
        <p:spPr>
          <a:xfrm>
            <a:off x="571500" y="4183893"/>
            <a:ext cx="59996" cy="159981"/>
          </a:xfrm>
          <a:prstGeom prst="rect">
            <a:avLst/>
          </a:prstGeom>
          <a:noFill/>
          <a:ln/>
        </p:spPr>
        <p:txBody>
          <a:bodyPr wrap="none" lIns="0" tIns="0" rIns="0" bIns="0" rtlCol="0" anchor="t">
            <a:spAutoFit/>
          </a:bodyPr>
          <a:lstStyle/>
          <a:p>
            <a:pPr marL="0" indent="0" algn="l">
              <a:lnSpc>
                <a:spcPct val="128000"/>
              </a:lnSpc>
              <a:buNone/>
            </a:pPr>
            <a:r>
              <a:rPr lang="en-US" sz="750" dirty="0">
                <a:solidFill>
                  <a:srgbClr val="FF4500"/>
                </a:solidFill>
                <a:latin typeface="Roboto Mono" pitchFamily="34" charset="0"/>
                <a:ea typeface="Roboto Mono" pitchFamily="34" charset="-122"/>
                <a:cs typeface="Roboto Mono" pitchFamily="34" charset="-120"/>
              </a:rPr>
              <a:t>■</a:t>
            </a:r>
            <a:endParaRPr lang="en-US" sz="750" dirty="0"/>
          </a:p>
        </p:txBody>
      </p:sp>
      <p:sp>
        <p:nvSpPr>
          <p:cNvPr id="19" name="Text 16"/>
          <p:cNvSpPr/>
          <p:nvPr/>
        </p:nvSpPr>
        <p:spPr>
          <a:xfrm>
            <a:off x="571500" y="4702485"/>
            <a:ext cx="59996" cy="159981"/>
          </a:xfrm>
          <a:prstGeom prst="rect">
            <a:avLst/>
          </a:prstGeom>
          <a:noFill/>
          <a:ln/>
        </p:spPr>
        <p:txBody>
          <a:bodyPr wrap="none" lIns="0" tIns="0" rIns="0" bIns="0" rtlCol="0" anchor="t">
            <a:spAutoFit/>
          </a:bodyPr>
          <a:lstStyle/>
          <a:p>
            <a:pPr marL="0" indent="0" algn="l">
              <a:lnSpc>
                <a:spcPct val="128000"/>
              </a:lnSpc>
              <a:buNone/>
            </a:pPr>
            <a:r>
              <a:rPr lang="en-US" sz="750" dirty="0">
                <a:solidFill>
                  <a:srgbClr val="FF4500"/>
                </a:solidFill>
                <a:latin typeface="Roboto Mono" pitchFamily="34" charset="0"/>
                <a:ea typeface="Roboto Mono" pitchFamily="34" charset="-122"/>
                <a:cs typeface="Roboto Mono" pitchFamily="34" charset="-120"/>
              </a:rPr>
              <a:t>■</a:t>
            </a:r>
            <a:endParaRPr lang="en-US" sz="750" dirty="0"/>
          </a:p>
        </p:txBody>
      </p:sp>
      <p:sp>
        <p:nvSpPr>
          <p:cNvPr id="20" name="Shape 17"/>
          <p:cNvSpPr/>
          <p:nvPr/>
        </p:nvSpPr>
        <p:spPr>
          <a:xfrm>
            <a:off x="4786313" y="1141549"/>
            <a:ext cx="3786188" cy="1160859"/>
          </a:xfrm>
          <a:prstGeom prst="rect">
            <a:avLst/>
          </a:prstGeom>
          <a:solidFill>
            <a:srgbClr val="0A1128"/>
          </a:solidFill>
          <a:ln/>
        </p:spPr>
        <p:txBody>
          <a:bodyPr/>
          <a:lstStyle/>
          <a:p>
            <a:endParaRPr lang="en-US"/>
          </a:p>
        </p:txBody>
      </p:sp>
      <p:sp>
        <p:nvSpPr>
          <p:cNvPr id="21" name="Shape 18"/>
          <p:cNvSpPr/>
          <p:nvPr/>
        </p:nvSpPr>
        <p:spPr>
          <a:xfrm>
            <a:off x="4786313" y="1141549"/>
            <a:ext cx="42863" cy="1160859"/>
          </a:xfrm>
          <a:prstGeom prst="rect">
            <a:avLst/>
          </a:prstGeom>
          <a:solidFill>
            <a:srgbClr val="FF4500"/>
          </a:solidFill>
          <a:ln/>
        </p:spPr>
        <p:txBody>
          <a:bodyPr/>
          <a:lstStyle/>
          <a:p>
            <a:endParaRPr lang="en-US"/>
          </a:p>
        </p:txBody>
      </p:sp>
      <p:sp>
        <p:nvSpPr>
          <p:cNvPr id="22" name="Text 19"/>
          <p:cNvSpPr/>
          <p:nvPr/>
        </p:nvSpPr>
        <p:spPr>
          <a:xfrm>
            <a:off x="4964906" y="1320143"/>
            <a:ext cx="3429000" cy="208955"/>
          </a:xfrm>
          <a:prstGeom prst="rect">
            <a:avLst/>
          </a:prstGeom>
          <a:noFill/>
          <a:ln/>
        </p:spPr>
        <p:txBody>
          <a:bodyPr wrap="square" lIns="0" tIns="0" rIns="0" bIns="0" rtlCol="0" anchor="t">
            <a:spAutoFit/>
          </a:bodyPr>
          <a:lstStyle/>
          <a:p>
            <a:pPr marL="0" indent="0" algn="l">
              <a:buNone/>
            </a:pPr>
            <a:r>
              <a:rPr lang="en-US" sz="1100" b="1" dirty="0">
                <a:solidFill>
                  <a:srgbClr val="FF4500"/>
                </a:solidFill>
                <a:latin typeface="Playfair Display Black" pitchFamily="34" charset="0"/>
                <a:ea typeface="Playfair Display Black" pitchFamily="34" charset="-122"/>
                <a:cs typeface="Playfair Display Black" pitchFamily="34" charset="-120"/>
              </a:rPr>
              <a:t>Performances (Validation)</a:t>
            </a:r>
            <a:endParaRPr lang="en-US" sz="1100" dirty="0"/>
          </a:p>
        </p:txBody>
      </p:sp>
      <p:sp>
        <p:nvSpPr>
          <p:cNvPr id="23" name="Text 20"/>
          <p:cNvSpPr/>
          <p:nvPr/>
        </p:nvSpPr>
        <p:spPr>
          <a:xfrm>
            <a:off x="4964906" y="1636254"/>
            <a:ext cx="685800" cy="189309"/>
          </a:xfrm>
          <a:prstGeom prst="rect">
            <a:avLst/>
          </a:prstGeom>
          <a:noFill/>
          <a:ln/>
        </p:spPr>
        <p:txBody>
          <a:bodyPr wrap="none" lIns="0" tIns="0" rIns="0" bIns="0" rtlCol="0" anchor="t">
            <a:spAutoFit/>
          </a:bodyPr>
          <a:lstStyle/>
          <a:p>
            <a:pPr marL="0" indent="0" algn="l">
              <a:buNone/>
            </a:pPr>
            <a:r>
              <a:rPr lang="en-US" sz="1050" dirty="0">
                <a:solidFill>
                  <a:srgbClr val="FFFFFF"/>
                </a:solidFill>
                <a:latin typeface="Roboto Mono" pitchFamily="34" charset="0"/>
                <a:ea typeface="Roboto Mono" pitchFamily="34" charset="-122"/>
                <a:cs typeface="Roboto Mono" pitchFamily="34" charset="-120"/>
              </a:rPr>
              <a:t>Accuracy</a:t>
            </a:r>
            <a:endParaRPr lang="en-US" sz="1050" dirty="0"/>
          </a:p>
        </p:txBody>
      </p:sp>
      <p:sp>
        <p:nvSpPr>
          <p:cNvPr id="24" name="Text 21"/>
          <p:cNvSpPr/>
          <p:nvPr/>
        </p:nvSpPr>
        <p:spPr>
          <a:xfrm>
            <a:off x="4964906" y="1861282"/>
            <a:ext cx="957263" cy="262533"/>
          </a:xfrm>
          <a:prstGeom prst="rect">
            <a:avLst/>
          </a:prstGeom>
          <a:noFill/>
          <a:ln/>
        </p:spPr>
        <p:txBody>
          <a:bodyPr wrap="none" lIns="0" tIns="0" rIns="0" bIns="0" rtlCol="0" anchor="t">
            <a:spAutoFit/>
          </a:bodyPr>
          <a:lstStyle/>
          <a:p>
            <a:pPr marL="0" indent="0" algn="l">
              <a:buNone/>
            </a:pPr>
            <a:r>
              <a:rPr lang="en-US" sz="1400" b="1" dirty="0">
                <a:solidFill>
                  <a:srgbClr val="FFFFFF"/>
                </a:solidFill>
                <a:latin typeface="Roboto Mono Bold" pitchFamily="34" charset="0"/>
                <a:ea typeface="Roboto Mono Bold" pitchFamily="34" charset="-122"/>
                <a:cs typeface="Roboto Mono Bold" pitchFamily="34" charset="-120"/>
              </a:rPr>
              <a:t>~ 85.0 %</a:t>
            </a:r>
            <a:endParaRPr lang="en-US" sz="1400" dirty="0"/>
          </a:p>
        </p:txBody>
      </p:sp>
      <p:sp>
        <p:nvSpPr>
          <p:cNvPr id="25" name="Text 22"/>
          <p:cNvSpPr/>
          <p:nvPr/>
        </p:nvSpPr>
        <p:spPr>
          <a:xfrm>
            <a:off x="6207919" y="1636254"/>
            <a:ext cx="342900" cy="189309"/>
          </a:xfrm>
          <a:prstGeom prst="rect">
            <a:avLst/>
          </a:prstGeom>
          <a:noFill/>
          <a:ln/>
        </p:spPr>
        <p:txBody>
          <a:bodyPr wrap="none" lIns="0" tIns="0" rIns="0" bIns="0" rtlCol="0" anchor="t">
            <a:spAutoFit/>
          </a:bodyPr>
          <a:lstStyle/>
          <a:p>
            <a:pPr marL="0" indent="0" algn="l">
              <a:buNone/>
            </a:pPr>
            <a:r>
              <a:rPr lang="en-US" sz="1050" dirty="0">
                <a:solidFill>
                  <a:srgbClr val="FFFFFF"/>
                </a:solidFill>
                <a:latin typeface="Roboto Mono" pitchFamily="34" charset="0"/>
                <a:ea typeface="Roboto Mono" pitchFamily="34" charset="-122"/>
                <a:cs typeface="Roboto Mono" pitchFamily="34" charset="-120"/>
              </a:rPr>
              <a:t>Loss</a:t>
            </a:r>
            <a:endParaRPr lang="en-US" sz="1050" dirty="0"/>
          </a:p>
        </p:txBody>
      </p:sp>
      <p:sp>
        <p:nvSpPr>
          <p:cNvPr id="26" name="Text 23"/>
          <p:cNvSpPr/>
          <p:nvPr/>
        </p:nvSpPr>
        <p:spPr>
          <a:xfrm>
            <a:off x="6207919" y="1861282"/>
            <a:ext cx="717947" cy="262533"/>
          </a:xfrm>
          <a:prstGeom prst="rect">
            <a:avLst/>
          </a:prstGeom>
          <a:noFill/>
          <a:ln/>
        </p:spPr>
        <p:txBody>
          <a:bodyPr wrap="none" lIns="0" tIns="0" rIns="0" bIns="0" rtlCol="0" anchor="t">
            <a:spAutoFit/>
          </a:bodyPr>
          <a:lstStyle/>
          <a:p>
            <a:pPr marL="0" indent="0" algn="l">
              <a:buNone/>
            </a:pPr>
            <a:r>
              <a:rPr lang="en-US" sz="1400" b="1" dirty="0">
                <a:solidFill>
                  <a:srgbClr val="FFFFFF"/>
                </a:solidFill>
                <a:latin typeface="Roboto Mono Bold" pitchFamily="34" charset="0"/>
                <a:ea typeface="Roboto Mono Bold" pitchFamily="34" charset="-122"/>
                <a:cs typeface="Roboto Mono Bold" pitchFamily="34" charset="-120"/>
              </a:rPr>
              <a:t>~ 0.45</a:t>
            </a:r>
            <a:endParaRPr lang="en-US" sz="1400" dirty="0"/>
          </a:p>
        </p:txBody>
      </p:sp>
      <p:sp>
        <p:nvSpPr>
          <p:cNvPr id="27" name="Text 24"/>
          <p:cNvSpPr/>
          <p:nvPr/>
        </p:nvSpPr>
        <p:spPr>
          <a:xfrm>
            <a:off x="4786313" y="2516721"/>
            <a:ext cx="3786188" cy="226814"/>
          </a:xfrm>
          <a:prstGeom prst="rect">
            <a:avLst/>
          </a:prstGeom>
          <a:noFill/>
          <a:ln/>
        </p:spPr>
        <p:txBody>
          <a:bodyPr wrap="square" lIns="0" tIns="0" rIns="0" bIns="0" rtlCol="0" anchor="t">
            <a:spAutoFit/>
          </a:bodyPr>
          <a:lstStyle/>
          <a:p>
            <a:pPr marL="0" indent="0" algn="l">
              <a:buNone/>
            </a:pPr>
            <a:r>
              <a:rPr lang="en-US" sz="1200" b="1" dirty="0">
                <a:solidFill>
                  <a:srgbClr val="FF4500"/>
                </a:solidFill>
                <a:latin typeface="Roboto Mono Bold" pitchFamily="34" charset="0"/>
                <a:ea typeface="Roboto Mono Bold" pitchFamily="34" charset="-122"/>
                <a:cs typeface="Roboto Mono Bold" pitchFamily="34" charset="-120"/>
              </a:rPr>
              <a:t>OBSERVATIONS</a:t>
            </a:r>
            <a:endParaRPr lang="en-US" sz="1200" dirty="0"/>
          </a:p>
        </p:txBody>
      </p:sp>
      <p:sp>
        <p:nvSpPr>
          <p:cNvPr id="29" name="Text 26"/>
          <p:cNvSpPr/>
          <p:nvPr/>
        </p:nvSpPr>
        <p:spPr>
          <a:xfrm>
            <a:off x="4786313" y="2818171"/>
            <a:ext cx="3500438" cy="822871"/>
          </a:xfrm>
          <a:prstGeom prst="rect">
            <a:avLst/>
          </a:prstGeom>
          <a:noFill/>
          <a:ln/>
        </p:spPr>
        <p:txBody>
          <a:bodyPr wrap="square" lIns="0" tIns="0" rIns="0" bIns="0" rtlCol="0" anchor="t">
            <a:spAutoFit/>
          </a:bodyPr>
          <a:lstStyle/>
          <a:p>
            <a:pPr marL="0" indent="0" algn="l">
              <a:lnSpc>
                <a:spcPct val="128000"/>
              </a:lnSpc>
              <a:buNone/>
            </a:pPr>
            <a:r>
              <a:rPr lang="en-US" sz="900" b="1" dirty="0">
                <a:solidFill>
                  <a:srgbClr val="0A1128"/>
                </a:solidFill>
                <a:latin typeface="Roboto Mono Bold" pitchFamily="34" charset="0"/>
                <a:ea typeface="Roboto Mono Bold" pitchFamily="34" charset="-122"/>
                <a:cs typeface="Roboto Mono Bold" pitchFamily="34" charset="-120"/>
              </a:rPr>
              <a:t>Avantage :</a:t>
            </a:r>
            <a:r>
              <a:rPr lang="en-US" sz="950" dirty="0">
                <a:solidFill>
                  <a:srgbClr val="0A1128"/>
                </a:solidFill>
                <a:latin typeface="Roboto Mono" pitchFamily="34" charset="0"/>
                <a:ea typeface="Roboto Mono" pitchFamily="34" charset="-122"/>
                <a:cs typeface="Roboto Mono" pitchFamily="34" charset="-120"/>
              </a:rPr>
              <a:t> Nette amélioration par rapport au MLP. Les filtres convolutifs capturent efficacement les relations spatio-temporelles locales du spectrogramme Chroma CQT.</a:t>
            </a:r>
            <a:endParaRPr lang="en-US" sz="900" dirty="0"/>
          </a:p>
        </p:txBody>
      </p:sp>
      <p:sp>
        <p:nvSpPr>
          <p:cNvPr id="30" name="Text 27"/>
          <p:cNvSpPr/>
          <p:nvPr/>
        </p:nvSpPr>
        <p:spPr>
          <a:xfrm>
            <a:off x="4786313" y="3713857"/>
            <a:ext cx="3500438" cy="822871"/>
          </a:xfrm>
          <a:prstGeom prst="rect">
            <a:avLst/>
          </a:prstGeom>
          <a:noFill/>
          <a:ln/>
        </p:spPr>
        <p:txBody>
          <a:bodyPr wrap="square" lIns="0" tIns="0" rIns="0" bIns="0" rtlCol="0" anchor="t">
            <a:spAutoFit/>
          </a:bodyPr>
          <a:lstStyle/>
          <a:p>
            <a:pPr marL="0" indent="0" algn="l">
              <a:lnSpc>
                <a:spcPct val="128000"/>
              </a:lnSpc>
              <a:buNone/>
            </a:pPr>
            <a:r>
              <a:rPr lang="en-US" sz="900" b="1" dirty="0">
                <a:solidFill>
                  <a:srgbClr val="0A1128"/>
                </a:solidFill>
                <a:latin typeface="Roboto Mono Bold" pitchFamily="34" charset="0"/>
                <a:ea typeface="Roboto Mono Bold" pitchFamily="34" charset="-122"/>
                <a:cs typeface="Roboto Mono Bold" pitchFamily="34" charset="-120"/>
              </a:rPr>
              <a:t>Problème :</a:t>
            </a:r>
            <a:r>
              <a:rPr lang="en-US" sz="950" dirty="0">
                <a:solidFill>
                  <a:srgbClr val="0A1128"/>
                </a:solidFill>
                <a:latin typeface="Roboto Mono" pitchFamily="34" charset="0"/>
                <a:ea typeface="Roboto Mono" pitchFamily="34" charset="-122"/>
                <a:cs typeface="Roboto Mono" pitchFamily="34" charset="-120"/>
              </a:rPr>
              <a:t> Apparition rapide d'</a:t>
            </a:r>
            <a:r>
              <a:rPr lang="en-US" sz="900" b="1" dirty="0">
                <a:solidFill>
                  <a:srgbClr val="0A1128"/>
                </a:solidFill>
                <a:latin typeface="Roboto Mono Bold" pitchFamily="34" charset="0"/>
                <a:ea typeface="Roboto Mono Bold" pitchFamily="34" charset="-122"/>
                <a:cs typeface="Roboto Mono Bold" pitchFamily="34" charset="-120"/>
              </a:rPr>
              <a:t>overfitting</a:t>
            </a:r>
            <a:r>
              <a:rPr lang="en-US" sz="950" dirty="0">
                <a:solidFill>
                  <a:srgbClr val="0A1128"/>
                </a:solidFill>
                <a:latin typeface="Roboto Mono" pitchFamily="34" charset="0"/>
                <a:ea typeface="Roboto Mono" pitchFamily="34" charset="-122"/>
                <a:cs typeface="Roboto Mono" pitchFamily="34" charset="-120"/>
              </a:rPr>
              <a:t> (surapprentissage) après 15 époques. Le modèle mémorise les données d'entraînement au détriment de la généralisation.</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ext 0"/>
          <p:cNvSpPr/>
          <p:nvPr/>
        </p:nvSpPr>
        <p:spPr>
          <a:xfrm>
            <a:off x="571500" y="357188"/>
            <a:ext cx="8001000" cy="377168"/>
          </a:xfrm>
          <a:prstGeom prst="rect">
            <a:avLst/>
          </a:prstGeom>
          <a:noFill/>
          <a:ln/>
        </p:spPr>
        <p:txBody>
          <a:bodyPr wrap="none" lIns="0" tIns="0" rIns="0" bIns="0" rtlCol="0" anchor="t">
            <a:spAutoFit/>
          </a:bodyPr>
          <a:lstStyle/>
          <a:p>
            <a:pPr marL="0" indent="0" algn="l">
              <a:lnSpc>
                <a:spcPct val="96000"/>
              </a:lnSpc>
              <a:buNone/>
            </a:pPr>
            <a:r>
              <a:rPr lang="en-US" sz="2250" b="1" dirty="0">
                <a:solidFill>
                  <a:srgbClr val="0A1128"/>
                </a:solidFill>
                <a:latin typeface="Playfair Display Black" pitchFamily="34" charset="0"/>
                <a:ea typeface="Playfair Display Black" pitchFamily="34" charset="-122"/>
                <a:cs typeface="Playfair Display Black" pitchFamily="34" charset="-120"/>
              </a:rPr>
              <a:t>Expérimentation 3 : CNN Optimisé</a:t>
            </a:r>
            <a:endParaRPr lang="en-US" sz="2250" dirty="0"/>
          </a:p>
        </p:txBody>
      </p:sp>
      <p:sp>
        <p:nvSpPr>
          <p:cNvPr id="4" name="Text 1"/>
          <p:cNvSpPr/>
          <p:nvPr/>
        </p:nvSpPr>
        <p:spPr>
          <a:xfrm>
            <a:off x="571500" y="1141549"/>
            <a:ext cx="3786188" cy="226814"/>
          </a:xfrm>
          <a:prstGeom prst="rect">
            <a:avLst/>
          </a:prstGeom>
          <a:noFill/>
          <a:ln/>
        </p:spPr>
        <p:txBody>
          <a:bodyPr wrap="square" lIns="0" tIns="0" rIns="0" bIns="0" rtlCol="0" anchor="t">
            <a:spAutoFit/>
          </a:bodyPr>
          <a:lstStyle/>
          <a:p>
            <a:pPr marL="0" indent="0" algn="l">
              <a:buNone/>
            </a:pPr>
            <a:r>
              <a:rPr lang="en-US" sz="1200" b="1" dirty="0">
                <a:solidFill>
                  <a:srgbClr val="FF4500"/>
                </a:solidFill>
                <a:latin typeface="Roboto Mono Bold" pitchFamily="34" charset="0"/>
                <a:ea typeface="Roboto Mono Bold" pitchFamily="34" charset="-122"/>
                <a:cs typeface="Roboto Mono Bold" pitchFamily="34" charset="-120"/>
              </a:rPr>
              <a:t>ARCHITECTURE &amp; HYPERPARAMÈTRES</a:t>
            </a:r>
            <a:endParaRPr lang="en-US" sz="1200" dirty="0"/>
          </a:p>
        </p:txBody>
      </p:sp>
      <p:sp>
        <p:nvSpPr>
          <p:cNvPr id="5" name="Text 2"/>
          <p:cNvSpPr/>
          <p:nvPr/>
        </p:nvSpPr>
        <p:spPr>
          <a:xfrm>
            <a:off x="571500" y="1511238"/>
            <a:ext cx="3786188" cy="411435"/>
          </a:xfrm>
          <a:prstGeom prst="rect">
            <a:avLst/>
          </a:prstGeom>
          <a:noFill/>
          <a:ln/>
        </p:spPr>
        <p:txBody>
          <a:bodyPr wrap="square" lIns="212598" tIns="0" rIns="0" bIns="0" rtlCol="0" anchor="t">
            <a:spAutoFit/>
          </a:bodyPr>
          <a:lstStyle/>
          <a:p>
            <a:pPr marL="0" indent="0" algn="l">
              <a:lnSpc>
                <a:spcPct val="128000"/>
              </a:lnSpc>
              <a:buNone/>
            </a:pPr>
            <a:r>
              <a:rPr lang="en-US" sz="900" b="1" dirty="0">
                <a:solidFill>
                  <a:srgbClr val="0A1128"/>
                </a:solidFill>
                <a:latin typeface="Roboto Mono Bold" pitchFamily="34" charset="0"/>
                <a:ea typeface="Roboto Mono Bold" pitchFamily="34" charset="-122"/>
                <a:cs typeface="Roboto Mono Bold" pitchFamily="34" charset="-120"/>
              </a:rPr>
              <a:t>Couches cachées :</a:t>
            </a:r>
            <a:r>
              <a:rPr lang="en-US" sz="950" dirty="0">
                <a:solidFill>
                  <a:srgbClr val="0A1128"/>
                </a:solidFill>
                <a:latin typeface="Roboto Mono" pitchFamily="34" charset="0"/>
                <a:ea typeface="Roboto Mono" pitchFamily="34" charset="-122"/>
                <a:cs typeface="Roboto Mono" pitchFamily="34" charset="-120"/>
              </a:rPr>
              <a:t> 3 blocs convolutifs (32, 64, 64 filtres) + 1 couche dense (128 neurones).</a:t>
            </a:r>
            <a:endParaRPr lang="en-US" sz="900" dirty="0"/>
          </a:p>
        </p:txBody>
      </p:sp>
      <p:sp>
        <p:nvSpPr>
          <p:cNvPr id="6" name="Text 3"/>
          <p:cNvSpPr/>
          <p:nvPr/>
        </p:nvSpPr>
        <p:spPr>
          <a:xfrm>
            <a:off x="571500" y="2065548"/>
            <a:ext cx="3786188" cy="617153"/>
          </a:xfrm>
          <a:prstGeom prst="rect">
            <a:avLst/>
          </a:prstGeom>
          <a:noFill/>
          <a:ln/>
        </p:spPr>
        <p:txBody>
          <a:bodyPr wrap="square" lIns="212598" tIns="0" rIns="0" bIns="0" rtlCol="0" anchor="t">
            <a:spAutoFit/>
          </a:bodyPr>
          <a:lstStyle/>
          <a:p>
            <a:pPr marL="0" indent="0" algn="l">
              <a:lnSpc>
                <a:spcPct val="128000"/>
              </a:lnSpc>
              <a:buNone/>
            </a:pPr>
            <a:r>
              <a:rPr lang="en-US" sz="900" b="1" dirty="0">
                <a:solidFill>
                  <a:srgbClr val="0A1128"/>
                </a:solidFill>
                <a:latin typeface="Roboto Mono Bold" pitchFamily="34" charset="0"/>
                <a:ea typeface="Roboto Mono Bold" pitchFamily="34" charset="-122"/>
                <a:cs typeface="Roboto Mono Bold" pitchFamily="34" charset="-120"/>
              </a:rPr>
              <a:t>Normalisation :</a:t>
            </a:r>
            <a:r>
              <a:rPr lang="en-US" sz="950" dirty="0">
                <a:solidFill>
                  <a:srgbClr val="0A1128"/>
                </a:solidFill>
                <a:latin typeface="Roboto Mono" pitchFamily="34" charset="0"/>
                <a:ea typeface="Roboto Mono" pitchFamily="34" charset="-122"/>
                <a:cs typeface="Roboto Mono" pitchFamily="34" charset="-120"/>
              </a:rPr>
              <a:t> Batch Normalization après chaque convolution pour stabiliser l'apprentissage.</a:t>
            </a:r>
            <a:endParaRPr lang="en-US" sz="900" dirty="0"/>
          </a:p>
        </p:txBody>
      </p:sp>
      <p:sp>
        <p:nvSpPr>
          <p:cNvPr id="7" name="Text 4"/>
          <p:cNvSpPr/>
          <p:nvPr/>
        </p:nvSpPr>
        <p:spPr>
          <a:xfrm>
            <a:off x="571500" y="2815951"/>
            <a:ext cx="3786188" cy="411435"/>
          </a:xfrm>
          <a:prstGeom prst="rect">
            <a:avLst/>
          </a:prstGeom>
          <a:noFill/>
          <a:ln/>
        </p:spPr>
        <p:txBody>
          <a:bodyPr wrap="square" lIns="212598" tIns="0" rIns="0" bIns="0" rtlCol="0" anchor="t">
            <a:spAutoFit/>
          </a:bodyPr>
          <a:lstStyle/>
          <a:p>
            <a:pPr marL="0" indent="0" algn="l">
              <a:lnSpc>
                <a:spcPct val="128000"/>
              </a:lnSpc>
              <a:buNone/>
            </a:pPr>
            <a:r>
              <a:rPr lang="en-US" sz="900" b="1" dirty="0">
                <a:solidFill>
                  <a:srgbClr val="0A1128"/>
                </a:solidFill>
                <a:latin typeface="Roboto Mono Bold" pitchFamily="34" charset="0"/>
                <a:ea typeface="Roboto Mono Bold" pitchFamily="34" charset="-122"/>
                <a:cs typeface="Roboto Mono Bold" pitchFamily="34" charset="-120"/>
              </a:rPr>
              <a:t>Régularisation :</a:t>
            </a:r>
            <a:r>
              <a:rPr lang="en-US" sz="950" dirty="0">
                <a:solidFill>
                  <a:srgbClr val="0A1128"/>
                </a:solidFill>
                <a:latin typeface="Roboto Mono" pitchFamily="34" charset="0"/>
                <a:ea typeface="Roboto Mono" pitchFamily="34" charset="-122"/>
                <a:cs typeface="Roboto Mono" pitchFamily="34" charset="-120"/>
              </a:rPr>
              <a:t> Dropout agressif (25%) et pénalité L2 (0.001) sur les poids.</a:t>
            </a:r>
            <a:endParaRPr lang="en-US" sz="900" dirty="0"/>
          </a:p>
        </p:txBody>
      </p:sp>
      <p:sp>
        <p:nvSpPr>
          <p:cNvPr id="8" name="Text 5"/>
          <p:cNvSpPr/>
          <p:nvPr/>
        </p:nvSpPr>
        <p:spPr>
          <a:xfrm>
            <a:off x="571500" y="3379887"/>
            <a:ext cx="3786188" cy="205718"/>
          </a:xfrm>
          <a:prstGeom prst="rect">
            <a:avLst/>
          </a:prstGeom>
          <a:noFill/>
          <a:ln/>
        </p:spPr>
        <p:txBody>
          <a:bodyPr wrap="none" lIns="212598" tIns="0" rIns="0" bIns="0" rtlCol="0" anchor="t">
            <a:spAutoFit/>
          </a:bodyPr>
          <a:lstStyle/>
          <a:p>
            <a:pPr marL="0" indent="0" algn="l">
              <a:lnSpc>
                <a:spcPct val="128000"/>
              </a:lnSpc>
              <a:buNone/>
            </a:pPr>
            <a:r>
              <a:rPr lang="en-US" sz="900" b="1" dirty="0">
                <a:solidFill>
                  <a:srgbClr val="0A1128"/>
                </a:solidFill>
                <a:latin typeface="Roboto Mono Bold" pitchFamily="34" charset="0"/>
                <a:ea typeface="Roboto Mono Bold" pitchFamily="34" charset="-122"/>
                <a:cs typeface="Roboto Mono Bold" pitchFamily="34" charset="-120"/>
              </a:rPr>
              <a:t>Optimiseur :</a:t>
            </a:r>
            <a:r>
              <a:rPr lang="en-US" sz="950" dirty="0">
                <a:solidFill>
                  <a:srgbClr val="0A1128"/>
                </a:solidFill>
                <a:latin typeface="Roboto Mono" pitchFamily="34" charset="0"/>
                <a:ea typeface="Roboto Mono" pitchFamily="34" charset="-122"/>
                <a:cs typeface="Roboto Mono" pitchFamily="34" charset="-120"/>
              </a:rPr>
              <a:t> Adam (Learning Rate = 0.001).</a:t>
            </a:r>
            <a:endParaRPr lang="en-US" sz="900" dirty="0"/>
          </a:p>
        </p:txBody>
      </p:sp>
      <p:sp>
        <p:nvSpPr>
          <p:cNvPr id="9" name="Text 6"/>
          <p:cNvSpPr/>
          <p:nvPr/>
        </p:nvSpPr>
        <p:spPr>
          <a:xfrm>
            <a:off x="571500" y="3728479"/>
            <a:ext cx="3786188" cy="411435"/>
          </a:xfrm>
          <a:prstGeom prst="rect">
            <a:avLst/>
          </a:prstGeom>
          <a:noFill/>
          <a:ln/>
        </p:spPr>
        <p:txBody>
          <a:bodyPr wrap="square" lIns="212598" tIns="0" rIns="0" bIns="0" rtlCol="0" anchor="t">
            <a:spAutoFit/>
          </a:bodyPr>
          <a:lstStyle/>
          <a:p>
            <a:pPr marL="0" indent="0" algn="l">
              <a:lnSpc>
                <a:spcPct val="128000"/>
              </a:lnSpc>
              <a:buNone/>
            </a:pPr>
            <a:r>
              <a:rPr lang="en-US" sz="900" b="1" dirty="0">
                <a:solidFill>
                  <a:srgbClr val="0A1128"/>
                </a:solidFill>
                <a:latin typeface="Roboto Mono Bold" pitchFamily="34" charset="0"/>
                <a:ea typeface="Roboto Mono Bold" pitchFamily="34" charset="-122"/>
                <a:cs typeface="Roboto Mono Bold" pitchFamily="34" charset="-120"/>
              </a:rPr>
              <a:t>Données :</a:t>
            </a:r>
            <a:r>
              <a:rPr lang="en-US" sz="950" dirty="0">
                <a:solidFill>
                  <a:srgbClr val="0A1128"/>
                </a:solidFill>
                <a:latin typeface="Roboto Mono" pitchFamily="34" charset="0"/>
                <a:ea typeface="Roboto Mono" pitchFamily="34" charset="-122"/>
                <a:cs typeface="Roboto Mono" pitchFamily="34" charset="-120"/>
              </a:rPr>
              <a:t> Utilisation du dataset complet avec augmentation (bruit, pitch shift).</a:t>
            </a:r>
            <a:endParaRPr lang="en-US" sz="900" dirty="0"/>
          </a:p>
        </p:txBody>
      </p:sp>
      <p:sp>
        <p:nvSpPr>
          <p:cNvPr id="10" name="Text 7"/>
          <p:cNvSpPr/>
          <p:nvPr/>
        </p:nvSpPr>
        <p:spPr>
          <a:xfrm>
            <a:off x="571500" y="1525525"/>
            <a:ext cx="59996" cy="159981"/>
          </a:xfrm>
          <a:prstGeom prst="rect">
            <a:avLst/>
          </a:prstGeom>
          <a:noFill/>
          <a:ln/>
        </p:spPr>
        <p:txBody>
          <a:bodyPr wrap="none" lIns="0" tIns="0" rIns="0" bIns="0" rtlCol="0" anchor="t">
            <a:spAutoFit/>
          </a:bodyPr>
          <a:lstStyle/>
          <a:p>
            <a:pPr marL="0" indent="0" algn="l">
              <a:lnSpc>
                <a:spcPct val="128000"/>
              </a:lnSpc>
              <a:buNone/>
            </a:pPr>
            <a:r>
              <a:rPr lang="en-US" sz="750" dirty="0">
                <a:solidFill>
                  <a:srgbClr val="FF4500"/>
                </a:solidFill>
                <a:latin typeface="Roboto Mono" pitchFamily="34" charset="0"/>
                <a:ea typeface="Roboto Mono" pitchFamily="34" charset="-122"/>
                <a:cs typeface="Roboto Mono" pitchFamily="34" charset="-120"/>
              </a:rPr>
              <a:t>■</a:t>
            </a:r>
            <a:endParaRPr lang="en-US" sz="750" dirty="0"/>
          </a:p>
        </p:txBody>
      </p:sp>
      <p:sp>
        <p:nvSpPr>
          <p:cNvPr id="11" name="Text 8"/>
          <p:cNvSpPr/>
          <p:nvPr/>
        </p:nvSpPr>
        <p:spPr>
          <a:xfrm>
            <a:off x="571500" y="2079836"/>
            <a:ext cx="59996" cy="159981"/>
          </a:xfrm>
          <a:prstGeom prst="rect">
            <a:avLst/>
          </a:prstGeom>
          <a:noFill/>
          <a:ln/>
        </p:spPr>
        <p:txBody>
          <a:bodyPr wrap="none" lIns="0" tIns="0" rIns="0" bIns="0" rtlCol="0" anchor="t">
            <a:spAutoFit/>
          </a:bodyPr>
          <a:lstStyle/>
          <a:p>
            <a:pPr marL="0" indent="0" algn="l">
              <a:lnSpc>
                <a:spcPct val="128000"/>
              </a:lnSpc>
              <a:buNone/>
            </a:pPr>
            <a:r>
              <a:rPr lang="en-US" sz="750" dirty="0">
                <a:solidFill>
                  <a:srgbClr val="FF4500"/>
                </a:solidFill>
                <a:latin typeface="Roboto Mono" pitchFamily="34" charset="0"/>
                <a:ea typeface="Roboto Mono" pitchFamily="34" charset="-122"/>
                <a:cs typeface="Roboto Mono" pitchFamily="34" charset="-120"/>
              </a:rPr>
              <a:t>■</a:t>
            </a:r>
            <a:endParaRPr lang="en-US" sz="750" dirty="0"/>
          </a:p>
        </p:txBody>
      </p:sp>
      <p:sp>
        <p:nvSpPr>
          <p:cNvPr id="12" name="Text 9"/>
          <p:cNvSpPr/>
          <p:nvPr/>
        </p:nvSpPr>
        <p:spPr>
          <a:xfrm>
            <a:off x="571500" y="2839864"/>
            <a:ext cx="59996" cy="159981"/>
          </a:xfrm>
          <a:prstGeom prst="rect">
            <a:avLst/>
          </a:prstGeom>
          <a:noFill/>
          <a:ln/>
        </p:spPr>
        <p:txBody>
          <a:bodyPr wrap="none" lIns="0" tIns="0" rIns="0" bIns="0" rtlCol="0" anchor="t">
            <a:spAutoFit/>
          </a:bodyPr>
          <a:lstStyle/>
          <a:p>
            <a:pPr marL="0" indent="0" algn="l">
              <a:lnSpc>
                <a:spcPct val="128000"/>
              </a:lnSpc>
              <a:buNone/>
            </a:pPr>
            <a:r>
              <a:rPr lang="en-US" sz="750" dirty="0">
                <a:solidFill>
                  <a:srgbClr val="FF4500"/>
                </a:solidFill>
                <a:latin typeface="Roboto Mono" pitchFamily="34" charset="0"/>
                <a:ea typeface="Roboto Mono" pitchFamily="34" charset="-122"/>
                <a:cs typeface="Roboto Mono" pitchFamily="34" charset="-120"/>
              </a:rPr>
              <a:t>■</a:t>
            </a:r>
            <a:endParaRPr lang="en-US" sz="750" dirty="0"/>
          </a:p>
        </p:txBody>
      </p:sp>
      <p:sp>
        <p:nvSpPr>
          <p:cNvPr id="13" name="Text 10"/>
          <p:cNvSpPr/>
          <p:nvPr/>
        </p:nvSpPr>
        <p:spPr>
          <a:xfrm>
            <a:off x="571500" y="3394174"/>
            <a:ext cx="59996" cy="159981"/>
          </a:xfrm>
          <a:prstGeom prst="rect">
            <a:avLst/>
          </a:prstGeom>
          <a:noFill/>
          <a:ln/>
        </p:spPr>
        <p:txBody>
          <a:bodyPr wrap="none" lIns="0" tIns="0" rIns="0" bIns="0" rtlCol="0" anchor="t">
            <a:spAutoFit/>
          </a:bodyPr>
          <a:lstStyle/>
          <a:p>
            <a:pPr marL="0" indent="0" algn="l">
              <a:lnSpc>
                <a:spcPct val="128000"/>
              </a:lnSpc>
              <a:buNone/>
            </a:pPr>
            <a:r>
              <a:rPr lang="en-US" sz="750" dirty="0">
                <a:solidFill>
                  <a:srgbClr val="FF4500"/>
                </a:solidFill>
                <a:latin typeface="Roboto Mono" pitchFamily="34" charset="0"/>
                <a:ea typeface="Roboto Mono" pitchFamily="34" charset="-122"/>
                <a:cs typeface="Roboto Mono" pitchFamily="34" charset="-120"/>
              </a:rPr>
              <a:t>■</a:t>
            </a:r>
            <a:endParaRPr lang="en-US" sz="750" dirty="0"/>
          </a:p>
        </p:txBody>
      </p:sp>
      <p:sp>
        <p:nvSpPr>
          <p:cNvPr id="14" name="Text 11"/>
          <p:cNvSpPr/>
          <p:nvPr/>
        </p:nvSpPr>
        <p:spPr>
          <a:xfrm>
            <a:off x="571500" y="3742767"/>
            <a:ext cx="59996" cy="159981"/>
          </a:xfrm>
          <a:prstGeom prst="rect">
            <a:avLst/>
          </a:prstGeom>
          <a:noFill/>
          <a:ln/>
        </p:spPr>
        <p:txBody>
          <a:bodyPr wrap="none" lIns="0" tIns="0" rIns="0" bIns="0" rtlCol="0" anchor="t">
            <a:spAutoFit/>
          </a:bodyPr>
          <a:lstStyle/>
          <a:p>
            <a:pPr marL="0" indent="0" algn="l">
              <a:lnSpc>
                <a:spcPct val="128000"/>
              </a:lnSpc>
              <a:buNone/>
            </a:pPr>
            <a:r>
              <a:rPr lang="en-US" sz="750" dirty="0">
                <a:solidFill>
                  <a:srgbClr val="FF4500"/>
                </a:solidFill>
                <a:latin typeface="Roboto Mono" pitchFamily="34" charset="0"/>
                <a:ea typeface="Roboto Mono" pitchFamily="34" charset="-122"/>
                <a:cs typeface="Roboto Mono" pitchFamily="34" charset="-120"/>
              </a:rPr>
              <a:t>■</a:t>
            </a:r>
            <a:endParaRPr lang="en-US" sz="750" dirty="0"/>
          </a:p>
        </p:txBody>
      </p:sp>
      <p:sp>
        <p:nvSpPr>
          <p:cNvPr id="15" name="Shape 12"/>
          <p:cNvSpPr/>
          <p:nvPr/>
        </p:nvSpPr>
        <p:spPr>
          <a:xfrm>
            <a:off x="4786313" y="1141549"/>
            <a:ext cx="3786188" cy="862608"/>
          </a:xfrm>
          <a:prstGeom prst="rect">
            <a:avLst/>
          </a:prstGeom>
          <a:solidFill>
            <a:srgbClr val="0A1128"/>
          </a:solidFill>
          <a:ln/>
        </p:spPr>
        <p:txBody>
          <a:bodyPr/>
          <a:lstStyle/>
          <a:p>
            <a:endParaRPr lang="en-US"/>
          </a:p>
        </p:txBody>
      </p:sp>
      <p:sp>
        <p:nvSpPr>
          <p:cNvPr id="16" name="Shape 13"/>
          <p:cNvSpPr/>
          <p:nvPr/>
        </p:nvSpPr>
        <p:spPr>
          <a:xfrm>
            <a:off x="4786313" y="1141549"/>
            <a:ext cx="42863" cy="862608"/>
          </a:xfrm>
          <a:prstGeom prst="rect">
            <a:avLst/>
          </a:prstGeom>
          <a:solidFill>
            <a:srgbClr val="FF4500"/>
          </a:solidFill>
          <a:ln/>
        </p:spPr>
        <p:txBody>
          <a:bodyPr/>
          <a:lstStyle/>
          <a:p>
            <a:endParaRPr lang="en-US"/>
          </a:p>
        </p:txBody>
      </p:sp>
      <p:sp>
        <p:nvSpPr>
          <p:cNvPr id="17" name="Text 14"/>
          <p:cNvSpPr/>
          <p:nvPr/>
        </p:nvSpPr>
        <p:spPr>
          <a:xfrm>
            <a:off x="4964906" y="1320143"/>
            <a:ext cx="3429000" cy="208955"/>
          </a:xfrm>
          <a:prstGeom prst="rect">
            <a:avLst/>
          </a:prstGeom>
          <a:noFill/>
          <a:ln/>
        </p:spPr>
        <p:txBody>
          <a:bodyPr wrap="square" lIns="0" tIns="0" rIns="0" bIns="0" rtlCol="0" anchor="t">
            <a:spAutoFit/>
          </a:bodyPr>
          <a:lstStyle/>
          <a:p>
            <a:pPr marL="0" indent="0" algn="l">
              <a:buNone/>
            </a:pPr>
            <a:r>
              <a:rPr lang="en-US" sz="1100" b="1" dirty="0">
                <a:solidFill>
                  <a:srgbClr val="FF4500"/>
                </a:solidFill>
                <a:latin typeface="Playfair Display Black" pitchFamily="34" charset="0"/>
                <a:ea typeface="Playfair Display Black" pitchFamily="34" charset="-122"/>
                <a:cs typeface="Playfair Display Black" pitchFamily="34" charset="-120"/>
              </a:rPr>
              <a:t>Performances (Test Set)</a:t>
            </a:r>
            <a:endParaRPr lang="en-US" sz="1100" dirty="0"/>
          </a:p>
        </p:txBody>
      </p:sp>
      <p:sp>
        <p:nvSpPr>
          <p:cNvPr id="18" name="Text 15"/>
          <p:cNvSpPr/>
          <p:nvPr/>
        </p:nvSpPr>
        <p:spPr>
          <a:xfrm>
            <a:off x="4964906" y="1636254"/>
            <a:ext cx="1457325" cy="189309"/>
          </a:xfrm>
          <a:prstGeom prst="rect">
            <a:avLst/>
          </a:prstGeom>
          <a:noFill/>
          <a:ln/>
        </p:spPr>
        <p:txBody>
          <a:bodyPr wrap="square" lIns="0" tIns="0" rIns="0" bIns="0" rtlCol="0" anchor="t">
            <a:spAutoFit/>
          </a:bodyPr>
          <a:lstStyle/>
          <a:p>
            <a:pPr marL="0" indent="0" algn="l">
              <a:buNone/>
            </a:pPr>
            <a:r>
              <a:rPr lang="en-US" sz="1000" b="1" dirty="0">
                <a:solidFill>
                  <a:srgbClr val="FFFFFF"/>
                </a:solidFill>
                <a:latin typeface="Roboto Mono Bold" pitchFamily="34" charset="0"/>
                <a:ea typeface="Roboto Mono Bold" pitchFamily="34" charset="-122"/>
                <a:cs typeface="Roboto Mono Bold" pitchFamily="34" charset="-120"/>
              </a:rPr>
              <a:t>Accuracy : 99.48%</a:t>
            </a:r>
            <a:endParaRPr lang="en-US" sz="1000" dirty="0"/>
          </a:p>
        </p:txBody>
      </p:sp>
      <p:sp>
        <p:nvSpPr>
          <p:cNvPr id="19" name="Text 16"/>
          <p:cNvSpPr/>
          <p:nvPr/>
        </p:nvSpPr>
        <p:spPr>
          <a:xfrm>
            <a:off x="7279481" y="1636254"/>
            <a:ext cx="1114425" cy="189309"/>
          </a:xfrm>
          <a:prstGeom prst="rect">
            <a:avLst/>
          </a:prstGeom>
          <a:noFill/>
          <a:ln/>
        </p:spPr>
        <p:txBody>
          <a:bodyPr wrap="none" lIns="0" tIns="0" rIns="0" bIns="0" rtlCol="0" anchor="t">
            <a:spAutoFit/>
          </a:bodyPr>
          <a:lstStyle/>
          <a:p>
            <a:pPr marL="0" indent="0" algn="l">
              <a:buNone/>
            </a:pPr>
            <a:r>
              <a:rPr lang="en-US" sz="1000" b="1" dirty="0">
                <a:solidFill>
                  <a:srgbClr val="FFFFFF"/>
                </a:solidFill>
                <a:latin typeface="Roboto Mono Bold" pitchFamily="34" charset="0"/>
                <a:ea typeface="Roboto Mono Bold" pitchFamily="34" charset="-122"/>
                <a:cs typeface="Roboto Mono Bold" pitchFamily="34" charset="-120"/>
              </a:rPr>
              <a:t>Loss : 0.0380</a:t>
            </a:r>
            <a:endParaRPr lang="en-US" sz="1000" dirty="0"/>
          </a:p>
        </p:txBody>
      </p:sp>
      <p:sp>
        <p:nvSpPr>
          <p:cNvPr id="21" name="Text 18"/>
          <p:cNvSpPr/>
          <p:nvPr/>
        </p:nvSpPr>
        <p:spPr>
          <a:xfrm>
            <a:off x="4964906" y="2397063"/>
            <a:ext cx="3429000" cy="189309"/>
          </a:xfrm>
          <a:prstGeom prst="rect">
            <a:avLst/>
          </a:prstGeom>
          <a:noFill/>
          <a:ln/>
        </p:spPr>
        <p:txBody>
          <a:bodyPr wrap="square" lIns="0" tIns="0" rIns="0" bIns="0" rtlCol="0" anchor="t">
            <a:spAutoFit/>
          </a:bodyPr>
          <a:lstStyle/>
          <a:p>
            <a:pPr marL="0" indent="0" algn="l">
              <a:buNone/>
            </a:pPr>
            <a:r>
              <a:rPr lang="en-US" sz="1000" b="1" dirty="0">
                <a:solidFill>
                  <a:srgbClr val="0A1128"/>
                </a:solidFill>
                <a:latin typeface="Roboto Mono Bold" pitchFamily="34" charset="0"/>
                <a:ea typeface="Roboto Mono Bold" pitchFamily="34" charset="-122"/>
                <a:cs typeface="Roboto Mono Bold" pitchFamily="34" charset="-120"/>
              </a:rPr>
              <a:t>Observations</a:t>
            </a:r>
            <a:endParaRPr lang="en-US" sz="1000" dirty="0"/>
          </a:p>
        </p:txBody>
      </p:sp>
      <p:sp>
        <p:nvSpPr>
          <p:cNvPr id="22" name="Text 19"/>
          <p:cNvSpPr/>
          <p:nvPr/>
        </p:nvSpPr>
        <p:spPr>
          <a:xfrm>
            <a:off x="4964906" y="2693529"/>
            <a:ext cx="3429000" cy="359137"/>
          </a:xfrm>
          <a:prstGeom prst="rect">
            <a:avLst/>
          </a:prstGeom>
          <a:noFill/>
          <a:ln/>
        </p:spPr>
        <p:txBody>
          <a:bodyPr wrap="square" lIns="212598" tIns="0" rIns="0" bIns="0" rtlCol="0" anchor="t">
            <a:spAutoFit/>
          </a:bodyPr>
          <a:lstStyle/>
          <a:p>
            <a:pPr marL="0" indent="0" algn="l">
              <a:lnSpc>
                <a:spcPct val="128000"/>
              </a:lnSpc>
              <a:buNone/>
            </a:pPr>
            <a:r>
              <a:rPr lang="en-US" sz="950" dirty="0">
                <a:solidFill>
                  <a:srgbClr val="0A1128"/>
                </a:solidFill>
                <a:latin typeface="Roboto Mono" pitchFamily="34" charset="0"/>
                <a:ea typeface="Roboto Mono" pitchFamily="34" charset="-122"/>
                <a:cs typeface="Roboto Mono" pitchFamily="34" charset="-120"/>
              </a:rPr>
              <a:t>La </a:t>
            </a:r>
            <a:r>
              <a:rPr lang="en-US" sz="900" b="1" dirty="0">
                <a:solidFill>
                  <a:srgbClr val="0A1128"/>
                </a:solidFill>
                <a:latin typeface="Roboto Mono Bold" pitchFamily="34" charset="0"/>
                <a:ea typeface="Roboto Mono Bold" pitchFamily="34" charset="-122"/>
                <a:cs typeface="Roboto Mono Bold" pitchFamily="34" charset="-120"/>
              </a:rPr>
              <a:t>Batch Normalization</a:t>
            </a:r>
            <a:r>
              <a:rPr lang="en-US" sz="950" dirty="0">
                <a:solidFill>
                  <a:srgbClr val="0A1128"/>
                </a:solidFill>
                <a:latin typeface="Roboto Mono" pitchFamily="34" charset="0"/>
                <a:ea typeface="Roboto Mono" pitchFamily="34" charset="-122"/>
                <a:cs typeface="Roboto Mono" pitchFamily="34" charset="-120"/>
              </a:rPr>
              <a:t> </a:t>
            </a:r>
            <a:r>
              <a:rPr lang="en-US" sz="950" dirty="0" err="1">
                <a:solidFill>
                  <a:srgbClr val="0A1128"/>
                </a:solidFill>
                <a:latin typeface="Roboto Mono" pitchFamily="34" charset="0"/>
                <a:ea typeface="Roboto Mono" pitchFamily="34" charset="-122"/>
                <a:cs typeface="Roboto Mono" pitchFamily="34" charset="-120"/>
              </a:rPr>
              <a:t>accélère</a:t>
            </a:r>
            <a:r>
              <a:rPr lang="en-US" sz="950" dirty="0">
                <a:solidFill>
                  <a:srgbClr val="0A1128"/>
                </a:solidFill>
                <a:latin typeface="Roboto Mono" pitchFamily="34" charset="0"/>
                <a:ea typeface="Roboto Mono" pitchFamily="34" charset="-122"/>
                <a:cs typeface="Roboto Mono" pitchFamily="34" charset="-120"/>
              </a:rPr>
              <a:t> la convergence initiale.</a:t>
            </a:r>
            <a:endParaRPr lang="en-US" sz="950" dirty="0"/>
          </a:p>
        </p:txBody>
      </p:sp>
      <p:sp>
        <p:nvSpPr>
          <p:cNvPr id="23" name="Text 20"/>
          <p:cNvSpPr/>
          <p:nvPr/>
        </p:nvSpPr>
        <p:spPr>
          <a:xfrm>
            <a:off x="4964906" y="3247839"/>
            <a:ext cx="3429000" cy="359137"/>
          </a:xfrm>
          <a:prstGeom prst="rect">
            <a:avLst/>
          </a:prstGeom>
          <a:noFill/>
          <a:ln/>
        </p:spPr>
        <p:txBody>
          <a:bodyPr wrap="square" lIns="212598" tIns="0" rIns="0" bIns="0" rtlCol="0" anchor="t">
            <a:spAutoFit/>
          </a:bodyPr>
          <a:lstStyle/>
          <a:p>
            <a:pPr marL="0" indent="0" algn="l">
              <a:lnSpc>
                <a:spcPct val="128000"/>
              </a:lnSpc>
              <a:buNone/>
            </a:pPr>
            <a:r>
              <a:rPr lang="en-US" sz="950" dirty="0">
                <a:solidFill>
                  <a:srgbClr val="0A1128"/>
                </a:solidFill>
                <a:latin typeface="Roboto Mono" pitchFamily="34" charset="0"/>
                <a:ea typeface="Roboto Mono" pitchFamily="34" charset="-122"/>
                <a:cs typeface="Roboto Mono" pitchFamily="34" charset="-120"/>
              </a:rPr>
              <a:t>Le </a:t>
            </a:r>
            <a:r>
              <a:rPr lang="en-US" sz="900" b="1" dirty="0">
                <a:solidFill>
                  <a:srgbClr val="0A1128"/>
                </a:solidFill>
                <a:latin typeface="Roboto Mono Bold" pitchFamily="34" charset="0"/>
                <a:ea typeface="Roboto Mono Bold" pitchFamily="34" charset="-122"/>
                <a:cs typeface="Roboto Mono Bold" pitchFamily="34" charset="-120"/>
              </a:rPr>
              <a:t>Dropout</a:t>
            </a:r>
            <a:r>
              <a:rPr lang="en-US" sz="950" dirty="0">
                <a:solidFill>
                  <a:srgbClr val="0A1128"/>
                </a:solidFill>
                <a:latin typeface="Roboto Mono" pitchFamily="34" charset="0"/>
                <a:ea typeface="Roboto Mono" pitchFamily="34" charset="-122"/>
                <a:cs typeface="Roboto Mono" pitchFamily="34" charset="-120"/>
              </a:rPr>
              <a:t> </a:t>
            </a:r>
            <a:r>
              <a:rPr lang="en-US" sz="950" dirty="0" err="1">
                <a:solidFill>
                  <a:srgbClr val="0A1128"/>
                </a:solidFill>
                <a:latin typeface="Roboto Mono" pitchFamily="34" charset="0"/>
                <a:ea typeface="Roboto Mono" pitchFamily="34" charset="-122"/>
                <a:cs typeface="Roboto Mono" pitchFamily="34" charset="-120"/>
              </a:rPr>
              <a:t>empêche</a:t>
            </a:r>
            <a:r>
              <a:rPr lang="en-US" sz="950" dirty="0">
                <a:solidFill>
                  <a:srgbClr val="0A1128"/>
                </a:solidFill>
                <a:latin typeface="Roboto Mono" pitchFamily="34" charset="0"/>
                <a:ea typeface="Roboto Mono" pitchFamily="34" charset="-122"/>
                <a:cs typeface="Roboto Mono" pitchFamily="34" charset="-120"/>
              </a:rPr>
              <a:t> le réseau de mémoriser le bruit d'entraînement.</a:t>
            </a:r>
            <a:endParaRPr lang="en-US" sz="950" dirty="0"/>
          </a:p>
        </p:txBody>
      </p:sp>
      <p:sp>
        <p:nvSpPr>
          <p:cNvPr id="24" name="Text 21"/>
          <p:cNvSpPr/>
          <p:nvPr/>
        </p:nvSpPr>
        <p:spPr>
          <a:xfrm>
            <a:off x="4964906" y="3802149"/>
            <a:ext cx="3429000" cy="359137"/>
          </a:xfrm>
          <a:prstGeom prst="rect">
            <a:avLst/>
          </a:prstGeom>
          <a:noFill/>
          <a:ln/>
        </p:spPr>
        <p:txBody>
          <a:bodyPr wrap="square" lIns="212598" tIns="0" rIns="0" bIns="0" rtlCol="0" anchor="t">
            <a:spAutoFit/>
          </a:bodyPr>
          <a:lstStyle/>
          <a:p>
            <a:pPr marL="0" indent="0" algn="l">
              <a:lnSpc>
                <a:spcPct val="128000"/>
              </a:lnSpc>
              <a:buNone/>
            </a:pPr>
            <a:r>
              <a:rPr lang="en-US" sz="950" dirty="0">
                <a:solidFill>
                  <a:srgbClr val="0A1128"/>
                </a:solidFill>
                <a:latin typeface="Roboto Mono" pitchFamily="34" charset="0"/>
                <a:ea typeface="Roboto Mono" pitchFamily="34" charset="-122"/>
                <a:cs typeface="Roboto Mono" pitchFamily="34" charset="-120"/>
              </a:rPr>
              <a:t>L'</a:t>
            </a:r>
            <a:r>
              <a:rPr lang="en-US" sz="900" b="1" dirty="0">
                <a:solidFill>
                  <a:srgbClr val="0A1128"/>
                </a:solidFill>
                <a:latin typeface="Roboto Mono Bold" pitchFamily="34" charset="0"/>
                <a:ea typeface="Roboto Mono Bold" pitchFamily="34" charset="-122"/>
                <a:cs typeface="Roboto Mono Bold" pitchFamily="34" charset="-120"/>
              </a:rPr>
              <a:t>augmentation des données</a:t>
            </a:r>
            <a:r>
              <a:rPr lang="en-US" sz="950" dirty="0">
                <a:solidFill>
                  <a:srgbClr val="0A1128"/>
                </a:solidFill>
                <a:latin typeface="Roboto Mono" pitchFamily="34" charset="0"/>
                <a:ea typeface="Roboto Mono" pitchFamily="34" charset="-122"/>
                <a:cs typeface="Roboto Mono" pitchFamily="34" charset="-120"/>
              </a:rPr>
              <a:t> pour </a:t>
            </a:r>
            <a:r>
              <a:rPr lang="en-US" sz="950" dirty="0" err="1">
                <a:solidFill>
                  <a:srgbClr val="0A1128"/>
                </a:solidFill>
                <a:latin typeface="Roboto Mono" pitchFamily="34" charset="0"/>
                <a:ea typeface="Roboto Mono" pitchFamily="34" charset="-122"/>
                <a:cs typeface="Roboto Mono" pitchFamily="34" charset="-120"/>
              </a:rPr>
              <a:t>maintenir</a:t>
            </a:r>
            <a:r>
              <a:rPr lang="en-US" sz="950" dirty="0">
                <a:solidFill>
                  <a:srgbClr val="0A1128"/>
                </a:solidFill>
                <a:latin typeface="Roboto Mono" pitchFamily="34" charset="0"/>
                <a:ea typeface="Roboto Mono" pitchFamily="34" charset="-122"/>
                <a:cs typeface="Roboto Mono" pitchFamily="34" charset="-120"/>
              </a:rPr>
              <a:t> la performance sur des données inédites.</a:t>
            </a:r>
            <a:endParaRPr lang="en-US" sz="950" dirty="0"/>
          </a:p>
        </p:txBody>
      </p:sp>
      <p:sp>
        <p:nvSpPr>
          <p:cNvPr id="25" name="Text 22"/>
          <p:cNvSpPr/>
          <p:nvPr/>
        </p:nvSpPr>
        <p:spPr>
          <a:xfrm>
            <a:off x="4964906" y="2707816"/>
            <a:ext cx="59996" cy="159981"/>
          </a:xfrm>
          <a:prstGeom prst="rect">
            <a:avLst/>
          </a:prstGeom>
          <a:noFill/>
          <a:ln/>
        </p:spPr>
        <p:txBody>
          <a:bodyPr wrap="none" lIns="0" tIns="0" rIns="0" bIns="0" rtlCol="0" anchor="t">
            <a:spAutoFit/>
          </a:bodyPr>
          <a:lstStyle/>
          <a:p>
            <a:pPr marL="0" indent="0" algn="l">
              <a:lnSpc>
                <a:spcPct val="128000"/>
              </a:lnSpc>
              <a:buNone/>
            </a:pPr>
            <a:r>
              <a:rPr lang="en-US" sz="750" dirty="0">
                <a:solidFill>
                  <a:srgbClr val="FF4500"/>
                </a:solidFill>
                <a:latin typeface="Roboto Mono" pitchFamily="34" charset="0"/>
                <a:ea typeface="Roboto Mono" pitchFamily="34" charset="-122"/>
                <a:cs typeface="Roboto Mono" pitchFamily="34" charset="-120"/>
              </a:rPr>
              <a:t>■</a:t>
            </a:r>
            <a:endParaRPr lang="en-US" sz="750" dirty="0"/>
          </a:p>
        </p:txBody>
      </p:sp>
      <p:sp>
        <p:nvSpPr>
          <p:cNvPr id="26" name="Text 23"/>
          <p:cNvSpPr/>
          <p:nvPr/>
        </p:nvSpPr>
        <p:spPr>
          <a:xfrm>
            <a:off x="4964906" y="3262126"/>
            <a:ext cx="59996" cy="159981"/>
          </a:xfrm>
          <a:prstGeom prst="rect">
            <a:avLst/>
          </a:prstGeom>
          <a:noFill/>
          <a:ln/>
        </p:spPr>
        <p:txBody>
          <a:bodyPr wrap="none" lIns="0" tIns="0" rIns="0" bIns="0" rtlCol="0" anchor="t">
            <a:spAutoFit/>
          </a:bodyPr>
          <a:lstStyle/>
          <a:p>
            <a:pPr marL="0" indent="0" algn="l">
              <a:lnSpc>
                <a:spcPct val="128000"/>
              </a:lnSpc>
              <a:buNone/>
            </a:pPr>
            <a:r>
              <a:rPr lang="en-US" sz="750" dirty="0">
                <a:solidFill>
                  <a:srgbClr val="FF4500"/>
                </a:solidFill>
                <a:latin typeface="Roboto Mono" pitchFamily="34" charset="0"/>
                <a:ea typeface="Roboto Mono" pitchFamily="34" charset="-122"/>
                <a:cs typeface="Roboto Mono" pitchFamily="34" charset="-120"/>
              </a:rPr>
              <a:t>■</a:t>
            </a:r>
            <a:endParaRPr lang="en-US" sz="750" dirty="0"/>
          </a:p>
        </p:txBody>
      </p:sp>
      <p:sp>
        <p:nvSpPr>
          <p:cNvPr id="27" name="Text 24"/>
          <p:cNvSpPr/>
          <p:nvPr/>
        </p:nvSpPr>
        <p:spPr>
          <a:xfrm>
            <a:off x="4964906" y="3816437"/>
            <a:ext cx="59996" cy="159981"/>
          </a:xfrm>
          <a:prstGeom prst="rect">
            <a:avLst/>
          </a:prstGeom>
          <a:noFill/>
          <a:ln/>
        </p:spPr>
        <p:txBody>
          <a:bodyPr wrap="none" lIns="0" tIns="0" rIns="0" bIns="0" rtlCol="0" anchor="t">
            <a:spAutoFit/>
          </a:bodyPr>
          <a:lstStyle/>
          <a:p>
            <a:pPr marL="0" indent="0" algn="l">
              <a:lnSpc>
                <a:spcPct val="128000"/>
              </a:lnSpc>
              <a:buNone/>
            </a:pPr>
            <a:r>
              <a:rPr lang="en-US" sz="750" dirty="0">
                <a:solidFill>
                  <a:srgbClr val="FF4500"/>
                </a:solidFill>
                <a:latin typeface="Roboto Mono" pitchFamily="34" charset="0"/>
                <a:ea typeface="Roboto Mono" pitchFamily="34" charset="-122"/>
                <a:cs typeface="Roboto Mono" pitchFamily="34" charset="-120"/>
              </a:rPr>
              <a:t>■</a:t>
            </a:r>
            <a:endParaRPr lang="en-US" sz="7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ext 0"/>
          <p:cNvSpPr/>
          <p:nvPr/>
        </p:nvSpPr>
        <p:spPr>
          <a:xfrm>
            <a:off x="342900" y="357188"/>
            <a:ext cx="8458200" cy="377168"/>
          </a:xfrm>
          <a:prstGeom prst="rect">
            <a:avLst/>
          </a:prstGeom>
          <a:noFill/>
          <a:ln/>
        </p:spPr>
        <p:txBody>
          <a:bodyPr wrap="none" lIns="0" tIns="0" rIns="0" bIns="0" rtlCol="0" anchor="t">
            <a:spAutoFit/>
          </a:bodyPr>
          <a:lstStyle/>
          <a:p>
            <a:pPr marL="0" indent="0" algn="l">
              <a:lnSpc>
                <a:spcPct val="96000"/>
              </a:lnSpc>
              <a:buNone/>
            </a:pPr>
            <a:r>
              <a:rPr lang="en-US" sz="2250" b="1" dirty="0">
                <a:solidFill>
                  <a:srgbClr val="0A1128"/>
                </a:solidFill>
                <a:latin typeface="Playfair Display Black" pitchFamily="34" charset="0"/>
                <a:ea typeface="Playfair Display Black" pitchFamily="34" charset="-122"/>
                <a:cs typeface="Playfair Display Black" pitchFamily="34" charset="-120"/>
              </a:rPr>
              <a:t>Expérimentation 4 : Stratégies de régularisation</a:t>
            </a:r>
            <a:endParaRPr lang="en-US" sz="2250" dirty="0"/>
          </a:p>
        </p:txBody>
      </p:sp>
      <p:sp>
        <p:nvSpPr>
          <p:cNvPr id="4" name="Text 1"/>
          <p:cNvSpPr/>
          <p:nvPr/>
        </p:nvSpPr>
        <p:spPr>
          <a:xfrm>
            <a:off x="428625" y="1091544"/>
            <a:ext cx="4014788" cy="226814"/>
          </a:xfrm>
          <a:prstGeom prst="rect">
            <a:avLst/>
          </a:prstGeom>
          <a:noFill/>
          <a:ln/>
        </p:spPr>
        <p:txBody>
          <a:bodyPr wrap="square" lIns="0" tIns="0" rIns="0" bIns="0" rtlCol="0" anchor="t">
            <a:spAutoFit/>
          </a:bodyPr>
          <a:lstStyle/>
          <a:p>
            <a:pPr marL="0" indent="0" algn="l">
              <a:buNone/>
            </a:pPr>
            <a:r>
              <a:rPr lang="en-US" sz="1200" b="1" dirty="0">
                <a:solidFill>
                  <a:srgbClr val="FF4500"/>
                </a:solidFill>
                <a:latin typeface="Roboto Mono Bold" pitchFamily="34" charset="0"/>
                <a:ea typeface="Roboto Mono Bold" pitchFamily="34" charset="-122"/>
                <a:cs typeface="Roboto Mono Bold" pitchFamily="34" charset="-120"/>
              </a:rPr>
              <a:t>RÉGULARISATION STRUCTURELLE</a:t>
            </a:r>
            <a:endParaRPr lang="en-US" sz="1200" dirty="0"/>
          </a:p>
        </p:txBody>
      </p:sp>
      <p:sp>
        <p:nvSpPr>
          <p:cNvPr id="6" name="Text 3"/>
          <p:cNvSpPr/>
          <p:nvPr/>
        </p:nvSpPr>
        <p:spPr>
          <a:xfrm>
            <a:off x="428625" y="1536388"/>
            <a:ext cx="3843338" cy="248245"/>
          </a:xfrm>
          <a:prstGeom prst="rect">
            <a:avLst/>
          </a:prstGeom>
          <a:noFill/>
          <a:ln/>
        </p:spPr>
        <p:txBody>
          <a:bodyPr wrap="square" lIns="0" tIns="0" rIns="0" bIns="0" rtlCol="0" anchor="t">
            <a:spAutoFit/>
          </a:bodyPr>
          <a:lstStyle/>
          <a:p>
            <a:pPr marL="0" indent="0" algn="l">
              <a:buNone/>
            </a:pPr>
            <a:r>
              <a:rPr lang="en-US" sz="1300" b="1" dirty="0">
                <a:solidFill>
                  <a:srgbClr val="0A1128"/>
                </a:solidFill>
                <a:latin typeface="Playfair Display Black" pitchFamily="34" charset="0"/>
                <a:ea typeface="Playfair Display Black" pitchFamily="34" charset="-122"/>
                <a:cs typeface="Playfair Display Black" pitchFamily="34" charset="-120"/>
              </a:rPr>
              <a:t>Dropout</a:t>
            </a:r>
            <a:endParaRPr lang="en-US" sz="1300" dirty="0"/>
          </a:p>
        </p:txBody>
      </p:sp>
      <p:sp>
        <p:nvSpPr>
          <p:cNvPr id="7" name="Text 4"/>
          <p:cNvSpPr/>
          <p:nvPr/>
        </p:nvSpPr>
        <p:spPr>
          <a:xfrm>
            <a:off x="428625" y="1841784"/>
            <a:ext cx="3843338" cy="1028588"/>
          </a:xfrm>
          <a:prstGeom prst="rect">
            <a:avLst/>
          </a:prstGeom>
          <a:noFill/>
          <a:ln/>
        </p:spPr>
        <p:txBody>
          <a:bodyPr wrap="square" lIns="0" tIns="0" rIns="0" bIns="0" rtlCol="0" anchor="t">
            <a:spAutoFit/>
          </a:bodyPr>
          <a:lstStyle/>
          <a:p>
            <a:pPr marL="0" indent="0" algn="l">
              <a:lnSpc>
                <a:spcPct val="128000"/>
              </a:lnSpc>
              <a:buNone/>
            </a:pPr>
            <a:r>
              <a:rPr lang="en-US" sz="950" dirty="0">
                <a:solidFill>
                  <a:srgbClr val="0A1128"/>
                </a:solidFill>
                <a:latin typeface="Roboto Mono" pitchFamily="34" charset="0"/>
                <a:ea typeface="Roboto Mono" pitchFamily="34" charset="-122"/>
                <a:cs typeface="Roboto Mono" pitchFamily="34" charset="-120"/>
              </a:rPr>
              <a:t>Désactivation aléatoire d'une fraction des neurones à chaque itération pour forcer le réseau à apprendre des caractéristiques redondantes.
</a:t>
            </a:r>
            <a:r>
              <a:rPr lang="en-US" sz="900" b="1" dirty="0">
                <a:solidFill>
                  <a:srgbClr val="0A1128"/>
                </a:solidFill>
                <a:latin typeface="Roboto Mono Bold" pitchFamily="34" charset="0"/>
                <a:ea typeface="Roboto Mono Bold" pitchFamily="34" charset="-122"/>
                <a:cs typeface="Roboto Mono Bold" pitchFamily="34" charset="-120"/>
              </a:rPr>
              <a:t>Paramètres :</a:t>
            </a:r>
            <a:r>
              <a:rPr lang="en-US" sz="950" dirty="0">
                <a:solidFill>
                  <a:srgbClr val="0A1128"/>
                </a:solidFill>
                <a:latin typeface="Roboto Mono" pitchFamily="34" charset="0"/>
                <a:ea typeface="Roboto Mono" pitchFamily="34" charset="-122"/>
                <a:cs typeface="Roboto Mono" pitchFamily="34" charset="-120"/>
              </a:rPr>
              <a:t> 10% à 25% sur les couches convolutives, </a:t>
            </a:r>
            <a:r>
              <a:rPr lang="en-US" sz="900" b="1" dirty="0">
                <a:solidFill>
                  <a:srgbClr val="FF4500"/>
                </a:solidFill>
                <a:latin typeface="Roboto Mono Bold" pitchFamily="34" charset="0"/>
                <a:ea typeface="Roboto Mono Bold" pitchFamily="34" charset="-122"/>
                <a:cs typeface="Roboto Mono Bold" pitchFamily="34" charset="-120"/>
              </a:rPr>
              <a:t>50%</a:t>
            </a:r>
            <a:r>
              <a:rPr lang="en-US" sz="950" dirty="0">
                <a:solidFill>
                  <a:srgbClr val="0A1128"/>
                </a:solidFill>
                <a:latin typeface="Roboto Mono" pitchFamily="34" charset="0"/>
                <a:ea typeface="Roboto Mono" pitchFamily="34" charset="-122"/>
                <a:cs typeface="Roboto Mono" pitchFamily="34" charset="-120"/>
              </a:rPr>
              <a:t> sur la couche dense finale.</a:t>
            </a:r>
            <a:endParaRPr lang="en-US" sz="950" dirty="0"/>
          </a:p>
        </p:txBody>
      </p:sp>
      <p:sp>
        <p:nvSpPr>
          <p:cNvPr id="9" name="Text 6"/>
          <p:cNvSpPr/>
          <p:nvPr/>
        </p:nvSpPr>
        <p:spPr>
          <a:xfrm>
            <a:off x="428625" y="3339143"/>
            <a:ext cx="3843338" cy="200055"/>
          </a:xfrm>
          <a:prstGeom prst="rect">
            <a:avLst/>
          </a:prstGeom>
          <a:noFill/>
          <a:ln/>
        </p:spPr>
        <p:txBody>
          <a:bodyPr wrap="square" lIns="0" tIns="0" rIns="0" bIns="0" rtlCol="0" anchor="t">
            <a:spAutoFit/>
          </a:bodyPr>
          <a:lstStyle/>
          <a:p>
            <a:pPr marL="0" indent="0" algn="l">
              <a:buNone/>
            </a:pPr>
            <a:r>
              <a:rPr lang="en-US" sz="1300" b="1" dirty="0" err="1">
                <a:solidFill>
                  <a:srgbClr val="0A1128"/>
                </a:solidFill>
                <a:latin typeface="Playfair Display Black" pitchFamily="34" charset="0"/>
                <a:ea typeface="Playfair Display Black" pitchFamily="34" charset="-122"/>
                <a:cs typeface="Playfair Display Black" pitchFamily="34" charset="-120"/>
              </a:rPr>
              <a:t>Régularisation</a:t>
            </a:r>
            <a:r>
              <a:rPr lang="en-US" sz="1300" b="1" dirty="0">
                <a:solidFill>
                  <a:srgbClr val="0A1128"/>
                </a:solidFill>
                <a:latin typeface="Playfair Display Black" pitchFamily="34" charset="0"/>
                <a:ea typeface="Playfair Display Black" pitchFamily="34" charset="-122"/>
                <a:cs typeface="Playfair Display Black" pitchFamily="34" charset="-120"/>
              </a:rPr>
              <a:t> L2</a:t>
            </a:r>
            <a:endParaRPr lang="en-US" sz="1300" dirty="0"/>
          </a:p>
        </p:txBody>
      </p:sp>
      <p:sp>
        <p:nvSpPr>
          <p:cNvPr id="10" name="Text 7"/>
          <p:cNvSpPr/>
          <p:nvPr/>
        </p:nvSpPr>
        <p:spPr>
          <a:xfrm>
            <a:off x="428625" y="3644538"/>
            <a:ext cx="3843338" cy="1028588"/>
          </a:xfrm>
          <a:prstGeom prst="rect">
            <a:avLst/>
          </a:prstGeom>
          <a:noFill/>
          <a:ln/>
        </p:spPr>
        <p:txBody>
          <a:bodyPr wrap="square" lIns="0" tIns="0" rIns="0" bIns="0" rtlCol="0" anchor="t">
            <a:spAutoFit/>
          </a:bodyPr>
          <a:lstStyle/>
          <a:p>
            <a:pPr marL="0" indent="0" algn="l">
              <a:lnSpc>
                <a:spcPct val="128000"/>
              </a:lnSpc>
              <a:buNone/>
            </a:pPr>
            <a:r>
              <a:rPr lang="en-US" sz="950" dirty="0">
                <a:solidFill>
                  <a:srgbClr val="0A1128"/>
                </a:solidFill>
                <a:latin typeface="Roboto Mono" pitchFamily="34" charset="0"/>
                <a:ea typeface="Roboto Mono" pitchFamily="34" charset="-122"/>
                <a:cs typeface="Roboto Mono" pitchFamily="34" charset="-120"/>
              </a:rPr>
              <a:t>Ajout d'un terme à la fonction de perte proportionnel au carré des poids du modèle.
</a:t>
            </a:r>
            <a:r>
              <a:rPr lang="en-US" sz="900" b="1" dirty="0">
                <a:solidFill>
                  <a:srgbClr val="0A1128"/>
                </a:solidFill>
                <a:latin typeface="Roboto Mono Bold" pitchFamily="34" charset="0"/>
                <a:ea typeface="Roboto Mono Bold" pitchFamily="34" charset="-122"/>
                <a:cs typeface="Roboto Mono Bold" pitchFamily="34" charset="-120"/>
              </a:rPr>
              <a:t>Objectif :</a:t>
            </a:r>
            <a:r>
              <a:rPr lang="en-US" sz="950" dirty="0">
                <a:solidFill>
                  <a:srgbClr val="0A1128"/>
                </a:solidFill>
                <a:latin typeface="Roboto Mono" pitchFamily="34" charset="0"/>
                <a:ea typeface="Roboto Mono" pitchFamily="34" charset="-122"/>
                <a:cs typeface="Roboto Mono" pitchFamily="34" charset="-120"/>
              </a:rPr>
              <a:t> Empêcher les poids de prendre des valeurs extrêmes, limitant ainsi la mémorisation du bruit d'entraînement.</a:t>
            </a:r>
            <a:endParaRPr lang="en-US" sz="950" dirty="0"/>
          </a:p>
        </p:txBody>
      </p:sp>
      <p:sp>
        <p:nvSpPr>
          <p:cNvPr id="11" name="Text 8"/>
          <p:cNvSpPr/>
          <p:nvPr/>
        </p:nvSpPr>
        <p:spPr>
          <a:xfrm>
            <a:off x="4786313" y="1027249"/>
            <a:ext cx="4014788" cy="226814"/>
          </a:xfrm>
          <a:prstGeom prst="rect">
            <a:avLst/>
          </a:prstGeom>
          <a:noFill/>
          <a:ln/>
        </p:spPr>
        <p:txBody>
          <a:bodyPr wrap="square" lIns="0" tIns="0" rIns="0" bIns="0" rtlCol="0" anchor="t">
            <a:spAutoFit/>
          </a:bodyPr>
          <a:lstStyle/>
          <a:p>
            <a:pPr marL="0" indent="0" algn="l">
              <a:buNone/>
            </a:pPr>
            <a:r>
              <a:rPr lang="en-US" sz="1200" b="1" dirty="0">
                <a:solidFill>
                  <a:srgbClr val="FF4500"/>
                </a:solidFill>
                <a:latin typeface="Roboto Mono Bold" pitchFamily="34" charset="0"/>
                <a:ea typeface="Roboto Mono Bold" pitchFamily="34" charset="-122"/>
                <a:cs typeface="Roboto Mono Bold" pitchFamily="34" charset="-120"/>
              </a:rPr>
              <a:t>GARDE-FOUS DYNAMIQUES (CALLBACKS)</a:t>
            </a:r>
            <a:endParaRPr lang="en-US" sz="1200" dirty="0"/>
          </a:p>
        </p:txBody>
      </p:sp>
      <p:sp>
        <p:nvSpPr>
          <p:cNvPr id="13" name="Text 10"/>
          <p:cNvSpPr/>
          <p:nvPr/>
        </p:nvSpPr>
        <p:spPr>
          <a:xfrm>
            <a:off x="4872038" y="1536388"/>
            <a:ext cx="3843338" cy="248245"/>
          </a:xfrm>
          <a:prstGeom prst="rect">
            <a:avLst/>
          </a:prstGeom>
          <a:noFill/>
          <a:ln/>
        </p:spPr>
        <p:txBody>
          <a:bodyPr wrap="square" lIns="0" tIns="0" rIns="0" bIns="0" rtlCol="0" anchor="t">
            <a:spAutoFit/>
          </a:bodyPr>
          <a:lstStyle/>
          <a:p>
            <a:pPr marL="0" indent="0" algn="l">
              <a:buNone/>
            </a:pPr>
            <a:r>
              <a:rPr lang="en-US" sz="1300" b="1" dirty="0">
                <a:solidFill>
                  <a:srgbClr val="FF4500"/>
                </a:solidFill>
                <a:latin typeface="Playfair Display Black" pitchFamily="34" charset="0"/>
                <a:ea typeface="Playfair Display Black" pitchFamily="34" charset="-122"/>
                <a:cs typeface="Playfair Display Black" pitchFamily="34" charset="-120"/>
              </a:rPr>
              <a:t>Early Stopping</a:t>
            </a:r>
            <a:endParaRPr lang="en-US" sz="1300" dirty="0"/>
          </a:p>
        </p:txBody>
      </p:sp>
      <p:sp>
        <p:nvSpPr>
          <p:cNvPr id="14" name="Text 11"/>
          <p:cNvSpPr/>
          <p:nvPr/>
        </p:nvSpPr>
        <p:spPr>
          <a:xfrm>
            <a:off x="4872038" y="1841784"/>
            <a:ext cx="3843338" cy="920445"/>
          </a:xfrm>
          <a:prstGeom prst="rect">
            <a:avLst/>
          </a:prstGeom>
          <a:noFill/>
          <a:ln/>
        </p:spPr>
        <p:txBody>
          <a:bodyPr wrap="square" lIns="0" tIns="0" rIns="0" bIns="0" rtlCol="0" anchor="t">
            <a:spAutoFit/>
          </a:bodyPr>
          <a:lstStyle/>
          <a:p>
            <a:pPr marL="0" indent="0" algn="l">
              <a:lnSpc>
                <a:spcPct val="128000"/>
              </a:lnSpc>
              <a:buNone/>
            </a:pPr>
            <a:r>
              <a:rPr lang="en-US" sz="950" dirty="0">
                <a:latin typeface="Roboto Mono" pitchFamily="34" charset="0"/>
                <a:ea typeface="Roboto Mono" pitchFamily="34" charset="-122"/>
                <a:cs typeface="Roboto Mono" pitchFamily="34" charset="-120"/>
              </a:rPr>
              <a:t>Interruption de l'entraînement si la performance sur le jeu de validation cesse de s'améliorer.
</a:t>
            </a:r>
            <a:r>
              <a:rPr lang="en-US" sz="900" b="1" dirty="0">
                <a:latin typeface="Roboto Mono Bold" pitchFamily="34" charset="0"/>
                <a:ea typeface="Roboto Mono Bold" pitchFamily="34" charset="-122"/>
                <a:cs typeface="Roboto Mono Bold" pitchFamily="34" charset="-120"/>
              </a:rPr>
              <a:t>Paramètres :</a:t>
            </a:r>
            <a:r>
              <a:rPr lang="en-US" sz="950" dirty="0">
                <a:latin typeface="Roboto Mono" pitchFamily="34" charset="0"/>
                <a:ea typeface="Roboto Mono" pitchFamily="34" charset="-122"/>
                <a:cs typeface="Roboto Mono" pitchFamily="34" charset="-120"/>
              </a:rPr>
              <a:t> Surveillance de </a:t>
            </a:r>
            <a:r>
              <a:rPr lang="en-US" sz="900" b="1" dirty="0">
                <a:latin typeface="Roboto Mono Bold" pitchFamily="34" charset="0"/>
                <a:ea typeface="Roboto Mono Bold" pitchFamily="34" charset="-122"/>
                <a:cs typeface="Roboto Mono Bold" pitchFamily="34" charset="-120"/>
              </a:rPr>
              <a:t>val_loss</a:t>
            </a:r>
            <a:r>
              <a:rPr lang="en-US" sz="950" dirty="0">
                <a:latin typeface="Roboto Mono" pitchFamily="34" charset="0"/>
                <a:ea typeface="Roboto Mono" pitchFamily="34" charset="-122"/>
                <a:cs typeface="Roboto Mono" pitchFamily="34" charset="-120"/>
              </a:rPr>
              <a:t> avec une patience de 8 époques. Restauration des meilleurs poids.</a:t>
            </a:r>
            <a:endParaRPr lang="en-US" sz="950" dirty="0"/>
          </a:p>
        </p:txBody>
      </p:sp>
      <p:sp>
        <p:nvSpPr>
          <p:cNvPr id="16" name="Text 13"/>
          <p:cNvSpPr/>
          <p:nvPr/>
        </p:nvSpPr>
        <p:spPr>
          <a:xfrm>
            <a:off x="4872038" y="3339143"/>
            <a:ext cx="3843338" cy="248245"/>
          </a:xfrm>
          <a:prstGeom prst="rect">
            <a:avLst/>
          </a:prstGeom>
          <a:noFill/>
          <a:ln/>
        </p:spPr>
        <p:txBody>
          <a:bodyPr wrap="square" lIns="0" tIns="0" rIns="0" bIns="0" rtlCol="0" anchor="t">
            <a:spAutoFit/>
          </a:bodyPr>
          <a:lstStyle/>
          <a:p>
            <a:pPr marL="0" indent="0" algn="l">
              <a:buNone/>
            </a:pPr>
            <a:r>
              <a:rPr lang="en-US" sz="1300" b="1" dirty="0">
                <a:solidFill>
                  <a:srgbClr val="FF4500"/>
                </a:solidFill>
                <a:latin typeface="Playfair Display Black" pitchFamily="34" charset="0"/>
                <a:ea typeface="Playfair Display Black" pitchFamily="34" charset="-122"/>
                <a:cs typeface="Playfair Display Black" pitchFamily="34" charset="-120"/>
              </a:rPr>
              <a:t>ReduceLROnPlateau</a:t>
            </a:r>
            <a:endParaRPr lang="en-US" sz="1300" dirty="0"/>
          </a:p>
        </p:txBody>
      </p:sp>
      <p:sp>
        <p:nvSpPr>
          <p:cNvPr id="17" name="Text 14"/>
          <p:cNvSpPr/>
          <p:nvPr/>
        </p:nvSpPr>
        <p:spPr>
          <a:xfrm>
            <a:off x="4872038" y="3644538"/>
            <a:ext cx="3843338" cy="920445"/>
          </a:xfrm>
          <a:prstGeom prst="rect">
            <a:avLst/>
          </a:prstGeom>
          <a:noFill/>
          <a:ln/>
        </p:spPr>
        <p:txBody>
          <a:bodyPr wrap="square" lIns="0" tIns="0" rIns="0" bIns="0" rtlCol="0" anchor="t">
            <a:spAutoFit/>
          </a:bodyPr>
          <a:lstStyle/>
          <a:p>
            <a:pPr marL="0" indent="0" algn="l">
              <a:lnSpc>
                <a:spcPct val="128000"/>
              </a:lnSpc>
              <a:buNone/>
            </a:pPr>
            <a:r>
              <a:rPr lang="en-US" sz="950" dirty="0">
                <a:latin typeface="Roboto Mono" pitchFamily="34" charset="0"/>
                <a:ea typeface="Roboto Mono" pitchFamily="34" charset="-122"/>
                <a:cs typeface="Roboto Mono" pitchFamily="34" charset="-120"/>
              </a:rPr>
              <a:t>Réduction dynamique du taux d'apprentissage (Learning Rate) lorsque la perte stagne.
</a:t>
            </a:r>
            <a:r>
              <a:rPr lang="en-US" sz="900" b="1" dirty="0">
                <a:latin typeface="Roboto Mono Bold" pitchFamily="34" charset="0"/>
                <a:ea typeface="Roboto Mono Bold" pitchFamily="34" charset="-122"/>
                <a:cs typeface="Roboto Mono Bold" pitchFamily="34" charset="-120"/>
              </a:rPr>
              <a:t>Paramètres :</a:t>
            </a:r>
            <a:r>
              <a:rPr lang="en-US" sz="950" dirty="0">
                <a:latin typeface="Roboto Mono" pitchFamily="34" charset="0"/>
                <a:ea typeface="Roboto Mono" pitchFamily="34" charset="-122"/>
                <a:cs typeface="Roboto Mono" pitchFamily="34" charset="-120"/>
              </a:rPr>
              <a:t> Facteur de réduction de </a:t>
            </a:r>
            <a:r>
              <a:rPr lang="en-US" sz="900" b="1" dirty="0">
                <a:latin typeface="Roboto Mono Bold" pitchFamily="34" charset="0"/>
                <a:ea typeface="Roboto Mono Bold" pitchFamily="34" charset="-122"/>
                <a:cs typeface="Roboto Mono Bold" pitchFamily="34" charset="-120"/>
              </a:rPr>
              <a:t>0.3</a:t>
            </a:r>
            <a:r>
              <a:rPr lang="en-US" sz="950" dirty="0">
                <a:latin typeface="Roboto Mono" pitchFamily="34" charset="0"/>
                <a:ea typeface="Roboto Mono" pitchFamily="34" charset="-122"/>
                <a:cs typeface="Roboto Mono" pitchFamily="34" charset="-120"/>
              </a:rPr>
              <a:t> après une patience de 4 époques. Permet une convergence plus fine.</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ext 0"/>
          <p:cNvSpPr/>
          <p:nvPr/>
        </p:nvSpPr>
        <p:spPr>
          <a:xfrm>
            <a:off x="571500" y="357188"/>
            <a:ext cx="8001000" cy="377168"/>
          </a:xfrm>
          <a:prstGeom prst="rect">
            <a:avLst/>
          </a:prstGeom>
          <a:noFill/>
          <a:ln/>
        </p:spPr>
        <p:txBody>
          <a:bodyPr wrap="none" lIns="0" tIns="0" rIns="0" bIns="0" rtlCol="0" anchor="t">
            <a:spAutoFit/>
          </a:bodyPr>
          <a:lstStyle/>
          <a:p>
            <a:pPr marL="0" indent="0" algn="l">
              <a:lnSpc>
                <a:spcPct val="96000"/>
              </a:lnSpc>
              <a:buNone/>
            </a:pPr>
            <a:r>
              <a:rPr lang="en-US" sz="2250" b="1" dirty="0">
                <a:solidFill>
                  <a:srgbClr val="0A1128"/>
                </a:solidFill>
                <a:latin typeface="Playfair Display Black" pitchFamily="34" charset="0"/>
                <a:ea typeface="Playfair Display Black" pitchFamily="34" charset="-122"/>
                <a:cs typeface="Playfair Display Black" pitchFamily="34" charset="-120"/>
              </a:rPr>
              <a:t>Modèle final sélectionné</a:t>
            </a:r>
            <a:endParaRPr lang="en-US" sz="2250" dirty="0"/>
          </a:p>
        </p:txBody>
      </p:sp>
      <p:sp>
        <p:nvSpPr>
          <p:cNvPr id="4" name="Text 1"/>
          <p:cNvSpPr/>
          <p:nvPr/>
        </p:nvSpPr>
        <p:spPr>
          <a:xfrm>
            <a:off x="571500" y="1070111"/>
            <a:ext cx="4164806" cy="226814"/>
          </a:xfrm>
          <a:prstGeom prst="rect">
            <a:avLst/>
          </a:prstGeom>
          <a:noFill/>
          <a:ln/>
        </p:spPr>
        <p:txBody>
          <a:bodyPr wrap="square" lIns="0" tIns="0" rIns="0" bIns="0" rtlCol="0" anchor="t">
            <a:spAutoFit/>
          </a:bodyPr>
          <a:lstStyle/>
          <a:p>
            <a:pPr marL="0" indent="0" algn="l">
              <a:buNone/>
            </a:pPr>
            <a:r>
              <a:rPr lang="en-US" sz="1200" b="1" dirty="0">
                <a:solidFill>
                  <a:srgbClr val="FF4500"/>
                </a:solidFill>
                <a:latin typeface="Roboto Mono Bold" pitchFamily="34" charset="0"/>
                <a:ea typeface="Roboto Mono Bold" pitchFamily="34" charset="-122"/>
                <a:cs typeface="Roboto Mono Bold" pitchFamily="34" charset="-120"/>
              </a:rPr>
              <a:t>ARCHITECTURE : CNN OPTIMISÉ</a:t>
            </a:r>
            <a:endParaRPr lang="en-US" sz="1200" dirty="0"/>
          </a:p>
        </p:txBody>
      </p:sp>
      <p:sp>
        <p:nvSpPr>
          <p:cNvPr id="5" name="Text 2"/>
          <p:cNvSpPr/>
          <p:nvPr/>
        </p:nvSpPr>
        <p:spPr>
          <a:xfrm>
            <a:off x="571500" y="1439800"/>
            <a:ext cx="4164806" cy="411435"/>
          </a:xfrm>
          <a:prstGeom prst="rect">
            <a:avLst/>
          </a:prstGeom>
          <a:noFill/>
          <a:ln/>
        </p:spPr>
        <p:txBody>
          <a:bodyPr wrap="square" lIns="212598" tIns="0" rIns="0" bIns="0" rtlCol="0" anchor="t">
            <a:spAutoFit/>
          </a:bodyPr>
          <a:lstStyle/>
          <a:p>
            <a:pPr marL="0" indent="0" algn="l">
              <a:lnSpc>
                <a:spcPct val="128000"/>
              </a:lnSpc>
              <a:buNone/>
            </a:pPr>
            <a:r>
              <a:rPr lang="en-US" sz="900" b="1" dirty="0">
                <a:solidFill>
                  <a:srgbClr val="0A1128"/>
                </a:solidFill>
                <a:latin typeface="Roboto Mono Bold" pitchFamily="34" charset="0"/>
                <a:ea typeface="Roboto Mono Bold" pitchFamily="34" charset="-122"/>
                <a:cs typeface="Roboto Mono Bold" pitchFamily="34" charset="-120"/>
              </a:rPr>
              <a:t>Couches cachées :</a:t>
            </a:r>
            <a:r>
              <a:rPr lang="en-US" sz="950" dirty="0">
                <a:solidFill>
                  <a:srgbClr val="0A1128"/>
                </a:solidFill>
                <a:latin typeface="Roboto Mono" pitchFamily="34" charset="0"/>
                <a:ea typeface="Roboto Mono" pitchFamily="34" charset="-122"/>
                <a:cs typeface="Roboto Mono" pitchFamily="34" charset="-120"/>
              </a:rPr>
              <a:t> 3 blocs convolutifs (32, 64, 64 filtres) + 1 couche dense (128 neurones).</a:t>
            </a:r>
            <a:endParaRPr lang="en-US" sz="900" dirty="0"/>
          </a:p>
        </p:txBody>
      </p:sp>
      <p:sp>
        <p:nvSpPr>
          <p:cNvPr id="6" name="Text 3"/>
          <p:cNvSpPr/>
          <p:nvPr/>
        </p:nvSpPr>
        <p:spPr>
          <a:xfrm>
            <a:off x="571500" y="1958392"/>
            <a:ext cx="4164806" cy="411435"/>
          </a:xfrm>
          <a:prstGeom prst="rect">
            <a:avLst/>
          </a:prstGeom>
          <a:noFill/>
          <a:ln/>
        </p:spPr>
        <p:txBody>
          <a:bodyPr wrap="square" lIns="212598" tIns="0" rIns="0" bIns="0" rtlCol="0" anchor="t">
            <a:spAutoFit/>
          </a:bodyPr>
          <a:lstStyle/>
          <a:p>
            <a:pPr marL="0" indent="0" algn="l">
              <a:lnSpc>
                <a:spcPct val="128000"/>
              </a:lnSpc>
              <a:buNone/>
            </a:pPr>
            <a:r>
              <a:rPr lang="en-US" sz="900" b="1" dirty="0">
                <a:solidFill>
                  <a:srgbClr val="0A1128"/>
                </a:solidFill>
                <a:latin typeface="Roboto Mono Bold" pitchFamily="34" charset="0"/>
                <a:ea typeface="Roboto Mono Bold" pitchFamily="34" charset="-122"/>
                <a:cs typeface="Roboto Mono Bold" pitchFamily="34" charset="-120"/>
              </a:rPr>
              <a:t>Activations :</a:t>
            </a:r>
            <a:r>
              <a:rPr lang="en-US" sz="950" dirty="0">
                <a:solidFill>
                  <a:srgbClr val="0A1128"/>
                </a:solidFill>
                <a:latin typeface="Roboto Mono" pitchFamily="34" charset="0"/>
                <a:ea typeface="Roboto Mono" pitchFamily="34" charset="-122"/>
                <a:cs typeface="Roboto Mono" pitchFamily="34" charset="-120"/>
              </a:rPr>
              <a:t> ReLU (interne) et Softmax (sortie, 36 classes).</a:t>
            </a:r>
            <a:endParaRPr lang="en-US" sz="900" dirty="0"/>
          </a:p>
        </p:txBody>
      </p:sp>
      <p:sp>
        <p:nvSpPr>
          <p:cNvPr id="7" name="Text 4"/>
          <p:cNvSpPr/>
          <p:nvPr/>
        </p:nvSpPr>
        <p:spPr>
          <a:xfrm>
            <a:off x="571500" y="2476984"/>
            <a:ext cx="4164806" cy="172035"/>
          </a:xfrm>
          <a:prstGeom prst="rect">
            <a:avLst/>
          </a:prstGeom>
          <a:noFill/>
          <a:ln/>
        </p:spPr>
        <p:txBody>
          <a:bodyPr wrap="square" lIns="212598" tIns="0" rIns="0" bIns="0" rtlCol="0" anchor="t">
            <a:spAutoFit/>
          </a:bodyPr>
          <a:lstStyle/>
          <a:p>
            <a:pPr marL="0" indent="0" algn="l">
              <a:lnSpc>
                <a:spcPct val="128000"/>
              </a:lnSpc>
              <a:buNone/>
            </a:pPr>
            <a:r>
              <a:rPr lang="en-US" sz="900" b="1" dirty="0">
                <a:solidFill>
                  <a:srgbClr val="0A1128"/>
                </a:solidFill>
                <a:latin typeface="Roboto Mono Bold" pitchFamily="34" charset="0"/>
                <a:ea typeface="Roboto Mono Bold" pitchFamily="34" charset="-122"/>
                <a:cs typeface="Roboto Mono Bold" pitchFamily="34" charset="-120"/>
              </a:rPr>
              <a:t>Régularisation :</a:t>
            </a:r>
            <a:r>
              <a:rPr lang="en-US" sz="950" dirty="0">
                <a:solidFill>
                  <a:srgbClr val="0A1128"/>
                </a:solidFill>
                <a:latin typeface="Roboto Mono" pitchFamily="34" charset="0"/>
                <a:ea typeface="Roboto Mono" pitchFamily="34" charset="-122"/>
                <a:cs typeface="Roboto Mono" pitchFamily="34" charset="-120"/>
              </a:rPr>
              <a:t> Dropout (0.25) et Batch Normalization.</a:t>
            </a:r>
            <a:endParaRPr lang="en-US" sz="900" dirty="0"/>
          </a:p>
        </p:txBody>
      </p:sp>
      <p:sp>
        <p:nvSpPr>
          <p:cNvPr id="8" name="Text 5"/>
          <p:cNvSpPr/>
          <p:nvPr/>
        </p:nvSpPr>
        <p:spPr>
          <a:xfrm>
            <a:off x="571500" y="2808795"/>
            <a:ext cx="4164806" cy="205718"/>
          </a:xfrm>
          <a:prstGeom prst="rect">
            <a:avLst/>
          </a:prstGeom>
          <a:noFill/>
          <a:ln/>
        </p:spPr>
        <p:txBody>
          <a:bodyPr wrap="none" lIns="212598" tIns="0" rIns="0" bIns="0" rtlCol="0" anchor="t">
            <a:spAutoFit/>
          </a:bodyPr>
          <a:lstStyle/>
          <a:p>
            <a:pPr marL="0" indent="0" algn="l">
              <a:lnSpc>
                <a:spcPct val="128000"/>
              </a:lnSpc>
              <a:buNone/>
            </a:pPr>
            <a:r>
              <a:rPr lang="en-US" sz="900" b="1" dirty="0">
                <a:solidFill>
                  <a:srgbClr val="0A1128"/>
                </a:solidFill>
                <a:latin typeface="Roboto Mono Bold" pitchFamily="34" charset="0"/>
                <a:ea typeface="Roboto Mono Bold" pitchFamily="34" charset="-122"/>
                <a:cs typeface="Roboto Mono Bold" pitchFamily="34" charset="-120"/>
              </a:rPr>
              <a:t>Optimiseur :</a:t>
            </a:r>
            <a:r>
              <a:rPr lang="en-US" sz="950" dirty="0">
                <a:solidFill>
                  <a:srgbClr val="0A1128"/>
                </a:solidFill>
                <a:latin typeface="Roboto Mono" pitchFamily="34" charset="0"/>
                <a:ea typeface="Roboto Mono" pitchFamily="34" charset="-122"/>
                <a:cs typeface="Roboto Mono" pitchFamily="34" charset="-120"/>
              </a:rPr>
              <a:t> Adam (Learning Rate = 0.001).</a:t>
            </a:r>
            <a:endParaRPr lang="en-US" sz="900" dirty="0"/>
          </a:p>
        </p:txBody>
      </p:sp>
      <p:sp>
        <p:nvSpPr>
          <p:cNvPr id="11" name="Text 8"/>
          <p:cNvSpPr/>
          <p:nvPr/>
        </p:nvSpPr>
        <p:spPr>
          <a:xfrm>
            <a:off x="571500" y="1454088"/>
            <a:ext cx="59996" cy="159981"/>
          </a:xfrm>
          <a:prstGeom prst="rect">
            <a:avLst/>
          </a:prstGeom>
          <a:noFill/>
          <a:ln/>
        </p:spPr>
        <p:txBody>
          <a:bodyPr wrap="none" lIns="0" tIns="0" rIns="0" bIns="0" rtlCol="0" anchor="t">
            <a:spAutoFit/>
          </a:bodyPr>
          <a:lstStyle/>
          <a:p>
            <a:pPr marL="0" indent="0" algn="l">
              <a:lnSpc>
                <a:spcPct val="128000"/>
              </a:lnSpc>
              <a:buNone/>
            </a:pPr>
            <a:r>
              <a:rPr lang="en-US" sz="750" dirty="0">
                <a:solidFill>
                  <a:srgbClr val="FF4500"/>
                </a:solidFill>
                <a:latin typeface="Roboto Mono" pitchFamily="34" charset="0"/>
                <a:ea typeface="Roboto Mono" pitchFamily="34" charset="-122"/>
                <a:cs typeface="Roboto Mono" pitchFamily="34" charset="-120"/>
              </a:rPr>
              <a:t>■</a:t>
            </a:r>
            <a:endParaRPr lang="en-US" sz="750" dirty="0"/>
          </a:p>
        </p:txBody>
      </p:sp>
      <p:sp>
        <p:nvSpPr>
          <p:cNvPr id="12" name="Text 9"/>
          <p:cNvSpPr/>
          <p:nvPr/>
        </p:nvSpPr>
        <p:spPr>
          <a:xfrm>
            <a:off x="571500" y="1972680"/>
            <a:ext cx="59996" cy="159981"/>
          </a:xfrm>
          <a:prstGeom prst="rect">
            <a:avLst/>
          </a:prstGeom>
          <a:noFill/>
          <a:ln/>
        </p:spPr>
        <p:txBody>
          <a:bodyPr wrap="none" lIns="0" tIns="0" rIns="0" bIns="0" rtlCol="0" anchor="t">
            <a:spAutoFit/>
          </a:bodyPr>
          <a:lstStyle/>
          <a:p>
            <a:pPr marL="0" indent="0" algn="l">
              <a:lnSpc>
                <a:spcPct val="128000"/>
              </a:lnSpc>
              <a:buNone/>
            </a:pPr>
            <a:r>
              <a:rPr lang="en-US" sz="750" dirty="0">
                <a:solidFill>
                  <a:srgbClr val="FF4500"/>
                </a:solidFill>
                <a:latin typeface="Roboto Mono" pitchFamily="34" charset="0"/>
                <a:ea typeface="Roboto Mono" pitchFamily="34" charset="-122"/>
                <a:cs typeface="Roboto Mono" pitchFamily="34" charset="-120"/>
              </a:rPr>
              <a:t>■</a:t>
            </a:r>
            <a:endParaRPr lang="en-US" sz="750" dirty="0"/>
          </a:p>
        </p:txBody>
      </p:sp>
      <p:sp>
        <p:nvSpPr>
          <p:cNvPr id="13" name="Text 10"/>
          <p:cNvSpPr/>
          <p:nvPr/>
        </p:nvSpPr>
        <p:spPr>
          <a:xfrm>
            <a:off x="571500" y="2491271"/>
            <a:ext cx="59996" cy="159981"/>
          </a:xfrm>
          <a:prstGeom prst="rect">
            <a:avLst/>
          </a:prstGeom>
          <a:noFill/>
          <a:ln/>
        </p:spPr>
        <p:txBody>
          <a:bodyPr wrap="none" lIns="0" tIns="0" rIns="0" bIns="0" rtlCol="0" anchor="t">
            <a:spAutoFit/>
          </a:bodyPr>
          <a:lstStyle/>
          <a:p>
            <a:pPr marL="0" indent="0" algn="l">
              <a:lnSpc>
                <a:spcPct val="128000"/>
              </a:lnSpc>
              <a:buNone/>
            </a:pPr>
            <a:r>
              <a:rPr lang="en-US" sz="750" dirty="0">
                <a:solidFill>
                  <a:srgbClr val="FF4500"/>
                </a:solidFill>
                <a:latin typeface="Roboto Mono" pitchFamily="34" charset="0"/>
                <a:ea typeface="Roboto Mono" pitchFamily="34" charset="-122"/>
                <a:cs typeface="Roboto Mono" pitchFamily="34" charset="-120"/>
              </a:rPr>
              <a:t>■</a:t>
            </a:r>
            <a:endParaRPr lang="en-US" sz="750" dirty="0"/>
          </a:p>
        </p:txBody>
      </p:sp>
      <p:sp>
        <p:nvSpPr>
          <p:cNvPr id="14" name="Text 11"/>
          <p:cNvSpPr/>
          <p:nvPr/>
        </p:nvSpPr>
        <p:spPr>
          <a:xfrm>
            <a:off x="571500" y="2838342"/>
            <a:ext cx="59996" cy="159981"/>
          </a:xfrm>
          <a:prstGeom prst="rect">
            <a:avLst/>
          </a:prstGeom>
          <a:noFill/>
          <a:ln/>
        </p:spPr>
        <p:txBody>
          <a:bodyPr wrap="none" lIns="0" tIns="0" rIns="0" bIns="0" rtlCol="0" anchor="t">
            <a:spAutoFit/>
          </a:bodyPr>
          <a:lstStyle/>
          <a:p>
            <a:pPr marL="0" indent="0" algn="l">
              <a:lnSpc>
                <a:spcPct val="128000"/>
              </a:lnSpc>
              <a:buNone/>
            </a:pPr>
            <a:r>
              <a:rPr lang="en-US" sz="750" dirty="0">
                <a:solidFill>
                  <a:srgbClr val="FF4500"/>
                </a:solidFill>
                <a:latin typeface="Roboto Mono" pitchFamily="34" charset="0"/>
                <a:ea typeface="Roboto Mono" pitchFamily="34" charset="-122"/>
                <a:cs typeface="Roboto Mono" pitchFamily="34" charset="-120"/>
              </a:rPr>
              <a:t>■</a:t>
            </a:r>
            <a:endParaRPr lang="en-US" sz="750" dirty="0"/>
          </a:p>
        </p:txBody>
      </p:sp>
      <p:sp>
        <p:nvSpPr>
          <p:cNvPr id="15" name="Text 12"/>
          <p:cNvSpPr/>
          <p:nvPr/>
        </p:nvSpPr>
        <p:spPr>
          <a:xfrm>
            <a:off x="571500" y="3197419"/>
            <a:ext cx="3879056" cy="1040413"/>
          </a:xfrm>
          <a:prstGeom prst="rect">
            <a:avLst/>
          </a:prstGeom>
          <a:noFill/>
          <a:ln/>
        </p:spPr>
        <p:txBody>
          <a:bodyPr wrap="square" lIns="0" tIns="0" rIns="0" bIns="0" rtlCol="0" anchor="t">
            <a:spAutoFit/>
          </a:bodyPr>
          <a:lstStyle/>
          <a:p>
            <a:pPr marL="0" indent="0" algn="l">
              <a:lnSpc>
                <a:spcPct val="120000"/>
              </a:lnSpc>
              <a:buNone/>
            </a:pPr>
            <a:r>
              <a:rPr lang="en-US" sz="950" dirty="0">
                <a:latin typeface="Roboto Mono" pitchFamily="34" charset="0"/>
                <a:ea typeface="Roboto Mono" pitchFamily="34" charset="-122"/>
                <a:cs typeface="Roboto Mono" pitchFamily="34" charset="-120"/>
              </a:rPr>
              <a:t>Le CNN surpasse largement le MLP car il exploite la structure spatio-temporelle du spectrogramme CQT. Les filtres convolutifs capturent les relations harmoniques locales (intervalles), tandis que le Dropout prévient l'overfitting sur les données synthétiques.</a:t>
            </a:r>
            <a:endParaRPr lang="en-US" sz="950" dirty="0"/>
          </a:p>
        </p:txBody>
      </p:sp>
      <p:sp>
        <p:nvSpPr>
          <p:cNvPr id="16" name="Text 13"/>
          <p:cNvSpPr/>
          <p:nvPr/>
        </p:nvSpPr>
        <p:spPr>
          <a:xfrm>
            <a:off x="5164931" y="1070111"/>
            <a:ext cx="3407569" cy="226814"/>
          </a:xfrm>
          <a:prstGeom prst="rect">
            <a:avLst/>
          </a:prstGeom>
          <a:noFill/>
          <a:ln/>
        </p:spPr>
        <p:txBody>
          <a:bodyPr wrap="square" lIns="0" tIns="0" rIns="0" bIns="0" rtlCol="0" anchor="t">
            <a:spAutoFit/>
          </a:bodyPr>
          <a:lstStyle/>
          <a:p>
            <a:pPr marL="0" indent="0" algn="l">
              <a:buNone/>
            </a:pPr>
            <a:r>
              <a:rPr lang="en-US" sz="1200" b="1" dirty="0">
                <a:solidFill>
                  <a:srgbClr val="FF4500"/>
                </a:solidFill>
                <a:latin typeface="Roboto Mono Bold" pitchFamily="34" charset="0"/>
                <a:ea typeface="Roboto Mono Bold" pitchFamily="34" charset="-122"/>
                <a:cs typeface="Roboto Mono Bold" pitchFamily="34" charset="-120"/>
              </a:rPr>
              <a:t>MÉTRIQUES D'ÉVALUATION</a:t>
            </a:r>
            <a:endParaRPr lang="en-US" sz="1200" dirty="0"/>
          </a:p>
        </p:txBody>
      </p:sp>
      <p:sp>
        <p:nvSpPr>
          <p:cNvPr id="18" name="Text 15"/>
          <p:cNvSpPr/>
          <p:nvPr/>
        </p:nvSpPr>
        <p:spPr>
          <a:xfrm>
            <a:off x="5307806" y="1546957"/>
            <a:ext cx="3121819" cy="150019"/>
          </a:xfrm>
          <a:prstGeom prst="rect">
            <a:avLst/>
          </a:prstGeom>
          <a:noFill/>
          <a:ln/>
        </p:spPr>
        <p:txBody>
          <a:bodyPr wrap="square" lIns="0" tIns="0" rIns="0" bIns="0" rtlCol="0" anchor="t">
            <a:spAutoFit/>
          </a:bodyPr>
          <a:lstStyle/>
          <a:p>
            <a:pPr marL="0" indent="0" algn="l">
              <a:buNone/>
            </a:pPr>
            <a:r>
              <a:rPr lang="en-US" sz="800" b="1" dirty="0">
                <a:solidFill>
                  <a:srgbClr val="0A1128"/>
                </a:solidFill>
                <a:latin typeface="Roboto Mono Bold" pitchFamily="34" charset="0"/>
                <a:ea typeface="Roboto Mono Bold" pitchFamily="34" charset="-122"/>
                <a:cs typeface="Roboto Mono Bold" pitchFamily="34" charset="-120"/>
              </a:rPr>
              <a:t>MEAN SQUARED ERROR (MSE)</a:t>
            </a:r>
            <a:endParaRPr lang="en-US" sz="800" dirty="0"/>
          </a:p>
        </p:txBody>
      </p:sp>
      <p:sp>
        <p:nvSpPr>
          <p:cNvPr id="19" name="Text 16"/>
          <p:cNvSpPr/>
          <p:nvPr/>
        </p:nvSpPr>
        <p:spPr>
          <a:xfrm>
            <a:off x="6236768" y="1902693"/>
            <a:ext cx="64" cy="192360"/>
          </a:xfrm>
          <a:prstGeom prst="rect">
            <a:avLst/>
          </a:prstGeom>
          <a:noFill/>
          <a:ln/>
        </p:spPr>
        <p:txBody>
          <a:bodyPr wrap="none" lIns="0" tIns="0" rIns="0" bIns="0" rtlCol="0" anchor="t">
            <a:spAutoFit/>
          </a:bodyPr>
          <a:lstStyle/>
          <a:p>
            <a:pPr marL="0" indent="0" algn="ctr">
              <a:buNone/>
            </a:pPr>
            <a:endParaRPr lang="en-US" sz="1250" dirty="0"/>
          </a:p>
        </p:txBody>
      </p:sp>
      <p:sp>
        <p:nvSpPr>
          <p:cNvPr id="20" name="Text 17"/>
          <p:cNvSpPr/>
          <p:nvPr/>
        </p:nvSpPr>
        <p:spPr>
          <a:xfrm>
            <a:off x="6623326" y="1804132"/>
            <a:ext cx="85985" cy="184666"/>
          </a:xfrm>
          <a:prstGeom prst="rect">
            <a:avLst/>
          </a:prstGeom>
          <a:noFill/>
          <a:ln/>
        </p:spPr>
        <p:txBody>
          <a:bodyPr wrap="none" lIns="42545" tIns="0" rIns="42545" bIns="0" rtlCol="0" anchor="t">
            <a:spAutoFit/>
          </a:bodyPr>
          <a:lstStyle/>
          <a:p>
            <a:pPr marL="0" indent="0" algn="ctr">
              <a:lnSpc>
                <a:spcPct val="96000"/>
              </a:lnSpc>
              <a:buNone/>
            </a:pPr>
            <a:endParaRPr lang="en-US" sz="1250" dirty="0"/>
          </a:p>
        </p:txBody>
      </p:sp>
      <p:sp>
        <p:nvSpPr>
          <p:cNvPr id="21" name="Text 18"/>
          <p:cNvSpPr/>
          <p:nvPr/>
        </p:nvSpPr>
        <p:spPr>
          <a:xfrm>
            <a:off x="6623326" y="2024137"/>
            <a:ext cx="85985" cy="184666"/>
          </a:xfrm>
          <a:prstGeom prst="rect">
            <a:avLst/>
          </a:prstGeom>
          <a:noFill/>
          <a:ln/>
        </p:spPr>
        <p:txBody>
          <a:bodyPr wrap="none" lIns="42545" tIns="0" rIns="42545" bIns="0" rtlCol="0" anchor="t">
            <a:spAutoFit/>
          </a:bodyPr>
          <a:lstStyle/>
          <a:p>
            <a:pPr marL="0" indent="0" algn="ctr">
              <a:lnSpc>
                <a:spcPct val="96000"/>
              </a:lnSpc>
              <a:buNone/>
            </a:pPr>
            <a:endParaRPr lang="en-US" sz="1250" dirty="0"/>
          </a:p>
        </p:txBody>
      </p:sp>
      <p:sp>
        <p:nvSpPr>
          <p:cNvPr id="22" name="Text 19"/>
          <p:cNvSpPr/>
          <p:nvPr/>
        </p:nvSpPr>
        <p:spPr>
          <a:xfrm>
            <a:off x="6973161" y="1793622"/>
            <a:ext cx="64" cy="94641"/>
          </a:xfrm>
          <a:prstGeom prst="rect">
            <a:avLst/>
          </a:prstGeom>
          <a:noFill/>
          <a:ln/>
        </p:spPr>
        <p:txBody>
          <a:bodyPr wrap="none" lIns="0" tIns="0" rIns="0" bIns="0" rtlCol="0" anchor="t">
            <a:spAutoFit/>
          </a:bodyPr>
          <a:lstStyle/>
          <a:p>
            <a:pPr marL="0" indent="0" algn="ctr">
              <a:lnSpc>
                <a:spcPct val="80000"/>
              </a:lnSpc>
              <a:buNone/>
            </a:pPr>
            <a:endParaRPr lang="en-US" sz="750" dirty="0"/>
          </a:p>
        </p:txBody>
      </p:sp>
      <p:sp>
        <p:nvSpPr>
          <p:cNvPr id="23" name="Text 20"/>
          <p:cNvSpPr/>
          <p:nvPr/>
        </p:nvSpPr>
        <p:spPr>
          <a:xfrm>
            <a:off x="6973161" y="1914134"/>
            <a:ext cx="64" cy="204736"/>
          </a:xfrm>
          <a:prstGeom prst="rect">
            <a:avLst/>
          </a:prstGeom>
          <a:noFill/>
          <a:ln/>
        </p:spPr>
        <p:txBody>
          <a:bodyPr wrap="none" lIns="0" tIns="0" rIns="0" bIns="0" rtlCol="0" anchor="t">
            <a:spAutoFit/>
          </a:bodyPr>
          <a:lstStyle/>
          <a:p>
            <a:pPr marL="0" indent="0" algn="ctr">
              <a:lnSpc>
                <a:spcPct val="64000"/>
              </a:lnSpc>
              <a:buNone/>
            </a:pPr>
            <a:endParaRPr lang="en-US" sz="1900" dirty="0"/>
          </a:p>
        </p:txBody>
      </p:sp>
      <p:sp>
        <p:nvSpPr>
          <p:cNvPr id="25" name="Text 22"/>
          <p:cNvSpPr/>
          <p:nvPr/>
        </p:nvSpPr>
        <p:spPr>
          <a:xfrm>
            <a:off x="7182702" y="1902526"/>
            <a:ext cx="64" cy="192360"/>
          </a:xfrm>
          <a:prstGeom prst="rect">
            <a:avLst/>
          </a:prstGeom>
          <a:noFill/>
          <a:ln/>
        </p:spPr>
        <p:txBody>
          <a:bodyPr wrap="none" lIns="0" tIns="0" rIns="0" bIns="0" rtlCol="0" anchor="t">
            <a:spAutoFit/>
          </a:bodyPr>
          <a:lstStyle/>
          <a:p>
            <a:pPr marL="0" indent="0" algn="ctr">
              <a:buNone/>
            </a:pPr>
            <a:endParaRPr lang="en-US" sz="1250" dirty="0"/>
          </a:p>
        </p:txBody>
      </p:sp>
      <p:sp>
        <p:nvSpPr>
          <p:cNvPr id="26" name="Text 23"/>
          <p:cNvSpPr/>
          <p:nvPr/>
        </p:nvSpPr>
        <p:spPr>
          <a:xfrm>
            <a:off x="7250567" y="1902526"/>
            <a:ext cx="64" cy="192360"/>
          </a:xfrm>
          <a:prstGeom prst="rect">
            <a:avLst/>
          </a:prstGeom>
          <a:noFill/>
          <a:ln/>
        </p:spPr>
        <p:txBody>
          <a:bodyPr wrap="none" lIns="0" tIns="0" rIns="0" bIns="0" rtlCol="0" anchor="t">
            <a:spAutoFit/>
          </a:bodyPr>
          <a:lstStyle/>
          <a:p>
            <a:pPr marL="0" indent="0" algn="ctr">
              <a:buNone/>
            </a:pPr>
            <a:endParaRPr lang="en-US" sz="1250" dirty="0"/>
          </a:p>
        </p:txBody>
      </p:sp>
      <p:sp>
        <p:nvSpPr>
          <p:cNvPr id="27" name="Text 24"/>
          <p:cNvSpPr/>
          <p:nvPr/>
        </p:nvSpPr>
        <p:spPr>
          <a:xfrm>
            <a:off x="7313968" y="1968940"/>
            <a:ext cx="65" cy="161583"/>
          </a:xfrm>
          <a:prstGeom prst="rect">
            <a:avLst/>
          </a:prstGeom>
          <a:noFill/>
          <a:ln/>
        </p:spPr>
        <p:txBody>
          <a:bodyPr wrap="none" lIns="0" tIns="0" rIns="0" bIns="0" rtlCol="0" anchor="t">
            <a:spAutoFit/>
          </a:bodyPr>
          <a:lstStyle/>
          <a:p>
            <a:pPr marL="0" indent="0" algn="ctr">
              <a:buNone/>
            </a:pPr>
            <a:endParaRPr lang="en-US" sz="1050" dirty="0"/>
          </a:p>
        </p:txBody>
      </p:sp>
      <p:sp>
        <p:nvSpPr>
          <p:cNvPr id="28" name="Text 25"/>
          <p:cNvSpPr/>
          <p:nvPr/>
        </p:nvSpPr>
        <p:spPr>
          <a:xfrm>
            <a:off x="7420230" y="1902526"/>
            <a:ext cx="65" cy="192360"/>
          </a:xfrm>
          <a:prstGeom prst="rect">
            <a:avLst/>
          </a:prstGeom>
          <a:noFill/>
          <a:ln/>
        </p:spPr>
        <p:txBody>
          <a:bodyPr wrap="none" lIns="0" tIns="0" rIns="0" bIns="0" rtlCol="0" anchor="t">
            <a:spAutoFit/>
          </a:bodyPr>
          <a:lstStyle/>
          <a:p>
            <a:pPr marL="0" indent="0" algn="ctr">
              <a:buNone/>
            </a:pPr>
            <a:endParaRPr lang="en-US" sz="1250" dirty="0"/>
          </a:p>
        </p:txBody>
      </p:sp>
      <p:sp>
        <p:nvSpPr>
          <p:cNvPr id="29" name="Text 26"/>
          <p:cNvSpPr/>
          <p:nvPr/>
        </p:nvSpPr>
        <p:spPr>
          <a:xfrm>
            <a:off x="7548818" y="1902526"/>
            <a:ext cx="64" cy="192360"/>
          </a:xfrm>
          <a:prstGeom prst="rect">
            <a:avLst/>
          </a:prstGeom>
          <a:noFill/>
          <a:ln/>
        </p:spPr>
        <p:txBody>
          <a:bodyPr wrap="none" lIns="0" tIns="0" rIns="0" bIns="0" rtlCol="0" anchor="t">
            <a:spAutoFit/>
          </a:bodyPr>
          <a:lstStyle/>
          <a:p>
            <a:pPr marL="0" indent="0" algn="ctr">
              <a:buNone/>
            </a:pPr>
            <a:endParaRPr lang="en-US" sz="1250" dirty="0"/>
          </a:p>
        </p:txBody>
      </p:sp>
      <p:sp>
        <p:nvSpPr>
          <p:cNvPr id="30" name="Text 27"/>
          <p:cNvSpPr/>
          <p:nvPr/>
        </p:nvSpPr>
        <p:spPr>
          <a:xfrm>
            <a:off x="7612219" y="1968940"/>
            <a:ext cx="65" cy="161583"/>
          </a:xfrm>
          <a:prstGeom prst="rect">
            <a:avLst/>
          </a:prstGeom>
          <a:noFill/>
          <a:ln/>
        </p:spPr>
        <p:txBody>
          <a:bodyPr wrap="none" lIns="0" tIns="0" rIns="0" bIns="0" rtlCol="0" anchor="t">
            <a:spAutoFit/>
          </a:bodyPr>
          <a:lstStyle/>
          <a:p>
            <a:pPr marL="0" indent="0" algn="ctr">
              <a:buNone/>
            </a:pPr>
            <a:endParaRPr lang="en-US" sz="1050" dirty="0"/>
          </a:p>
        </p:txBody>
      </p:sp>
      <p:sp>
        <p:nvSpPr>
          <p:cNvPr id="31" name="Text 28"/>
          <p:cNvSpPr/>
          <p:nvPr/>
        </p:nvSpPr>
        <p:spPr>
          <a:xfrm>
            <a:off x="7657761" y="1902526"/>
            <a:ext cx="64" cy="192360"/>
          </a:xfrm>
          <a:prstGeom prst="rect">
            <a:avLst/>
          </a:prstGeom>
          <a:noFill/>
          <a:ln/>
        </p:spPr>
        <p:txBody>
          <a:bodyPr wrap="none" lIns="0" tIns="0" rIns="0" bIns="0" rtlCol="0" anchor="t">
            <a:spAutoFit/>
          </a:bodyPr>
          <a:lstStyle/>
          <a:p>
            <a:pPr marL="0" indent="0" algn="ctr">
              <a:buNone/>
            </a:pPr>
            <a:endParaRPr lang="en-US" sz="1250" dirty="0"/>
          </a:p>
        </p:txBody>
      </p:sp>
      <p:sp>
        <p:nvSpPr>
          <p:cNvPr id="32" name="Text 29"/>
          <p:cNvSpPr/>
          <p:nvPr/>
        </p:nvSpPr>
        <p:spPr>
          <a:xfrm>
            <a:off x="7716697" y="1873951"/>
            <a:ext cx="64" cy="161583"/>
          </a:xfrm>
          <a:prstGeom prst="rect">
            <a:avLst/>
          </a:prstGeom>
          <a:noFill/>
          <a:ln/>
        </p:spPr>
        <p:txBody>
          <a:bodyPr wrap="none" lIns="0" tIns="0" rIns="0" bIns="0" rtlCol="0" anchor="t">
            <a:spAutoFit/>
          </a:bodyPr>
          <a:lstStyle/>
          <a:p>
            <a:pPr marL="0" indent="0" algn="ctr">
              <a:buNone/>
            </a:pPr>
            <a:endParaRPr lang="en-US" sz="1050" dirty="0"/>
          </a:p>
        </p:txBody>
      </p:sp>
      <p:sp>
        <p:nvSpPr>
          <p:cNvPr id="34" name="Text 31"/>
          <p:cNvSpPr/>
          <p:nvPr/>
        </p:nvSpPr>
        <p:spPr>
          <a:xfrm>
            <a:off x="5307806" y="2587042"/>
            <a:ext cx="3121819" cy="150019"/>
          </a:xfrm>
          <a:prstGeom prst="rect">
            <a:avLst/>
          </a:prstGeom>
          <a:noFill/>
          <a:ln/>
        </p:spPr>
        <p:txBody>
          <a:bodyPr wrap="square" lIns="0" tIns="0" rIns="0" bIns="0" rtlCol="0" anchor="t">
            <a:spAutoFit/>
          </a:bodyPr>
          <a:lstStyle/>
          <a:p>
            <a:pPr marL="0" indent="0" algn="l">
              <a:buNone/>
            </a:pPr>
            <a:r>
              <a:rPr lang="en-US" sz="800" b="1" dirty="0">
                <a:solidFill>
                  <a:srgbClr val="0A1128"/>
                </a:solidFill>
                <a:latin typeface="Roboto Mono Bold" pitchFamily="34" charset="0"/>
                <a:ea typeface="Roboto Mono Bold" pitchFamily="34" charset="-122"/>
                <a:cs typeface="Roboto Mono Bold" pitchFamily="34" charset="-120"/>
              </a:rPr>
              <a:t>CATEGORICAL CROSS-ENTROPY (LOSS)</a:t>
            </a:r>
            <a:endParaRPr lang="en-US" sz="800" dirty="0"/>
          </a:p>
        </p:txBody>
      </p:sp>
      <p:sp>
        <p:nvSpPr>
          <p:cNvPr id="36" name="Text 33"/>
          <p:cNvSpPr/>
          <p:nvPr/>
        </p:nvSpPr>
        <p:spPr>
          <a:xfrm>
            <a:off x="6748133" y="2844217"/>
            <a:ext cx="64" cy="94641"/>
          </a:xfrm>
          <a:prstGeom prst="rect">
            <a:avLst/>
          </a:prstGeom>
          <a:noFill/>
          <a:ln/>
        </p:spPr>
        <p:txBody>
          <a:bodyPr wrap="none" lIns="0" tIns="0" rIns="0" bIns="0" rtlCol="0" anchor="t">
            <a:spAutoFit/>
          </a:bodyPr>
          <a:lstStyle/>
          <a:p>
            <a:pPr marL="0" indent="0" algn="ctr">
              <a:lnSpc>
                <a:spcPct val="80000"/>
              </a:lnSpc>
              <a:buNone/>
            </a:pPr>
            <a:endParaRPr lang="en-US" sz="750" dirty="0"/>
          </a:p>
        </p:txBody>
      </p:sp>
      <p:sp>
        <p:nvSpPr>
          <p:cNvPr id="37" name="Text 34"/>
          <p:cNvSpPr/>
          <p:nvPr/>
        </p:nvSpPr>
        <p:spPr>
          <a:xfrm>
            <a:off x="6748133" y="2944230"/>
            <a:ext cx="64" cy="204736"/>
          </a:xfrm>
          <a:prstGeom prst="rect">
            <a:avLst/>
          </a:prstGeom>
          <a:noFill/>
          <a:ln/>
        </p:spPr>
        <p:txBody>
          <a:bodyPr wrap="none" lIns="0" tIns="0" rIns="0" bIns="0" rtlCol="0" anchor="t">
            <a:spAutoFit/>
          </a:bodyPr>
          <a:lstStyle/>
          <a:p>
            <a:pPr marL="0" indent="0" algn="ctr">
              <a:lnSpc>
                <a:spcPct val="64000"/>
              </a:lnSpc>
              <a:buNone/>
            </a:pPr>
            <a:endParaRPr lang="en-US" sz="1900" dirty="0"/>
          </a:p>
        </p:txBody>
      </p:sp>
      <p:sp>
        <p:nvSpPr>
          <p:cNvPr id="39" name="Text 36"/>
          <p:cNvSpPr/>
          <p:nvPr/>
        </p:nvSpPr>
        <p:spPr>
          <a:xfrm>
            <a:off x="6975532" y="2918333"/>
            <a:ext cx="64" cy="192360"/>
          </a:xfrm>
          <a:prstGeom prst="rect">
            <a:avLst/>
          </a:prstGeom>
          <a:noFill/>
          <a:ln/>
        </p:spPr>
        <p:txBody>
          <a:bodyPr wrap="none" lIns="0" tIns="0" rIns="0" bIns="0" rtlCol="0" anchor="t">
            <a:spAutoFit/>
          </a:bodyPr>
          <a:lstStyle/>
          <a:p>
            <a:pPr marL="0" indent="0" algn="ctr">
              <a:buNone/>
            </a:pPr>
            <a:endParaRPr lang="en-US" sz="1250" dirty="0"/>
          </a:p>
        </p:txBody>
      </p:sp>
      <p:sp>
        <p:nvSpPr>
          <p:cNvPr id="41" name="Text 38"/>
          <p:cNvSpPr/>
          <p:nvPr/>
        </p:nvSpPr>
        <p:spPr>
          <a:xfrm>
            <a:off x="7219312" y="2918333"/>
            <a:ext cx="65" cy="192360"/>
          </a:xfrm>
          <a:prstGeom prst="rect">
            <a:avLst/>
          </a:prstGeom>
          <a:noFill/>
          <a:ln/>
        </p:spPr>
        <p:txBody>
          <a:bodyPr wrap="none" lIns="0" tIns="0" rIns="0" bIns="0" rtlCol="0" anchor="t">
            <a:spAutoFit/>
          </a:bodyPr>
          <a:lstStyle/>
          <a:p>
            <a:pPr marL="0" indent="0" algn="ctr">
              <a:buNone/>
            </a:pPr>
            <a:endParaRPr lang="en-US" sz="1250" dirty="0"/>
          </a:p>
        </p:txBody>
      </p:sp>
      <p:sp>
        <p:nvSpPr>
          <p:cNvPr id="46" name="Text 43"/>
          <p:cNvSpPr/>
          <p:nvPr/>
        </p:nvSpPr>
        <p:spPr>
          <a:xfrm>
            <a:off x="5307806" y="3607147"/>
            <a:ext cx="3121819" cy="150019"/>
          </a:xfrm>
          <a:prstGeom prst="rect">
            <a:avLst/>
          </a:prstGeom>
          <a:noFill/>
          <a:ln/>
        </p:spPr>
        <p:txBody>
          <a:bodyPr wrap="square" lIns="0" tIns="0" rIns="0" bIns="0" rtlCol="0" anchor="t">
            <a:spAutoFit/>
          </a:bodyPr>
          <a:lstStyle/>
          <a:p>
            <a:pPr marL="0" indent="0" algn="l">
              <a:buNone/>
            </a:pPr>
            <a:r>
              <a:rPr lang="en-US" sz="800" b="1" dirty="0">
                <a:solidFill>
                  <a:srgbClr val="0A1128"/>
                </a:solidFill>
                <a:latin typeface="Roboto Mono Bold" pitchFamily="34" charset="0"/>
                <a:ea typeface="Roboto Mono Bold" pitchFamily="34" charset="-122"/>
                <a:cs typeface="Roboto Mono Bold" pitchFamily="34" charset="-120"/>
              </a:rPr>
              <a:t>ACCURACY (PRÉCISION)</a:t>
            </a:r>
            <a:endParaRPr lang="en-US" sz="800" dirty="0"/>
          </a:p>
        </p:txBody>
      </p:sp>
      <p:sp>
        <p:nvSpPr>
          <p:cNvPr id="47" name="Text 44"/>
          <p:cNvSpPr/>
          <p:nvPr/>
        </p:nvSpPr>
        <p:spPr>
          <a:xfrm>
            <a:off x="5945351" y="3962884"/>
            <a:ext cx="64" cy="192360"/>
          </a:xfrm>
          <a:prstGeom prst="rect">
            <a:avLst/>
          </a:prstGeom>
          <a:noFill/>
          <a:ln/>
        </p:spPr>
        <p:txBody>
          <a:bodyPr wrap="none" lIns="0" tIns="0" rIns="0" bIns="0" rtlCol="0" anchor="t">
            <a:spAutoFit/>
          </a:bodyPr>
          <a:lstStyle/>
          <a:p>
            <a:pPr marL="0" indent="0" algn="ctr">
              <a:buNone/>
            </a:pPr>
            <a:endParaRPr lang="en-US" sz="1250" dirty="0"/>
          </a:p>
        </p:txBody>
      </p:sp>
      <p:sp>
        <p:nvSpPr>
          <p:cNvPr id="48" name="Text 45"/>
          <p:cNvSpPr/>
          <p:nvPr/>
        </p:nvSpPr>
        <p:spPr>
          <a:xfrm>
            <a:off x="7282923" y="3864322"/>
            <a:ext cx="85986" cy="184666"/>
          </a:xfrm>
          <a:prstGeom prst="rect">
            <a:avLst/>
          </a:prstGeom>
          <a:noFill/>
          <a:ln/>
        </p:spPr>
        <p:txBody>
          <a:bodyPr wrap="none" lIns="42545" tIns="0" rIns="42545" bIns="0" rtlCol="0" anchor="t">
            <a:spAutoFit/>
          </a:bodyPr>
          <a:lstStyle/>
          <a:p>
            <a:pPr marL="0" indent="0" algn="ctr">
              <a:lnSpc>
                <a:spcPct val="96000"/>
              </a:lnSpc>
              <a:buNone/>
            </a:pPr>
            <a:endParaRPr lang="en-US" sz="1250" dirty="0"/>
          </a:p>
        </p:txBody>
      </p:sp>
      <p:sp>
        <p:nvSpPr>
          <p:cNvPr id="49" name="Text 46"/>
          <p:cNvSpPr/>
          <p:nvPr/>
        </p:nvSpPr>
        <p:spPr>
          <a:xfrm>
            <a:off x="7282923" y="4084327"/>
            <a:ext cx="85985" cy="184666"/>
          </a:xfrm>
          <a:prstGeom prst="rect">
            <a:avLst/>
          </a:prstGeom>
          <a:noFill/>
          <a:ln/>
        </p:spPr>
        <p:txBody>
          <a:bodyPr wrap="none" lIns="42545" tIns="0" rIns="42545" bIns="0" rtlCol="0" anchor="t">
            <a:spAutoFit/>
          </a:bodyPr>
          <a:lstStyle/>
          <a:p>
            <a:pPr marL="0" indent="0" algn="ctr">
              <a:lnSpc>
                <a:spcPct val="96000"/>
              </a:lnSpc>
              <a:buNone/>
            </a:pPr>
            <a:endParaRPr lang="en-US" sz="1250" dirty="0"/>
          </a:p>
        </p:txBody>
      </p:sp>
      <p:pic>
        <p:nvPicPr>
          <p:cNvPr id="52" name="Picture 51">
            <a:extLst>
              <a:ext uri="{FF2B5EF4-FFF2-40B4-BE49-F238E27FC236}">
                <a16:creationId xmlns:a16="http://schemas.microsoft.com/office/drawing/2014/main" id="{F46E655E-E455-007A-5900-4C3FE201D936}"/>
              </a:ext>
            </a:extLst>
          </p:cNvPr>
          <p:cNvPicPr>
            <a:picLocks noChangeAspect="1"/>
          </p:cNvPicPr>
          <p:nvPr/>
        </p:nvPicPr>
        <p:blipFill>
          <a:blip r:embed="rId3"/>
          <a:stretch>
            <a:fillRect/>
          </a:stretch>
        </p:blipFill>
        <p:spPr>
          <a:xfrm>
            <a:off x="5255281" y="1701794"/>
            <a:ext cx="1832769" cy="728086"/>
          </a:xfrm>
          <a:prstGeom prst="rect">
            <a:avLst/>
          </a:prstGeom>
        </p:spPr>
      </p:pic>
      <p:pic>
        <p:nvPicPr>
          <p:cNvPr id="53" name="Picture 52">
            <a:extLst>
              <a:ext uri="{FF2B5EF4-FFF2-40B4-BE49-F238E27FC236}">
                <a16:creationId xmlns:a16="http://schemas.microsoft.com/office/drawing/2014/main" id="{6C373803-405C-3E99-E6F9-9DFDA4925CFC}"/>
              </a:ext>
            </a:extLst>
          </p:cNvPr>
          <p:cNvPicPr>
            <a:picLocks noChangeAspect="1"/>
          </p:cNvPicPr>
          <p:nvPr/>
        </p:nvPicPr>
        <p:blipFill>
          <a:blip r:embed="rId4"/>
          <a:stretch>
            <a:fillRect/>
          </a:stretch>
        </p:blipFill>
        <p:spPr>
          <a:xfrm>
            <a:off x="5294249" y="2760311"/>
            <a:ext cx="1415062" cy="592724"/>
          </a:xfrm>
          <a:prstGeom prst="rect">
            <a:avLst/>
          </a:prstGeom>
        </p:spPr>
      </p:pic>
      <p:pic>
        <p:nvPicPr>
          <p:cNvPr id="54" name="Picture 53">
            <a:extLst>
              <a:ext uri="{FF2B5EF4-FFF2-40B4-BE49-F238E27FC236}">
                <a16:creationId xmlns:a16="http://schemas.microsoft.com/office/drawing/2014/main" id="{4B74E669-476A-0742-F596-BD8BB52B6101}"/>
              </a:ext>
            </a:extLst>
          </p:cNvPr>
          <p:cNvPicPr>
            <a:picLocks noChangeAspect="1"/>
          </p:cNvPicPr>
          <p:nvPr/>
        </p:nvPicPr>
        <p:blipFill>
          <a:blip r:embed="rId5"/>
          <a:stretch>
            <a:fillRect/>
          </a:stretch>
        </p:blipFill>
        <p:spPr>
          <a:xfrm>
            <a:off x="5331327" y="3920053"/>
            <a:ext cx="2217491" cy="590588"/>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ext 0"/>
          <p:cNvSpPr/>
          <p:nvPr/>
        </p:nvSpPr>
        <p:spPr>
          <a:xfrm>
            <a:off x="571500" y="357188"/>
            <a:ext cx="8001000" cy="377168"/>
          </a:xfrm>
          <a:prstGeom prst="rect">
            <a:avLst/>
          </a:prstGeom>
          <a:noFill/>
          <a:ln/>
        </p:spPr>
        <p:txBody>
          <a:bodyPr wrap="none" lIns="0" tIns="0" rIns="0" bIns="0" rtlCol="0" anchor="t">
            <a:spAutoFit/>
          </a:bodyPr>
          <a:lstStyle/>
          <a:p>
            <a:pPr marL="0" indent="0" algn="l">
              <a:lnSpc>
                <a:spcPct val="96000"/>
              </a:lnSpc>
              <a:buNone/>
            </a:pPr>
            <a:r>
              <a:rPr lang="en-US" sz="2250" b="1" dirty="0">
                <a:solidFill>
                  <a:srgbClr val="0A1128"/>
                </a:solidFill>
                <a:latin typeface="Playfair Display Black" pitchFamily="34" charset="0"/>
                <a:ea typeface="Playfair Display Black" pitchFamily="34" charset="-122"/>
                <a:cs typeface="Playfair Display Black" pitchFamily="34" charset="-120"/>
              </a:rPr>
              <a:t>Mesures de performance</a:t>
            </a:r>
            <a:endParaRPr lang="en-US" sz="2250" dirty="0"/>
          </a:p>
        </p:txBody>
      </p:sp>
      <p:sp>
        <p:nvSpPr>
          <p:cNvPr id="4" name="Text 1"/>
          <p:cNvSpPr/>
          <p:nvPr/>
        </p:nvSpPr>
        <p:spPr>
          <a:xfrm>
            <a:off x="784489" y="972216"/>
            <a:ext cx="2807494" cy="189309"/>
          </a:xfrm>
          <a:prstGeom prst="rect">
            <a:avLst/>
          </a:prstGeom>
          <a:noFill/>
          <a:ln/>
        </p:spPr>
        <p:txBody>
          <a:bodyPr wrap="square" lIns="0" tIns="0" rIns="0" bIns="0" rtlCol="0" anchor="t">
            <a:spAutoFit/>
          </a:bodyPr>
          <a:lstStyle/>
          <a:p>
            <a:pPr marL="0" indent="0" algn="l">
              <a:buNone/>
            </a:pPr>
            <a:r>
              <a:rPr lang="en-US" sz="1000" b="1" kern="0" spc="1" dirty="0">
                <a:solidFill>
                  <a:srgbClr val="0A1128"/>
                </a:solidFill>
                <a:latin typeface="Roboto Mono Bold" pitchFamily="34" charset="0"/>
                <a:ea typeface="Roboto Mono Bold" pitchFamily="34" charset="-122"/>
                <a:cs typeface="Roboto Mono Bold" pitchFamily="34" charset="-120"/>
              </a:rPr>
              <a:t>ACCURACY (TEST)</a:t>
            </a:r>
            <a:endParaRPr lang="en-US" sz="1000" dirty="0"/>
          </a:p>
        </p:txBody>
      </p:sp>
      <p:sp>
        <p:nvSpPr>
          <p:cNvPr id="5" name="Text 2"/>
          <p:cNvSpPr/>
          <p:nvPr/>
        </p:nvSpPr>
        <p:spPr>
          <a:xfrm>
            <a:off x="784489" y="1197244"/>
            <a:ext cx="1280800" cy="416396"/>
          </a:xfrm>
          <a:prstGeom prst="rect">
            <a:avLst/>
          </a:prstGeom>
          <a:noFill/>
          <a:ln/>
        </p:spPr>
        <p:txBody>
          <a:bodyPr wrap="none" lIns="0" tIns="0" rIns="0" bIns="0" rtlCol="0" anchor="t">
            <a:spAutoFit/>
          </a:bodyPr>
          <a:lstStyle/>
          <a:p>
            <a:pPr marL="0" indent="0" algn="l">
              <a:lnSpc>
                <a:spcPct val="80000"/>
              </a:lnSpc>
              <a:buNone/>
            </a:pPr>
            <a:r>
              <a:rPr lang="en-US" sz="3300" b="1" dirty="0">
                <a:solidFill>
                  <a:srgbClr val="FF4500"/>
                </a:solidFill>
                <a:ea typeface="Playfair Display Black" pitchFamily="34" charset="-122"/>
                <a:cs typeface="Playfair Display Black" pitchFamily="34" charset="-120"/>
              </a:rPr>
              <a:t>99.48%</a:t>
            </a:r>
            <a:endParaRPr lang="en-US" sz="3300" dirty="0"/>
          </a:p>
        </p:txBody>
      </p:sp>
      <p:sp>
        <p:nvSpPr>
          <p:cNvPr id="6" name="Text 3"/>
          <p:cNvSpPr/>
          <p:nvPr/>
        </p:nvSpPr>
        <p:spPr>
          <a:xfrm>
            <a:off x="784489" y="1940194"/>
            <a:ext cx="2807494" cy="189309"/>
          </a:xfrm>
          <a:prstGeom prst="rect">
            <a:avLst/>
          </a:prstGeom>
          <a:noFill/>
          <a:ln/>
        </p:spPr>
        <p:txBody>
          <a:bodyPr wrap="square" lIns="0" tIns="0" rIns="0" bIns="0" rtlCol="0" anchor="t">
            <a:spAutoFit/>
          </a:bodyPr>
          <a:lstStyle/>
          <a:p>
            <a:pPr marL="0" indent="0" algn="l">
              <a:buNone/>
            </a:pPr>
            <a:r>
              <a:rPr lang="en-US" sz="1000" b="1" kern="0" spc="1" dirty="0">
                <a:solidFill>
                  <a:srgbClr val="0A1128"/>
                </a:solidFill>
                <a:latin typeface="Roboto Mono Bold" pitchFamily="34" charset="0"/>
                <a:ea typeface="Roboto Mono Bold" pitchFamily="34" charset="-122"/>
                <a:cs typeface="Roboto Mono Bold" pitchFamily="34" charset="-120"/>
              </a:rPr>
              <a:t>F1 SCORE (MACRO)</a:t>
            </a:r>
            <a:endParaRPr lang="en-US" sz="1000" dirty="0"/>
          </a:p>
        </p:txBody>
      </p:sp>
      <p:sp>
        <p:nvSpPr>
          <p:cNvPr id="7" name="Text 4"/>
          <p:cNvSpPr/>
          <p:nvPr/>
        </p:nvSpPr>
        <p:spPr>
          <a:xfrm>
            <a:off x="784489" y="2165222"/>
            <a:ext cx="1280800" cy="416396"/>
          </a:xfrm>
          <a:prstGeom prst="rect">
            <a:avLst/>
          </a:prstGeom>
          <a:noFill/>
          <a:ln/>
        </p:spPr>
        <p:txBody>
          <a:bodyPr wrap="none" lIns="0" tIns="0" rIns="0" bIns="0" rtlCol="0" anchor="t">
            <a:spAutoFit/>
          </a:bodyPr>
          <a:lstStyle/>
          <a:p>
            <a:pPr marL="0" indent="0" algn="l">
              <a:lnSpc>
                <a:spcPct val="80000"/>
              </a:lnSpc>
              <a:buNone/>
            </a:pPr>
            <a:r>
              <a:rPr lang="en-US" sz="3300" b="1" dirty="0">
                <a:solidFill>
                  <a:srgbClr val="FF4500"/>
                </a:solidFill>
                <a:ea typeface="Playfair Display Black" pitchFamily="34" charset="-122"/>
                <a:cs typeface="Playfair Display Black" pitchFamily="34" charset="-120"/>
              </a:rPr>
              <a:t>99.48%</a:t>
            </a:r>
            <a:endParaRPr lang="en-US" sz="3300" dirty="0"/>
          </a:p>
        </p:txBody>
      </p:sp>
      <p:sp>
        <p:nvSpPr>
          <p:cNvPr id="8" name="Text 5"/>
          <p:cNvSpPr/>
          <p:nvPr/>
        </p:nvSpPr>
        <p:spPr>
          <a:xfrm>
            <a:off x="784489" y="2908172"/>
            <a:ext cx="2807494" cy="189309"/>
          </a:xfrm>
          <a:prstGeom prst="rect">
            <a:avLst/>
          </a:prstGeom>
          <a:noFill/>
          <a:ln/>
        </p:spPr>
        <p:txBody>
          <a:bodyPr wrap="square" lIns="0" tIns="0" rIns="0" bIns="0" rtlCol="0" anchor="t">
            <a:spAutoFit/>
          </a:bodyPr>
          <a:lstStyle/>
          <a:p>
            <a:pPr marL="0" indent="0" algn="l">
              <a:buNone/>
            </a:pPr>
            <a:r>
              <a:rPr lang="en-US" sz="1000" b="1" kern="0" spc="1" dirty="0">
                <a:solidFill>
                  <a:srgbClr val="0A1128"/>
                </a:solidFill>
                <a:latin typeface="Roboto Mono Bold" pitchFamily="34" charset="0"/>
                <a:ea typeface="Roboto Mono Bold" pitchFamily="34" charset="-122"/>
                <a:cs typeface="Roboto Mono Bold" pitchFamily="34" charset="-120"/>
              </a:rPr>
              <a:t>LOSS (TEST)</a:t>
            </a:r>
            <a:endParaRPr lang="en-US" sz="1000" dirty="0"/>
          </a:p>
        </p:txBody>
      </p:sp>
      <p:sp>
        <p:nvSpPr>
          <p:cNvPr id="9" name="Text 6"/>
          <p:cNvSpPr/>
          <p:nvPr/>
        </p:nvSpPr>
        <p:spPr>
          <a:xfrm>
            <a:off x="784489" y="3133200"/>
            <a:ext cx="973023" cy="416396"/>
          </a:xfrm>
          <a:prstGeom prst="rect">
            <a:avLst/>
          </a:prstGeom>
          <a:noFill/>
          <a:ln/>
        </p:spPr>
        <p:txBody>
          <a:bodyPr wrap="none" lIns="0" tIns="0" rIns="0" bIns="0" rtlCol="0" anchor="t">
            <a:spAutoFit/>
          </a:bodyPr>
          <a:lstStyle/>
          <a:p>
            <a:pPr marL="0" indent="0" algn="l">
              <a:lnSpc>
                <a:spcPct val="80000"/>
              </a:lnSpc>
              <a:buNone/>
            </a:pPr>
            <a:r>
              <a:rPr lang="en-US" sz="3300" b="1" dirty="0">
                <a:solidFill>
                  <a:srgbClr val="FF4500"/>
                </a:solidFill>
                <a:ea typeface="Playfair Display Black" pitchFamily="34" charset="-122"/>
                <a:cs typeface="Playfair Display Black" pitchFamily="34" charset="-120"/>
              </a:rPr>
              <a:t>0.038</a:t>
            </a:r>
            <a:endParaRPr lang="en-US" sz="3300" dirty="0"/>
          </a:p>
        </p:txBody>
      </p:sp>
      <p:pic>
        <p:nvPicPr>
          <p:cNvPr id="10" name="Image 1" descr="preencoded.png"/>
          <p:cNvPicPr>
            <a:picLocks noChangeAspect="1"/>
          </p:cNvPicPr>
          <p:nvPr/>
        </p:nvPicPr>
        <p:blipFill>
          <a:blip r:embed="rId3"/>
          <a:stretch>
            <a:fillRect/>
          </a:stretch>
        </p:blipFill>
        <p:spPr>
          <a:xfrm>
            <a:off x="4186238" y="1298711"/>
            <a:ext cx="4229100" cy="2308089"/>
          </a:xfrm>
          <a:prstGeom prst="rect">
            <a:avLst/>
          </a:prstGeom>
        </p:spPr>
      </p:pic>
      <p:sp>
        <p:nvSpPr>
          <p:cNvPr id="14" name="Text 10"/>
          <p:cNvSpPr/>
          <p:nvPr/>
        </p:nvSpPr>
        <p:spPr>
          <a:xfrm>
            <a:off x="784489" y="3946256"/>
            <a:ext cx="7788011" cy="575029"/>
          </a:xfrm>
          <a:prstGeom prst="rect">
            <a:avLst/>
          </a:prstGeom>
          <a:noFill/>
          <a:ln/>
        </p:spPr>
        <p:txBody>
          <a:bodyPr wrap="square" lIns="0" tIns="0" rIns="0" bIns="0" rtlCol="0" anchor="t">
            <a:spAutoFit/>
          </a:bodyPr>
          <a:lstStyle/>
          <a:p>
            <a:pPr marL="0" indent="0" algn="l">
              <a:lnSpc>
                <a:spcPct val="128000"/>
              </a:lnSpc>
              <a:buNone/>
            </a:pPr>
            <a:r>
              <a:rPr lang="en-US" sz="1000" dirty="0">
                <a:latin typeface="Roboto Mono" pitchFamily="34" charset="0"/>
                <a:ea typeface="Roboto Mono" pitchFamily="34" charset="-122"/>
                <a:cs typeface="Roboto Mono" pitchFamily="34" charset="-120"/>
              </a:rPr>
              <a:t>La matrice de confusion normalisée révèle une diagonale quasi-parfaite. Les rares erreurs (0.52%) se concentrent exclusivement sur des accords partageant une forte similarité harmonique (ex: C Majeur et A Mineur), démontrant la robustesse de l'extraction des caractéristiques CQT.</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E2100A-05BA-D37C-AB40-9116B2AB5CEC}"/>
            </a:ext>
          </a:extLst>
        </p:cNvPr>
        <p:cNvGrpSpPr/>
        <p:nvPr/>
      </p:nvGrpSpPr>
      <p:grpSpPr>
        <a:xfrm>
          <a:off x="0" y="0"/>
          <a:ext cx="0" cy="0"/>
          <a:chOff x="0" y="0"/>
          <a:chExt cx="0" cy="0"/>
        </a:xfrm>
      </p:grpSpPr>
      <p:sp>
        <p:nvSpPr>
          <p:cNvPr id="3" name="Text 0">
            <a:extLst>
              <a:ext uri="{FF2B5EF4-FFF2-40B4-BE49-F238E27FC236}">
                <a16:creationId xmlns:a16="http://schemas.microsoft.com/office/drawing/2014/main" id="{6D5D90CE-48E9-F56F-D764-8D738918F471}"/>
              </a:ext>
            </a:extLst>
          </p:cNvPr>
          <p:cNvSpPr/>
          <p:nvPr/>
        </p:nvSpPr>
        <p:spPr>
          <a:xfrm>
            <a:off x="571500" y="357188"/>
            <a:ext cx="8001000" cy="377168"/>
          </a:xfrm>
          <a:prstGeom prst="rect">
            <a:avLst/>
          </a:prstGeom>
          <a:noFill/>
          <a:ln/>
        </p:spPr>
        <p:txBody>
          <a:bodyPr wrap="none" lIns="0" tIns="0" rIns="0" bIns="0" rtlCol="0" anchor="t">
            <a:spAutoFit/>
          </a:bodyPr>
          <a:lstStyle/>
          <a:p>
            <a:pPr marL="0" indent="0" algn="l">
              <a:lnSpc>
                <a:spcPct val="96000"/>
              </a:lnSpc>
              <a:buNone/>
            </a:pPr>
            <a:r>
              <a:rPr lang="en-US" sz="2250" b="1" dirty="0">
                <a:solidFill>
                  <a:srgbClr val="0A1128"/>
                </a:solidFill>
                <a:latin typeface="Playfair Display Black" pitchFamily="34" charset="0"/>
                <a:ea typeface="Playfair Display Black" pitchFamily="34" charset="-122"/>
                <a:cs typeface="Playfair Display Black" pitchFamily="34" charset="-120"/>
              </a:rPr>
              <a:t>Problèmes et solutions</a:t>
            </a:r>
            <a:endParaRPr lang="en-US" sz="2250" dirty="0"/>
          </a:p>
        </p:txBody>
      </p:sp>
      <p:sp>
        <p:nvSpPr>
          <p:cNvPr id="4" name="Text 1">
            <a:extLst>
              <a:ext uri="{FF2B5EF4-FFF2-40B4-BE49-F238E27FC236}">
                <a16:creationId xmlns:a16="http://schemas.microsoft.com/office/drawing/2014/main" id="{44E94F4D-534A-6D4E-D508-13E9F482DC22}"/>
              </a:ext>
            </a:extLst>
          </p:cNvPr>
          <p:cNvSpPr/>
          <p:nvPr/>
        </p:nvSpPr>
        <p:spPr>
          <a:xfrm>
            <a:off x="571500" y="1133429"/>
            <a:ext cx="4214813" cy="228600"/>
          </a:xfrm>
          <a:prstGeom prst="rect">
            <a:avLst/>
          </a:prstGeom>
          <a:noFill/>
          <a:ln/>
        </p:spPr>
        <p:txBody>
          <a:bodyPr wrap="square" lIns="0" tIns="0" rIns="510286" bIns="0" rtlCol="0" anchor="t">
            <a:spAutoFit/>
          </a:bodyPr>
          <a:lstStyle/>
          <a:p>
            <a:pPr marL="0" indent="0" algn="l">
              <a:buNone/>
            </a:pPr>
            <a:r>
              <a:rPr lang="en-US" sz="1200" b="1" dirty="0">
                <a:solidFill>
                  <a:srgbClr val="0A1128"/>
                </a:solidFill>
                <a:latin typeface="Playfair Display Black" pitchFamily="34" charset="0"/>
                <a:ea typeface="Playfair Display Black" pitchFamily="34" charset="-122"/>
                <a:cs typeface="Playfair Display Black" pitchFamily="34" charset="-120"/>
              </a:rPr>
              <a:t>Défi rencontré</a:t>
            </a:r>
            <a:endParaRPr lang="en-US" sz="1200" dirty="0"/>
          </a:p>
        </p:txBody>
      </p:sp>
      <p:sp>
        <p:nvSpPr>
          <p:cNvPr id="5" name="Text 2">
            <a:extLst>
              <a:ext uri="{FF2B5EF4-FFF2-40B4-BE49-F238E27FC236}">
                <a16:creationId xmlns:a16="http://schemas.microsoft.com/office/drawing/2014/main" id="{B105DF41-2AA9-5FFC-2751-D9AAC69E9AD1}"/>
              </a:ext>
            </a:extLst>
          </p:cNvPr>
          <p:cNvSpPr/>
          <p:nvPr/>
        </p:nvSpPr>
        <p:spPr>
          <a:xfrm>
            <a:off x="4786313" y="1133429"/>
            <a:ext cx="3786188" cy="228600"/>
          </a:xfrm>
          <a:prstGeom prst="rect">
            <a:avLst/>
          </a:prstGeom>
          <a:noFill/>
          <a:ln/>
        </p:spPr>
        <p:txBody>
          <a:bodyPr wrap="square" lIns="0" tIns="0" rIns="0" bIns="0" rtlCol="0" anchor="t">
            <a:spAutoFit/>
          </a:bodyPr>
          <a:lstStyle/>
          <a:p>
            <a:pPr marL="0" indent="0" algn="l">
              <a:buNone/>
            </a:pPr>
            <a:r>
              <a:rPr lang="en-US" sz="1200" b="1" dirty="0">
                <a:solidFill>
                  <a:srgbClr val="0A1128"/>
                </a:solidFill>
                <a:latin typeface="Playfair Display Black" pitchFamily="34" charset="0"/>
                <a:ea typeface="Playfair Display Black" pitchFamily="34" charset="-122"/>
                <a:cs typeface="Playfair Display Black" pitchFamily="34" charset="-120"/>
              </a:rPr>
              <a:t>Solution apportée</a:t>
            </a:r>
            <a:endParaRPr lang="en-US" sz="1200" dirty="0"/>
          </a:p>
        </p:txBody>
      </p:sp>
      <p:sp>
        <p:nvSpPr>
          <p:cNvPr id="6" name="Text 3">
            <a:extLst>
              <a:ext uri="{FF2B5EF4-FFF2-40B4-BE49-F238E27FC236}">
                <a16:creationId xmlns:a16="http://schemas.microsoft.com/office/drawing/2014/main" id="{AE2967F6-649D-EBD9-320C-14C465A0D539}"/>
              </a:ext>
            </a:extLst>
          </p:cNvPr>
          <p:cNvSpPr/>
          <p:nvPr/>
        </p:nvSpPr>
        <p:spPr>
          <a:xfrm>
            <a:off x="571500" y="1713049"/>
            <a:ext cx="3786188" cy="617153"/>
          </a:xfrm>
          <a:prstGeom prst="rect">
            <a:avLst/>
          </a:prstGeom>
          <a:noFill/>
          <a:ln/>
        </p:spPr>
        <p:txBody>
          <a:bodyPr wrap="square" lIns="0" tIns="0" rIns="0" bIns="0" rtlCol="0" anchor="t">
            <a:spAutoFit/>
          </a:bodyPr>
          <a:lstStyle/>
          <a:p>
            <a:pPr marL="0" indent="0" algn="l">
              <a:lnSpc>
                <a:spcPct val="128000"/>
              </a:lnSpc>
              <a:buNone/>
            </a:pPr>
            <a:r>
              <a:rPr lang="en-US" sz="950" dirty="0">
                <a:solidFill>
                  <a:srgbClr val="0A1128"/>
                </a:solidFill>
                <a:latin typeface="Roboto Mono" pitchFamily="34" charset="0"/>
                <a:ea typeface="Roboto Mono" pitchFamily="34" charset="-122"/>
                <a:cs typeface="Roboto Mono" pitchFamily="34" charset="-120"/>
              </a:rPr>
              <a:t>L'annotation manuelle d'un jeu de données audio est extrêmement chronophage et sujette aux erreurs.</a:t>
            </a:r>
            <a:endParaRPr lang="en-US" sz="950" dirty="0"/>
          </a:p>
        </p:txBody>
      </p:sp>
      <p:sp>
        <p:nvSpPr>
          <p:cNvPr id="7" name="Text 4">
            <a:extLst>
              <a:ext uri="{FF2B5EF4-FFF2-40B4-BE49-F238E27FC236}">
                <a16:creationId xmlns:a16="http://schemas.microsoft.com/office/drawing/2014/main" id="{DB53E4BE-E1EE-9F42-0650-1067FD1CE430}"/>
              </a:ext>
            </a:extLst>
          </p:cNvPr>
          <p:cNvSpPr/>
          <p:nvPr/>
        </p:nvSpPr>
        <p:spPr>
          <a:xfrm>
            <a:off x="4786313" y="1713049"/>
            <a:ext cx="3786188" cy="617153"/>
          </a:xfrm>
          <a:prstGeom prst="rect">
            <a:avLst/>
          </a:prstGeom>
          <a:noFill/>
          <a:ln/>
        </p:spPr>
        <p:txBody>
          <a:bodyPr wrap="square" lIns="0" tIns="0" rIns="0" bIns="0" rtlCol="0" anchor="t">
            <a:spAutoFit/>
          </a:bodyPr>
          <a:lstStyle/>
          <a:p>
            <a:pPr marL="0" indent="0" algn="l">
              <a:lnSpc>
                <a:spcPct val="128000"/>
              </a:lnSpc>
              <a:buNone/>
            </a:pPr>
            <a:r>
              <a:rPr lang="en-US" sz="900" b="1" dirty="0">
                <a:solidFill>
                  <a:srgbClr val="FF4500"/>
                </a:solidFill>
                <a:latin typeface="Roboto Mono Bold" pitchFamily="34" charset="0"/>
                <a:ea typeface="Roboto Mono Bold" pitchFamily="34" charset="-122"/>
                <a:cs typeface="Roboto Mono Bold" pitchFamily="34" charset="-120"/>
              </a:rPr>
              <a:t>Génération contrôlée</a:t>
            </a:r>
            <a:r>
              <a:rPr lang="en-US" sz="950" dirty="0">
                <a:solidFill>
                  <a:srgbClr val="0A1128"/>
                </a:solidFill>
                <a:latin typeface="Roboto Mono" pitchFamily="34" charset="0"/>
                <a:ea typeface="Roboto Mono" pitchFamily="34" charset="-122"/>
                <a:cs typeface="Roboto Mono" pitchFamily="34" charset="-120"/>
              </a:rPr>
              <a:t> permettant de créer des milliers d'exemples avec des étiquettes fiables dès la source.</a:t>
            </a:r>
            <a:endParaRPr lang="en-US" sz="900" dirty="0"/>
          </a:p>
        </p:txBody>
      </p:sp>
      <p:sp>
        <p:nvSpPr>
          <p:cNvPr id="8" name="Text 5">
            <a:extLst>
              <a:ext uri="{FF2B5EF4-FFF2-40B4-BE49-F238E27FC236}">
                <a16:creationId xmlns:a16="http://schemas.microsoft.com/office/drawing/2014/main" id="{F6DED746-100A-0EF1-BBD0-2B3824D0D179}"/>
              </a:ext>
            </a:extLst>
          </p:cNvPr>
          <p:cNvSpPr/>
          <p:nvPr/>
        </p:nvSpPr>
        <p:spPr>
          <a:xfrm>
            <a:off x="571500" y="2694533"/>
            <a:ext cx="3786188" cy="411435"/>
          </a:xfrm>
          <a:prstGeom prst="rect">
            <a:avLst/>
          </a:prstGeom>
          <a:noFill/>
          <a:ln/>
        </p:spPr>
        <p:txBody>
          <a:bodyPr wrap="square" lIns="0" tIns="0" rIns="0" bIns="0" rtlCol="0" anchor="t">
            <a:spAutoFit/>
          </a:bodyPr>
          <a:lstStyle/>
          <a:p>
            <a:pPr marL="0" indent="0" algn="l">
              <a:lnSpc>
                <a:spcPct val="128000"/>
              </a:lnSpc>
              <a:buNone/>
            </a:pPr>
            <a:r>
              <a:rPr lang="en-US" sz="950" dirty="0">
                <a:solidFill>
                  <a:srgbClr val="0A1128"/>
                </a:solidFill>
                <a:latin typeface="Roboto Mono" pitchFamily="34" charset="0"/>
                <a:ea typeface="Roboto Mono" pitchFamily="34" charset="-122"/>
                <a:cs typeface="Roboto Mono" pitchFamily="34" charset="-120"/>
              </a:rPr>
              <a:t>Les accords générés par défaut manquent de réalisme acoustique et sont trop "propres".</a:t>
            </a:r>
            <a:endParaRPr lang="en-US" sz="950" dirty="0"/>
          </a:p>
        </p:txBody>
      </p:sp>
      <p:sp>
        <p:nvSpPr>
          <p:cNvPr id="9" name="Text 6">
            <a:extLst>
              <a:ext uri="{FF2B5EF4-FFF2-40B4-BE49-F238E27FC236}">
                <a16:creationId xmlns:a16="http://schemas.microsoft.com/office/drawing/2014/main" id="{F291312F-A7F3-F12F-3F90-2816AFD149A6}"/>
              </a:ext>
            </a:extLst>
          </p:cNvPr>
          <p:cNvSpPr/>
          <p:nvPr/>
        </p:nvSpPr>
        <p:spPr>
          <a:xfrm>
            <a:off x="4786313" y="2694533"/>
            <a:ext cx="3786188" cy="411435"/>
          </a:xfrm>
          <a:prstGeom prst="rect">
            <a:avLst/>
          </a:prstGeom>
          <a:noFill/>
          <a:ln/>
        </p:spPr>
        <p:txBody>
          <a:bodyPr wrap="square" lIns="0" tIns="0" rIns="0" bIns="0" rtlCol="0" anchor="t">
            <a:spAutoFit/>
          </a:bodyPr>
          <a:lstStyle/>
          <a:p>
            <a:pPr marL="0" indent="0" algn="l">
              <a:lnSpc>
                <a:spcPct val="128000"/>
              </a:lnSpc>
              <a:buNone/>
            </a:pPr>
            <a:r>
              <a:rPr lang="en-US" sz="900" b="1" dirty="0">
                <a:solidFill>
                  <a:srgbClr val="FF4500"/>
                </a:solidFill>
                <a:latin typeface="Roboto Mono Bold" pitchFamily="34" charset="0"/>
                <a:ea typeface="Roboto Mono Bold" pitchFamily="34" charset="-122"/>
                <a:cs typeface="Roboto Mono Bold" pitchFamily="34" charset="-120"/>
              </a:rPr>
              <a:t>Augmentation audio</a:t>
            </a:r>
            <a:r>
              <a:rPr lang="en-US" sz="950" dirty="0">
                <a:solidFill>
                  <a:srgbClr val="0A1128"/>
                </a:solidFill>
                <a:latin typeface="Roboto Mono" pitchFamily="34" charset="0"/>
                <a:ea typeface="Roboto Mono" pitchFamily="34" charset="-122"/>
                <a:cs typeface="Roboto Mono" pitchFamily="34" charset="-120"/>
              </a:rPr>
              <a:t> via l'ajout de bruit de fond, d'effets (réverbération) et d'humanisation.</a:t>
            </a:r>
            <a:endParaRPr lang="en-US" sz="900" dirty="0"/>
          </a:p>
        </p:txBody>
      </p:sp>
      <p:sp>
        <p:nvSpPr>
          <p:cNvPr id="10" name="Text 7">
            <a:extLst>
              <a:ext uri="{FF2B5EF4-FFF2-40B4-BE49-F238E27FC236}">
                <a16:creationId xmlns:a16="http://schemas.microsoft.com/office/drawing/2014/main" id="{C9E5EE28-6B98-AFFC-E0D7-FEF7BAE18BAC}"/>
              </a:ext>
            </a:extLst>
          </p:cNvPr>
          <p:cNvSpPr/>
          <p:nvPr/>
        </p:nvSpPr>
        <p:spPr>
          <a:xfrm>
            <a:off x="571500" y="3470300"/>
            <a:ext cx="3786188" cy="411435"/>
          </a:xfrm>
          <a:prstGeom prst="rect">
            <a:avLst/>
          </a:prstGeom>
          <a:noFill/>
          <a:ln/>
        </p:spPr>
        <p:txBody>
          <a:bodyPr wrap="square" lIns="0" tIns="0" rIns="0" bIns="0" rtlCol="0" anchor="t">
            <a:spAutoFit/>
          </a:bodyPr>
          <a:lstStyle/>
          <a:p>
            <a:pPr marL="0" indent="0" algn="l">
              <a:lnSpc>
                <a:spcPct val="128000"/>
              </a:lnSpc>
              <a:buNone/>
            </a:pPr>
            <a:r>
              <a:rPr lang="en-US" sz="950" dirty="0">
                <a:solidFill>
                  <a:srgbClr val="0A1128"/>
                </a:solidFill>
                <a:latin typeface="Roboto Mono" pitchFamily="34" charset="0"/>
                <a:ea typeface="Roboto Mono" pitchFamily="34" charset="-122"/>
                <a:cs typeface="Roboto Mono" pitchFamily="34" charset="-120"/>
              </a:rPr>
              <a:t>La transposition audio modifie la fondamentale de l'accord, ce qui fausse l'étiquette initiale.</a:t>
            </a:r>
            <a:endParaRPr lang="en-US" sz="950" dirty="0"/>
          </a:p>
        </p:txBody>
      </p:sp>
      <p:sp>
        <p:nvSpPr>
          <p:cNvPr id="11" name="Text 8">
            <a:extLst>
              <a:ext uri="{FF2B5EF4-FFF2-40B4-BE49-F238E27FC236}">
                <a16:creationId xmlns:a16="http://schemas.microsoft.com/office/drawing/2014/main" id="{54637CAA-50FE-664B-4AE3-53CC76769A7A}"/>
              </a:ext>
            </a:extLst>
          </p:cNvPr>
          <p:cNvSpPr/>
          <p:nvPr/>
        </p:nvSpPr>
        <p:spPr>
          <a:xfrm>
            <a:off x="4786313" y="3470300"/>
            <a:ext cx="3786188" cy="617153"/>
          </a:xfrm>
          <a:prstGeom prst="rect">
            <a:avLst/>
          </a:prstGeom>
          <a:noFill/>
          <a:ln/>
        </p:spPr>
        <p:txBody>
          <a:bodyPr wrap="square" lIns="0" tIns="0" rIns="0" bIns="0" rtlCol="0" anchor="t">
            <a:spAutoFit/>
          </a:bodyPr>
          <a:lstStyle/>
          <a:p>
            <a:pPr marL="0" indent="0" algn="l">
              <a:lnSpc>
                <a:spcPct val="128000"/>
              </a:lnSpc>
              <a:buNone/>
            </a:pPr>
            <a:r>
              <a:rPr lang="en-US" sz="900" b="1" dirty="0">
                <a:solidFill>
                  <a:srgbClr val="FF4500"/>
                </a:solidFill>
                <a:latin typeface="Roboto Mono Bold" pitchFamily="34" charset="0"/>
                <a:ea typeface="Roboto Mono Bold" pitchFamily="34" charset="-122"/>
                <a:cs typeface="Roboto Mono Bold" pitchFamily="34" charset="-120"/>
              </a:rPr>
              <a:t>Recalcul dynamique</a:t>
            </a:r>
            <a:r>
              <a:rPr lang="en-US" sz="950" dirty="0">
                <a:solidFill>
                  <a:srgbClr val="0A1128"/>
                </a:solidFill>
                <a:latin typeface="Roboto Mono" pitchFamily="34" charset="0"/>
                <a:ea typeface="Roboto Mono" pitchFamily="34" charset="-122"/>
                <a:cs typeface="Roboto Mono" pitchFamily="34" charset="-120"/>
              </a:rPr>
              <a:t> de la classe cible lors de l'application du décalage de hauteur (pitch shift).</a:t>
            </a:r>
            <a:endParaRPr lang="en-US" sz="900" dirty="0"/>
          </a:p>
        </p:txBody>
      </p:sp>
      <p:sp>
        <p:nvSpPr>
          <p:cNvPr id="12" name="Text 9">
            <a:extLst>
              <a:ext uri="{FF2B5EF4-FFF2-40B4-BE49-F238E27FC236}">
                <a16:creationId xmlns:a16="http://schemas.microsoft.com/office/drawing/2014/main" id="{18CA1BD4-5CEC-88B7-AE18-DFA5388F3012}"/>
              </a:ext>
            </a:extLst>
          </p:cNvPr>
          <p:cNvSpPr/>
          <p:nvPr/>
        </p:nvSpPr>
        <p:spPr>
          <a:xfrm>
            <a:off x="571500" y="4451784"/>
            <a:ext cx="3786188" cy="411435"/>
          </a:xfrm>
          <a:prstGeom prst="rect">
            <a:avLst/>
          </a:prstGeom>
          <a:noFill/>
          <a:ln/>
        </p:spPr>
        <p:txBody>
          <a:bodyPr wrap="square" lIns="0" tIns="0" rIns="0" bIns="0" rtlCol="0" anchor="t">
            <a:spAutoFit/>
          </a:bodyPr>
          <a:lstStyle/>
          <a:p>
            <a:pPr marL="0" indent="0" algn="l">
              <a:lnSpc>
                <a:spcPct val="128000"/>
              </a:lnSpc>
              <a:buNone/>
            </a:pPr>
            <a:r>
              <a:rPr lang="en-US" sz="950" dirty="0">
                <a:solidFill>
                  <a:srgbClr val="0A1128"/>
                </a:solidFill>
                <a:latin typeface="Roboto Mono" pitchFamily="34" charset="0"/>
                <a:ea typeface="Roboto Mono" pitchFamily="34" charset="-122"/>
                <a:cs typeface="Roboto Mono" pitchFamily="34" charset="-120"/>
              </a:rPr>
              <a:t>Les expériences de Machine Learning sont souvent difficiles à reproduire et à comparer.</a:t>
            </a:r>
            <a:endParaRPr lang="en-US" sz="950" dirty="0"/>
          </a:p>
        </p:txBody>
      </p:sp>
      <p:sp>
        <p:nvSpPr>
          <p:cNvPr id="13" name="Text 10">
            <a:extLst>
              <a:ext uri="{FF2B5EF4-FFF2-40B4-BE49-F238E27FC236}">
                <a16:creationId xmlns:a16="http://schemas.microsoft.com/office/drawing/2014/main" id="{AC29B4F7-9508-0DFA-22AA-C028AAD7324E}"/>
              </a:ext>
            </a:extLst>
          </p:cNvPr>
          <p:cNvSpPr/>
          <p:nvPr/>
        </p:nvSpPr>
        <p:spPr>
          <a:xfrm>
            <a:off x="4786313" y="4451784"/>
            <a:ext cx="3786188" cy="359137"/>
          </a:xfrm>
          <a:prstGeom prst="rect">
            <a:avLst/>
          </a:prstGeom>
          <a:noFill/>
          <a:ln/>
        </p:spPr>
        <p:txBody>
          <a:bodyPr wrap="square" lIns="0" tIns="0" rIns="0" bIns="0" rtlCol="0" anchor="t">
            <a:spAutoFit/>
          </a:bodyPr>
          <a:lstStyle/>
          <a:p>
            <a:pPr marL="0" indent="0" algn="l">
              <a:lnSpc>
                <a:spcPct val="128000"/>
              </a:lnSpc>
              <a:buNone/>
            </a:pPr>
            <a:r>
              <a:rPr lang="en-US" sz="900" b="1" dirty="0">
                <a:solidFill>
                  <a:srgbClr val="FF4500"/>
                </a:solidFill>
                <a:latin typeface="Roboto Mono Bold" pitchFamily="34" charset="0"/>
                <a:ea typeface="Roboto Mono Bold" pitchFamily="34" charset="-122"/>
                <a:cs typeface="Roboto Mono Bold" pitchFamily="34" charset="-120"/>
              </a:rPr>
              <a:t>Traçabilité stricte</a:t>
            </a:r>
            <a:r>
              <a:rPr lang="en-US" sz="950" dirty="0">
                <a:solidFill>
                  <a:srgbClr val="0A1128"/>
                </a:solidFill>
                <a:latin typeface="Roboto Mono" pitchFamily="34" charset="0"/>
                <a:ea typeface="Roboto Mono" pitchFamily="34" charset="-122"/>
                <a:cs typeface="Roboto Mono" pitchFamily="34" charset="-120"/>
              </a:rPr>
              <a:t> avec manifestes CSV, graines aléatoires et configuration </a:t>
            </a:r>
            <a:r>
              <a:rPr lang="en-US" sz="950" dirty="0" err="1">
                <a:solidFill>
                  <a:srgbClr val="0A1128"/>
                </a:solidFill>
                <a:latin typeface="Roboto Mono" pitchFamily="34" charset="0"/>
                <a:ea typeface="Roboto Mono" pitchFamily="34" charset="-122"/>
                <a:cs typeface="Roboto Mono" pitchFamily="34" charset="-120"/>
              </a:rPr>
              <a:t>centralisée</a:t>
            </a:r>
            <a:r>
              <a:rPr lang="en-US" sz="950" dirty="0">
                <a:solidFill>
                  <a:srgbClr val="0A1128"/>
                </a:solidFill>
                <a:latin typeface="Roboto Mono" pitchFamily="34" charset="0"/>
                <a:ea typeface="Roboto Mono" pitchFamily="34" charset="-122"/>
                <a:cs typeface="Roboto Mono" pitchFamily="34" charset="-120"/>
              </a:rPr>
              <a:t>.</a:t>
            </a:r>
            <a:endParaRPr lang="en-US" sz="900" dirty="0"/>
          </a:p>
        </p:txBody>
      </p:sp>
    </p:spTree>
    <p:extLst>
      <p:ext uri="{BB962C8B-B14F-4D97-AF65-F5344CB8AC3E}">
        <p14:creationId xmlns:p14="http://schemas.microsoft.com/office/powerpoint/2010/main" val="346801333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ext 0"/>
          <p:cNvSpPr/>
          <p:nvPr/>
        </p:nvSpPr>
        <p:spPr>
          <a:xfrm>
            <a:off x="571500" y="357188"/>
            <a:ext cx="8001000" cy="377168"/>
          </a:xfrm>
          <a:prstGeom prst="rect">
            <a:avLst/>
          </a:prstGeom>
          <a:noFill/>
          <a:ln/>
        </p:spPr>
        <p:txBody>
          <a:bodyPr wrap="none" lIns="0" tIns="0" rIns="0" bIns="0" rtlCol="0" anchor="t">
            <a:spAutoFit/>
          </a:bodyPr>
          <a:lstStyle/>
          <a:p>
            <a:pPr marL="0" indent="0" algn="l">
              <a:lnSpc>
                <a:spcPct val="96000"/>
              </a:lnSpc>
              <a:buNone/>
            </a:pPr>
            <a:r>
              <a:rPr lang="en-US" sz="2250" b="1" dirty="0">
                <a:solidFill>
                  <a:srgbClr val="0A1128"/>
                </a:solidFill>
                <a:latin typeface="Playfair Display Black" pitchFamily="34" charset="0"/>
                <a:ea typeface="Playfair Display Black" pitchFamily="34" charset="-122"/>
                <a:cs typeface="Playfair Display Black" pitchFamily="34" charset="-120"/>
              </a:rPr>
              <a:t>Avenues futures</a:t>
            </a:r>
            <a:endParaRPr lang="en-US" sz="2250" dirty="0"/>
          </a:p>
        </p:txBody>
      </p:sp>
      <p:sp>
        <p:nvSpPr>
          <p:cNvPr id="4" name="Text 1"/>
          <p:cNvSpPr/>
          <p:nvPr/>
        </p:nvSpPr>
        <p:spPr>
          <a:xfrm>
            <a:off x="571500" y="1141549"/>
            <a:ext cx="3786188" cy="226814"/>
          </a:xfrm>
          <a:prstGeom prst="rect">
            <a:avLst/>
          </a:prstGeom>
          <a:noFill/>
          <a:ln/>
        </p:spPr>
        <p:txBody>
          <a:bodyPr wrap="square" lIns="0" tIns="0" rIns="0" bIns="0" rtlCol="0" anchor="t">
            <a:spAutoFit/>
          </a:bodyPr>
          <a:lstStyle/>
          <a:p>
            <a:pPr marL="0" indent="0" algn="l">
              <a:buNone/>
            </a:pPr>
            <a:r>
              <a:rPr lang="en-US" sz="1200" b="1" dirty="0">
                <a:solidFill>
                  <a:srgbClr val="FF4500"/>
                </a:solidFill>
                <a:latin typeface="Roboto Mono Bold" pitchFamily="34" charset="0"/>
                <a:ea typeface="Roboto Mono Bold" pitchFamily="34" charset="-122"/>
                <a:cs typeface="Roboto Mono Bold" pitchFamily="34" charset="-120"/>
              </a:rPr>
              <a:t>AMÉLIORATIONS DU MODÈLE</a:t>
            </a:r>
            <a:endParaRPr lang="en-US" sz="1200" dirty="0"/>
          </a:p>
        </p:txBody>
      </p:sp>
      <p:sp>
        <p:nvSpPr>
          <p:cNvPr id="5" name="Text 2"/>
          <p:cNvSpPr/>
          <p:nvPr/>
        </p:nvSpPr>
        <p:spPr>
          <a:xfrm>
            <a:off x="571500" y="1654113"/>
            <a:ext cx="3786188" cy="822871"/>
          </a:xfrm>
          <a:prstGeom prst="rect">
            <a:avLst/>
          </a:prstGeom>
          <a:noFill/>
          <a:ln/>
        </p:spPr>
        <p:txBody>
          <a:bodyPr wrap="square" lIns="212598" tIns="0" rIns="0" bIns="0" rtlCol="0" anchor="t">
            <a:spAutoFit/>
          </a:bodyPr>
          <a:lstStyle/>
          <a:p>
            <a:pPr marL="0" indent="0" algn="l">
              <a:lnSpc>
                <a:spcPct val="128000"/>
              </a:lnSpc>
              <a:buNone/>
            </a:pPr>
            <a:r>
              <a:rPr lang="en-US" sz="900" b="1" dirty="0">
                <a:solidFill>
                  <a:srgbClr val="0A1128"/>
                </a:solidFill>
                <a:latin typeface="Roboto Mono Bold" pitchFamily="34" charset="0"/>
                <a:ea typeface="Roboto Mono Bold" pitchFamily="34" charset="-122"/>
                <a:cs typeface="Roboto Mono Bold" pitchFamily="34" charset="-120"/>
              </a:rPr>
              <a:t>Données réelles :</a:t>
            </a:r>
            <a:r>
              <a:rPr lang="en-US" sz="950" dirty="0">
                <a:solidFill>
                  <a:srgbClr val="0A1128"/>
                </a:solidFill>
                <a:latin typeface="Roboto Mono" pitchFamily="34" charset="0"/>
                <a:ea typeface="Roboto Mono" pitchFamily="34" charset="-122"/>
                <a:cs typeface="Roboto Mono" pitchFamily="34" charset="-120"/>
              </a:rPr>
              <a:t> Intégration d'enregistrements acoustiques (guitares, pianos) pour réduire la dépendance aux données synthétiques.</a:t>
            </a:r>
            <a:endParaRPr lang="en-US" sz="900" dirty="0"/>
          </a:p>
        </p:txBody>
      </p:sp>
      <p:sp>
        <p:nvSpPr>
          <p:cNvPr id="6" name="Text 3"/>
          <p:cNvSpPr/>
          <p:nvPr/>
        </p:nvSpPr>
        <p:spPr>
          <a:xfrm>
            <a:off x="571500" y="2509574"/>
            <a:ext cx="3786188" cy="617153"/>
          </a:xfrm>
          <a:prstGeom prst="rect">
            <a:avLst/>
          </a:prstGeom>
          <a:noFill/>
          <a:ln/>
        </p:spPr>
        <p:txBody>
          <a:bodyPr wrap="square" lIns="212598" tIns="0" rIns="0" bIns="0" rtlCol="0" anchor="t">
            <a:spAutoFit/>
          </a:bodyPr>
          <a:lstStyle/>
          <a:p>
            <a:pPr marL="0" indent="0" algn="l">
              <a:lnSpc>
                <a:spcPct val="128000"/>
              </a:lnSpc>
              <a:buNone/>
            </a:pPr>
            <a:r>
              <a:rPr lang="en-US" sz="900" b="1" dirty="0">
                <a:solidFill>
                  <a:srgbClr val="0A1128"/>
                </a:solidFill>
                <a:latin typeface="Roboto Mono Bold" pitchFamily="34" charset="0"/>
                <a:ea typeface="Roboto Mono Bold" pitchFamily="34" charset="-122"/>
                <a:cs typeface="Roboto Mono Bold" pitchFamily="34" charset="-120"/>
              </a:rPr>
              <a:t>Vocabulaire étendu :</a:t>
            </a:r>
            <a:r>
              <a:rPr lang="en-US" sz="950" dirty="0">
                <a:solidFill>
                  <a:srgbClr val="0A1128"/>
                </a:solidFill>
                <a:latin typeface="Roboto Mono" pitchFamily="34" charset="0"/>
                <a:ea typeface="Roboto Mono" pitchFamily="34" charset="-122"/>
                <a:cs typeface="Roboto Mono" pitchFamily="34" charset="-120"/>
              </a:rPr>
              <a:t> Ajout de nouvelles familles d'accords (septièmes, neuvièmes, suspendus, augmentés).</a:t>
            </a:r>
            <a:endParaRPr lang="en-US" sz="900" dirty="0"/>
          </a:p>
        </p:txBody>
      </p:sp>
      <p:sp>
        <p:nvSpPr>
          <p:cNvPr id="7" name="Text 4"/>
          <p:cNvSpPr/>
          <p:nvPr/>
        </p:nvSpPr>
        <p:spPr>
          <a:xfrm>
            <a:off x="571500" y="3289484"/>
            <a:ext cx="3786188" cy="822871"/>
          </a:xfrm>
          <a:prstGeom prst="rect">
            <a:avLst/>
          </a:prstGeom>
          <a:noFill/>
          <a:ln/>
        </p:spPr>
        <p:txBody>
          <a:bodyPr wrap="square" lIns="212598" tIns="0" rIns="0" bIns="0" rtlCol="0" anchor="t">
            <a:spAutoFit/>
          </a:bodyPr>
          <a:lstStyle/>
          <a:p>
            <a:pPr marL="0" indent="0" algn="l">
              <a:lnSpc>
                <a:spcPct val="128000"/>
              </a:lnSpc>
              <a:buNone/>
            </a:pPr>
            <a:r>
              <a:rPr lang="en-US" sz="900" b="1" dirty="0">
                <a:solidFill>
                  <a:srgbClr val="0A1128"/>
                </a:solidFill>
                <a:latin typeface="Roboto Mono Bold" pitchFamily="34" charset="0"/>
                <a:ea typeface="Roboto Mono Bold" pitchFamily="34" charset="-122"/>
                <a:cs typeface="Roboto Mono Bold" pitchFamily="34" charset="-120"/>
              </a:rPr>
              <a:t>Contexte temporel :</a:t>
            </a:r>
            <a:r>
              <a:rPr lang="en-US" sz="950" dirty="0">
                <a:solidFill>
                  <a:srgbClr val="0A1128"/>
                </a:solidFill>
                <a:latin typeface="Roboto Mono" pitchFamily="34" charset="0"/>
                <a:ea typeface="Roboto Mono" pitchFamily="34" charset="-122"/>
                <a:cs typeface="Roboto Mono" pitchFamily="34" charset="-120"/>
              </a:rPr>
              <a:t> Transition vers des architectures récurrentes (RNN/LSTM) ou des Transformers pour analyser des séquences d'accords complètes au lieu d'accords isolés.</a:t>
            </a:r>
            <a:endParaRPr lang="en-US" sz="900" dirty="0"/>
          </a:p>
        </p:txBody>
      </p:sp>
      <p:sp>
        <p:nvSpPr>
          <p:cNvPr id="8" name="Text 5"/>
          <p:cNvSpPr/>
          <p:nvPr/>
        </p:nvSpPr>
        <p:spPr>
          <a:xfrm>
            <a:off x="571500" y="1668400"/>
            <a:ext cx="59996" cy="159981"/>
          </a:xfrm>
          <a:prstGeom prst="rect">
            <a:avLst/>
          </a:prstGeom>
          <a:noFill/>
          <a:ln/>
        </p:spPr>
        <p:txBody>
          <a:bodyPr wrap="none" lIns="0" tIns="0" rIns="0" bIns="0" rtlCol="0" anchor="t">
            <a:spAutoFit/>
          </a:bodyPr>
          <a:lstStyle/>
          <a:p>
            <a:pPr marL="0" indent="0" algn="l">
              <a:lnSpc>
                <a:spcPct val="128000"/>
              </a:lnSpc>
              <a:buNone/>
            </a:pPr>
            <a:r>
              <a:rPr lang="en-US" sz="750" dirty="0">
                <a:solidFill>
                  <a:srgbClr val="FF4500"/>
                </a:solidFill>
                <a:latin typeface="Roboto Mono" pitchFamily="34" charset="0"/>
                <a:ea typeface="Roboto Mono" pitchFamily="34" charset="-122"/>
                <a:cs typeface="Roboto Mono" pitchFamily="34" charset="-120"/>
              </a:rPr>
              <a:t>■</a:t>
            </a:r>
            <a:endParaRPr lang="en-US" sz="750" dirty="0"/>
          </a:p>
        </p:txBody>
      </p:sp>
      <p:sp>
        <p:nvSpPr>
          <p:cNvPr id="9" name="Text 6"/>
          <p:cNvSpPr/>
          <p:nvPr/>
        </p:nvSpPr>
        <p:spPr>
          <a:xfrm>
            <a:off x="571500" y="2525931"/>
            <a:ext cx="59996" cy="159981"/>
          </a:xfrm>
          <a:prstGeom prst="rect">
            <a:avLst/>
          </a:prstGeom>
          <a:noFill/>
          <a:ln/>
        </p:spPr>
        <p:txBody>
          <a:bodyPr wrap="none" lIns="0" tIns="0" rIns="0" bIns="0" rtlCol="0" anchor="t">
            <a:spAutoFit/>
          </a:bodyPr>
          <a:lstStyle/>
          <a:p>
            <a:pPr marL="0" indent="0" algn="l">
              <a:lnSpc>
                <a:spcPct val="128000"/>
              </a:lnSpc>
              <a:buNone/>
            </a:pPr>
            <a:r>
              <a:rPr lang="en-US" sz="750" dirty="0">
                <a:solidFill>
                  <a:srgbClr val="FF4500"/>
                </a:solidFill>
                <a:latin typeface="Roboto Mono" pitchFamily="34" charset="0"/>
                <a:ea typeface="Roboto Mono" pitchFamily="34" charset="-122"/>
                <a:cs typeface="Roboto Mono" pitchFamily="34" charset="-120"/>
              </a:rPr>
              <a:t>■</a:t>
            </a:r>
            <a:endParaRPr lang="en-US" sz="750" dirty="0"/>
          </a:p>
        </p:txBody>
      </p:sp>
      <p:sp>
        <p:nvSpPr>
          <p:cNvPr id="10" name="Text 7"/>
          <p:cNvSpPr/>
          <p:nvPr/>
        </p:nvSpPr>
        <p:spPr>
          <a:xfrm>
            <a:off x="571500" y="3303772"/>
            <a:ext cx="59996" cy="159981"/>
          </a:xfrm>
          <a:prstGeom prst="rect">
            <a:avLst/>
          </a:prstGeom>
          <a:noFill/>
          <a:ln/>
        </p:spPr>
        <p:txBody>
          <a:bodyPr wrap="none" lIns="0" tIns="0" rIns="0" bIns="0" rtlCol="0" anchor="t">
            <a:spAutoFit/>
          </a:bodyPr>
          <a:lstStyle/>
          <a:p>
            <a:pPr marL="0" indent="0" algn="l">
              <a:lnSpc>
                <a:spcPct val="128000"/>
              </a:lnSpc>
              <a:buNone/>
            </a:pPr>
            <a:r>
              <a:rPr lang="en-US" sz="750" dirty="0">
                <a:solidFill>
                  <a:srgbClr val="FF4500"/>
                </a:solidFill>
                <a:latin typeface="Roboto Mono" pitchFamily="34" charset="0"/>
                <a:ea typeface="Roboto Mono" pitchFamily="34" charset="-122"/>
                <a:cs typeface="Roboto Mono" pitchFamily="34" charset="-120"/>
              </a:rPr>
              <a:t>■</a:t>
            </a:r>
            <a:endParaRPr lang="en-US" sz="750" dirty="0"/>
          </a:p>
        </p:txBody>
      </p:sp>
      <p:sp>
        <p:nvSpPr>
          <p:cNvPr id="11" name="Text 8"/>
          <p:cNvSpPr/>
          <p:nvPr/>
        </p:nvSpPr>
        <p:spPr>
          <a:xfrm>
            <a:off x="4964905" y="1141549"/>
            <a:ext cx="3607595" cy="184666"/>
          </a:xfrm>
          <a:prstGeom prst="rect">
            <a:avLst/>
          </a:prstGeom>
          <a:noFill/>
          <a:ln/>
        </p:spPr>
        <p:txBody>
          <a:bodyPr wrap="square" lIns="0" tIns="0" rIns="0" bIns="0" rtlCol="0" anchor="t">
            <a:spAutoFit/>
          </a:bodyPr>
          <a:lstStyle/>
          <a:p>
            <a:pPr marL="0" indent="0" algn="l">
              <a:buNone/>
            </a:pPr>
            <a:r>
              <a:rPr lang="en-US" sz="1200" b="1" dirty="0">
                <a:solidFill>
                  <a:srgbClr val="FF4500"/>
                </a:solidFill>
                <a:latin typeface="Roboto Mono Bold" pitchFamily="34" charset="0"/>
                <a:ea typeface="Roboto Mono Bold" pitchFamily="34" charset="-122"/>
                <a:cs typeface="Roboto Mono Bold" pitchFamily="34" charset="-120"/>
              </a:rPr>
              <a:t>IMPLANTATION SYSTÈME</a:t>
            </a:r>
            <a:endParaRPr lang="en-US" sz="1200" dirty="0"/>
          </a:p>
        </p:txBody>
      </p:sp>
      <p:sp>
        <p:nvSpPr>
          <p:cNvPr id="13" name="Text 10"/>
          <p:cNvSpPr/>
          <p:nvPr/>
        </p:nvSpPr>
        <p:spPr>
          <a:xfrm>
            <a:off x="4964906" y="1654113"/>
            <a:ext cx="3429000" cy="169277"/>
          </a:xfrm>
          <a:prstGeom prst="rect">
            <a:avLst/>
          </a:prstGeom>
          <a:noFill/>
          <a:ln/>
        </p:spPr>
        <p:txBody>
          <a:bodyPr wrap="square" lIns="0" tIns="0" rIns="0" bIns="0" rtlCol="0" anchor="t">
            <a:spAutoFit/>
          </a:bodyPr>
          <a:lstStyle/>
          <a:p>
            <a:pPr marL="0" indent="0" algn="l">
              <a:buNone/>
            </a:pPr>
            <a:r>
              <a:rPr lang="en-US" sz="1100" b="1" dirty="0">
                <a:solidFill>
                  <a:srgbClr val="FF4500"/>
                </a:solidFill>
                <a:ea typeface="Playfair Display Black" pitchFamily="34" charset="-122"/>
                <a:cs typeface="Playfair Display Black" pitchFamily="34" charset="-120"/>
              </a:rPr>
              <a:t>Plugin VST / Audio Unit</a:t>
            </a:r>
            <a:endParaRPr lang="en-US" sz="1100" dirty="0"/>
          </a:p>
        </p:txBody>
      </p:sp>
      <p:sp>
        <p:nvSpPr>
          <p:cNvPr id="14" name="Text 11"/>
          <p:cNvSpPr/>
          <p:nvPr/>
        </p:nvSpPr>
        <p:spPr>
          <a:xfrm>
            <a:off x="4964906" y="1970224"/>
            <a:ext cx="3429000" cy="823623"/>
          </a:xfrm>
          <a:prstGeom prst="rect">
            <a:avLst/>
          </a:prstGeom>
          <a:noFill/>
          <a:ln/>
        </p:spPr>
        <p:txBody>
          <a:bodyPr wrap="square" lIns="0" tIns="0" rIns="0" bIns="0" rtlCol="0" anchor="t">
            <a:spAutoFit/>
          </a:bodyPr>
          <a:lstStyle/>
          <a:p>
            <a:pPr marL="0" indent="0" algn="l">
              <a:lnSpc>
                <a:spcPct val="128000"/>
              </a:lnSpc>
              <a:buNone/>
            </a:pPr>
            <a:r>
              <a:rPr lang="en-US" sz="850" dirty="0">
                <a:latin typeface="Roboto Mono" pitchFamily="34" charset="0"/>
                <a:ea typeface="Roboto Mono" pitchFamily="34" charset="-122"/>
                <a:cs typeface="Roboto Mono" pitchFamily="34" charset="-120"/>
              </a:rPr>
              <a:t>Intégration du modèle directement dans les séquenceurs musicaux (DAW comme Ableton Live ou Logic Pro). Permet aux compositeurs d'obtenir une transcription en temps réel des pistes audio enregistrées.</a:t>
            </a:r>
            <a:endParaRPr lang="en-US" sz="850" dirty="0"/>
          </a:p>
        </p:txBody>
      </p:sp>
      <p:sp>
        <p:nvSpPr>
          <p:cNvPr id="16" name="Text 13"/>
          <p:cNvSpPr/>
          <p:nvPr/>
        </p:nvSpPr>
        <p:spPr>
          <a:xfrm>
            <a:off x="4964905" y="3120207"/>
            <a:ext cx="3429000" cy="169277"/>
          </a:xfrm>
          <a:prstGeom prst="rect">
            <a:avLst/>
          </a:prstGeom>
          <a:noFill/>
          <a:ln/>
        </p:spPr>
        <p:txBody>
          <a:bodyPr wrap="square" lIns="0" tIns="0" rIns="0" bIns="0" rtlCol="0" anchor="t">
            <a:spAutoFit/>
          </a:bodyPr>
          <a:lstStyle/>
          <a:p>
            <a:pPr marL="0" indent="0" algn="l">
              <a:buNone/>
            </a:pPr>
            <a:r>
              <a:rPr lang="en-US" sz="1100" b="1" dirty="0">
                <a:solidFill>
                  <a:srgbClr val="FF4500"/>
                </a:solidFill>
                <a:ea typeface="Playfair Display Black" pitchFamily="34" charset="-122"/>
                <a:cs typeface="Playfair Display Black" pitchFamily="34" charset="-120"/>
              </a:rPr>
              <a:t>Application Web &amp; API</a:t>
            </a:r>
            <a:endParaRPr lang="en-US" sz="1100" dirty="0"/>
          </a:p>
        </p:txBody>
      </p:sp>
      <p:sp>
        <p:nvSpPr>
          <p:cNvPr id="17" name="Text 14"/>
          <p:cNvSpPr/>
          <p:nvPr/>
        </p:nvSpPr>
        <p:spPr>
          <a:xfrm>
            <a:off x="4964905" y="3436318"/>
            <a:ext cx="3429000" cy="731453"/>
          </a:xfrm>
          <a:prstGeom prst="rect">
            <a:avLst/>
          </a:prstGeom>
          <a:noFill/>
          <a:ln/>
        </p:spPr>
        <p:txBody>
          <a:bodyPr wrap="square" lIns="0" tIns="0" rIns="0" bIns="0" rtlCol="0" anchor="t">
            <a:spAutoFit/>
          </a:bodyPr>
          <a:lstStyle/>
          <a:p>
            <a:pPr marL="0" indent="0" algn="l">
              <a:lnSpc>
                <a:spcPct val="128000"/>
              </a:lnSpc>
              <a:buNone/>
            </a:pPr>
            <a:r>
              <a:rPr lang="en-US" sz="850" dirty="0">
                <a:solidFill>
                  <a:srgbClr val="0A1128"/>
                </a:solidFill>
                <a:latin typeface="Roboto Mono" pitchFamily="34" charset="0"/>
                <a:ea typeface="Roboto Mono" pitchFamily="34" charset="-122"/>
                <a:cs typeface="Roboto Mono" pitchFamily="34" charset="-120"/>
              </a:rPr>
              <a:t>Déploiement du modèle sur un serveur cloud. Les utilisateurs pourraient téléverser un fichier audio et recevoir instantanément une grille d'accords synchronisée avec le temps.</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66</TotalTime>
  <Words>1768</Words>
  <Application>Microsoft Macintosh PowerPoint</Application>
  <PresentationFormat>On-screen Show (16:9)</PresentationFormat>
  <Paragraphs>259</Paragraphs>
  <Slides>16</Slides>
  <Notes>16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Arial</vt:lpstr>
      <vt:lpstr>Playfair Display Black</vt:lpstr>
      <vt:lpstr>Roboto Mono</vt:lpstr>
      <vt:lpstr>Roboto Mono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Tolotra Raharison</cp:lastModifiedBy>
  <cp:revision>2</cp:revision>
  <dcterms:created xsi:type="dcterms:W3CDTF">2026-07-10T18:42:04Z</dcterms:created>
  <dcterms:modified xsi:type="dcterms:W3CDTF">2026-07-10T19:48:29Z</dcterms:modified>
</cp:coreProperties>
</file>